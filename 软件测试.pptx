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6" r:id="rId3"/>
  </p:sldMasterIdLst>
  <p:notesMasterIdLst>
    <p:notesMasterId r:id="rId5"/>
  </p:notesMasterIdLst>
  <p:handoutMasterIdLst>
    <p:handoutMasterId r:id="rId15"/>
  </p:handoutMasterIdLst>
  <p:sldIdLst>
    <p:sldId id="551" r:id="rId4"/>
    <p:sldId id="570" r:id="rId6"/>
    <p:sldId id="574" r:id="rId7"/>
    <p:sldId id="575" r:id="rId8"/>
    <p:sldId id="578" r:id="rId9"/>
    <p:sldId id="585" r:id="rId10"/>
    <p:sldId id="586" r:id="rId11"/>
    <p:sldId id="587" r:id="rId12"/>
    <p:sldId id="588" r:id="rId13"/>
    <p:sldId id="589" r:id="rId14"/>
  </p:sldIdLst>
  <p:sldSz cx="9144000" cy="5143500" type="screen16x9"/>
  <p:notesSz cx="6858000" cy="9144000"/>
  <p:custDataLst>
    <p:tags r:id="rId2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5632" userDrawn="1">
          <p15:clr>
            <a:srgbClr val="A4A3A4"/>
          </p15:clr>
        </p15:guide>
        <p15:guide id="4" orient="horz" pos="380" userDrawn="1">
          <p15:clr>
            <a:srgbClr val="A4A3A4"/>
          </p15:clr>
        </p15:guide>
        <p15:guide id="5" orient="horz" pos="960" userDrawn="1">
          <p15:clr>
            <a:srgbClr val="A4A3A4"/>
          </p15:clr>
        </p15:guide>
        <p15:guide id="6" orient="horz" pos="2784" userDrawn="1">
          <p15:clr>
            <a:srgbClr val="A4A3A4"/>
          </p15:clr>
        </p15:guide>
        <p15:guide id="7" pos="288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483810881" name="WPS_1679281038" initials="W" lastIdx="1" clrIdx="2"/>
  <p:cmAuthor id="1" name="WPS" initials="W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546" autoAdjust="0"/>
  </p:normalViewPr>
  <p:slideViewPr>
    <p:cSldViewPr snapToGrid="0" showGuides="1">
      <p:cViewPr>
        <p:scale>
          <a:sx n="120" d="100"/>
          <a:sy n="120" d="100"/>
        </p:scale>
        <p:origin x="-1380" y="-654"/>
      </p:cViewPr>
      <p:guideLst>
        <p:guide pos="5632"/>
        <p:guide orient="horz" pos="380"/>
        <p:guide orient="horz" pos="960"/>
        <p:guide orient="horz" pos="2784"/>
        <p:guide pos="288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gs" Target="tags/tag6.xml"/><Relationship Id="rId2" Type="http://schemas.openxmlformats.org/officeDocument/2006/relationships/theme" Target="theme/theme1.xml"/><Relationship Id="rId19" Type="http://schemas.openxmlformats.org/officeDocument/2006/relationships/commentAuthors" Target="commentAuthors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count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1783FF"/>
            </a:solidFill>
          </c:spPr>
          <c:explosion val="0"/>
          <c:dPt>
            <c:idx val="0"/>
            <c:bubble3D val="0"/>
            <c:spPr>
              <a:solidFill>
                <a:srgbClr val="2F5D50"/>
              </a:solidFill>
              <a:ln>
                <a:noFill/>
              </a:ln>
            </c:spPr>
          </c:dPt>
          <c:dPt>
            <c:idx val="1"/>
            <c:bubble3D val="0"/>
            <c:spPr>
              <a:solidFill>
                <a:srgbClr val="C4661F"/>
              </a:solidFill>
              <a:ln>
                <a:noFill/>
              </a:ln>
            </c:spPr>
          </c:dPt>
          <c:dPt>
            <c:idx val="2"/>
            <c:bubble3D val="0"/>
            <c:spPr>
              <a:solidFill>
                <a:srgbClr val="7A8B83"/>
              </a:solidFill>
              <a:ln>
                <a:noFill/>
              </a:ln>
            </c:spPr>
          </c:dPt>
          <c:dPt>
            <c:idx val="3"/>
            <c:bubble3D val="0"/>
            <c:spPr>
              <a:solidFill>
                <a:srgbClr val="C9BFA9"/>
              </a:solidFill>
              <a:ln>
                <a:noFill/>
              </a:ln>
            </c:spPr>
          </c:dPt>
          <c:dPt>
            <c:idx val="4"/>
            <c:bubble3D val="0"/>
            <c:spPr>
              <a:solidFill>
                <a:srgbClr val="43544E"/>
              </a:solidFill>
              <a:ln>
                <a:noFill/>
              </a:ln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 noProof="1">
                    <a:solidFill>
                      <a:schemeClr val="tx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{"等价类/边界值","Mock/Stub 隔离","安全测试","状态转换","异常测试"}</c:f>
              <c:strCache>
                <c:ptCount val="5"/>
                <c:pt idx="0">
                  <c:v>等价类/边界值</c:v>
                </c:pt>
                <c:pt idx="1">
                  <c:v>Mock/Stub 隔离</c:v>
                </c:pt>
                <c:pt idx="2">
                  <c:v>安全测试</c:v>
                </c:pt>
                <c:pt idx="3">
                  <c:v>状态转换</c:v>
                </c:pt>
                <c:pt idx="4">
                  <c:v>异常测试</c:v>
                </c:pt>
              </c:strCache>
            </c:strRef>
          </c:cat>
          <c:val>
            <c:numRef>
              <c:f>{12,11,5,1,1}</c:f>
              <c:numCache>
                <c:formatCode>General</c:formatCode>
                <c:ptCount val="5"/>
                <c:pt idx="0">
                  <c:v>12</c:v>
                </c:pt>
                <c:pt idx="1">
                  <c:v>11</c:v>
                </c:pt>
                <c:pt idx="2">
                  <c:v>5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90"/>
        <c:holeSize val="52"/>
      </c:doughnutChart>
      <c:spPr>
        <a:noFill/>
        <a:ln>
          <a:noFill/>
        </a:ln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050" b="0" i="0" u="none" strike="noStrike" kern="1200" baseline="0" noProof="1">
              <a:solidFill>
                <a:schemeClr val="tx1"/>
              </a:solidFill>
              <a:latin typeface="Arial" panose="020B0604020202020204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用例数</c:f>
              <c:strCache>
                <c:ptCount val="1"/>
                <c:pt idx="0">
                  <c:v>用例数</c:v>
                </c:pt>
              </c:strCache>
            </c:strRef>
          </c:tx>
          <c:spPr>
            <a:solidFill>
              <a:srgbClr val="2F5D5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50" b="0" i="0" u="none" strike="noStrike" kern="1200" baseline="0" noProof="1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{"智能出题","知识库存储","知识库上传解析","用户认证 JWT","输入内容校验","答题积分","出题参数校验"}</c:f>
              <c:strCache>
                <c:ptCount val="7"/>
                <c:pt idx="0">
                  <c:v>智能出题</c:v>
                </c:pt>
                <c:pt idx="1">
                  <c:v>知识库存储</c:v>
                </c:pt>
                <c:pt idx="2">
                  <c:v>知识库上传解析</c:v>
                </c:pt>
                <c:pt idx="3">
                  <c:v>用户认证 JWT</c:v>
                </c:pt>
                <c:pt idx="4">
                  <c:v>输入内容校验</c:v>
                </c:pt>
                <c:pt idx="5">
                  <c:v>答题积分</c:v>
                </c:pt>
                <c:pt idx="6">
                  <c:v>出题参数校验</c:v>
                </c:pt>
              </c:strCache>
            </c:strRef>
          </c:cat>
          <c:val>
            <c:numRef>
              <c:f>{6,8,4,4,4,3,1}</c:f>
              <c:numCache>
                <c:formatCode>General</c:formatCode>
                <c:ptCount val="7"/>
                <c:pt idx="0">
                  <c:v>6</c:v>
                </c:pt>
                <c:pt idx="1">
                  <c:v>8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3</c:v>
                </c:pt>
                <c:pt idx="6">
                  <c:v>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6"/>
        <c:overlap val="0"/>
        <c:axId val="1"/>
        <c:axId val="2"/>
      </c:barChart>
      <c:catAx>
        <c:axId val="1"/>
        <c:scaling>
          <c:orientation val="minMax"/>
        </c:scaling>
        <c:delete val="0"/>
        <c:axPos val="l"/>
        <c:majorGridlines>
          <c:spPr>
            <a:ln w="6350" cap="flat" cmpd="sng" algn="ctr">
              <a:noFill/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50" b="0" i="0" u="none" strike="noStrike" kern="1200" baseline="0" noProof="1">
                <a:solidFill>
                  <a:schemeClr val="tx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8"/>
          <c:min val="0"/>
        </c:scaling>
        <c:delete val="0"/>
        <c:axPos val="b"/>
        <c:majorGridlines>
          <c:spPr>
            <a:ln w="12700" cap="flat" cmpd="sng" algn="ctr">
              <a:solidFill>
                <a:srgbClr val="E5DFD2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 noProof="1">
                <a:solidFill>
                  <a:schemeClr val="tx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1"/>
        <c:crosses val="autoZero"/>
        <c:crossBetween val="between"/>
        <c:majorUnit val="1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ransition/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4"/>
          <p:cNvSpPr>
            <a:spLocks noGrp="1"/>
          </p:cNvSpPr>
          <p:nvPr>
            <p:ph type="pic" sz="quarter" idx="11"/>
          </p:nvPr>
        </p:nvSpPr>
        <p:spPr>
          <a:xfrm>
            <a:off x="228601" y="1168430"/>
            <a:ext cx="1741601" cy="1615496"/>
          </a:xfrm>
          <a:prstGeom prst="roundRect">
            <a:avLst>
              <a:gd name="adj" fmla="val 4027"/>
            </a:avLst>
          </a:prstGeom>
        </p:spPr>
        <p:txBody>
          <a:bodyPr/>
          <a:lstStyle/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3" name="图片占位符 4"/>
          <p:cNvSpPr>
            <a:spLocks noGrp="1"/>
          </p:cNvSpPr>
          <p:nvPr>
            <p:ph type="pic" sz="quarter" idx="12"/>
          </p:nvPr>
        </p:nvSpPr>
        <p:spPr>
          <a:xfrm>
            <a:off x="2076255" y="1168430"/>
            <a:ext cx="1741601" cy="1615496"/>
          </a:xfrm>
          <a:prstGeom prst="roundRect">
            <a:avLst>
              <a:gd name="adj" fmla="val 4027"/>
            </a:avLst>
          </a:prstGeom>
        </p:spPr>
        <p:txBody>
          <a:bodyPr/>
          <a:lstStyle/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4" name="图片占位符 4"/>
          <p:cNvSpPr>
            <a:spLocks noGrp="1"/>
          </p:cNvSpPr>
          <p:nvPr>
            <p:ph type="pic" sz="quarter" idx="13"/>
          </p:nvPr>
        </p:nvSpPr>
        <p:spPr>
          <a:xfrm>
            <a:off x="3952189" y="1168430"/>
            <a:ext cx="1741601" cy="1615496"/>
          </a:xfrm>
          <a:prstGeom prst="roundRect">
            <a:avLst>
              <a:gd name="adj" fmla="val 4027"/>
            </a:avLst>
          </a:prstGeom>
        </p:spPr>
        <p:txBody>
          <a:bodyPr/>
          <a:lstStyle/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5" name="矩形: 圆角 4"/>
          <p:cNvSpPr/>
          <p:nvPr userDrawn="1"/>
        </p:nvSpPr>
        <p:spPr>
          <a:xfrm>
            <a:off x="5825765" y="1167978"/>
            <a:ext cx="3089635" cy="1616400"/>
          </a:xfrm>
          <a:prstGeom prst="roundRect">
            <a:avLst>
              <a:gd name="adj" fmla="val 6753"/>
            </a:avLst>
          </a:prstGeom>
          <a:solidFill>
            <a:schemeClr val="accent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hf sldNum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98F44667-F811-4D20-B32B-68DB41B896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zh-CN" altLang="en-US" smtClean="0"/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965031" y="3367444"/>
            <a:ext cx="45365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  <a:endParaRPr lang="en-US" altLang="zh-CN" sz="100">
              <a:solidFill>
                <a:schemeClr val="tx1">
                  <a:alpha val="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8"/>
          <p:cNvSpPr txBox="1"/>
          <p:nvPr/>
        </p:nvSpPr>
        <p:spPr>
          <a:xfrm>
            <a:off x="7509627" y="2215277"/>
            <a:ext cx="54006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  <a:endParaRPr lang="en-US" altLang="zh-CN" sz="100">
              <a:solidFill>
                <a:schemeClr val="tx1">
                  <a:alpha val="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4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j-lt"/>
                <a:ea typeface="+mj-ea"/>
                <a:cs typeface="+mj-cs"/>
                <a:sym typeface="Wingdings" panose="05000000000000000000"/>
              </a:defRPr>
            </a:lvl1pPr>
            <a:lvl2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2pPr>
            <a:lvl3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3pPr>
            <a:lvl4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4pPr>
            <a:lvl5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5pPr>
            <a:lvl6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6pPr>
            <a:lvl7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7pPr>
            <a:lvl8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8pPr>
            <a:lvl9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9pPr>
          </a:lstStyle>
          <a:p>
            <a:r>
              <a:rPr lang="zh-CN" altLang="en-US" dirty="0">
                <a:ea typeface="时尚中黑简体" panose="01010104010101010101" pitchFamily="2" charset="-122"/>
              </a:rPr>
              <a:t>单击此处编辑母版标题样式</a:t>
            </a:r>
            <a:endParaRPr lang="zh-CN" altLang="en-US" dirty="0">
              <a:ea typeface="时尚中黑简体" panose="01010104010101010101" pitchFamily="2" charset="-122"/>
            </a:endParaRPr>
          </a:p>
        </p:txBody>
      </p:sp>
      <p:sp>
        <p:nvSpPr>
          <p:cNvPr id="8" name="文本占位符 2"/>
          <p:cNvSpPr txBox="1"/>
          <p:nvPr/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4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0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2pPr>
            <a:lvl3pPr marL="914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8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3pPr>
            <a:lvl4pPr marL="1371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4pPr>
            <a:lvl5pPr marL="18288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5pPr>
            <a:lvl6pPr marL="22860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6pPr>
            <a:lvl7pPr marL="2743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7pPr>
            <a:lvl8pPr marL="3200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8pPr>
            <a:lvl9pPr marL="3657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9pPr>
          </a:lstStyle>
          <a:p>
            <a:pPr lvl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单击此处编辑母版文本样式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内容占位符 3"/>
          <p:cNvSpPr txBox="1"/>
          <p:nvPr/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0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5pPr>
            <a:lvl6pPr marL="25146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6pPr>
            <a:lvl7pPr marL="2971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7pPr>
            <a:lvl8pPr marL="3429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8pPr>
            <a:lvl9pPr marL="3886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9pPr>
          </a:lstStyle>
          <a:p>
            <a:pPr lvl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单击此处编辑母版文本样式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二级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三级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四级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4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五级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1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2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9B957CC-A438-4D82-B305-2291493474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82"/>
          <a:stretch>
            <a:fillRect/>
          </a:stretch>
        </p:blipFill>
        <p:spPr>
          <a:xfrm>
            <a:off x="-1" y="0"/>
            <a:ext cx="7764905" cy="5143500"/>
          </a:xfrm>
          <a:prstGeom prst="rect">
            <a:avLst/>
          </a:prstGeom>
        </p:spPr>
      </p:pic>
    </p:spTree>
  </p:cSld>
  <p:clrMapOvr>
    <a:masterClrMapping/>
  </p:clrMapOvr>
  <p:transition/>
  <p:hf sldNum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D955F040-ED43-464F-96F2-927121FE6FD0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95CE31C-667C-455E-B312-3B73BAEC6163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ransition/>
  <p:hf sldNum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微软雅黑" panose="020B0503020204020204" pitchFamily="34" charset="-122"/>
          <a:ea typeface="时尚中黑简体" panose="01010104010101010101" pitchFamily="2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ransition/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6895" indent="-213995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等腰三角形 8"/>
          <p:cNvSpPr/>
          <p:nvPr/>
        </p:nvSpPr>
        <p:spPr>
          <a:xfrm rot="14383128">
            <a:off x="2243950" y="1283523"/>
            <a:ext cx="3967980" cy="3567441"/>
          </a:xfrm>
          <a:custGeom>
            <a:avLst/>
            <a:gdLst>
              <a:gd name="connsiteX0" fmla="*/ 117942 w 6369851"/>
              <a:gd name="connsiteY0" fmla="*/ 4429376 h 5726860"/>
              <a:gd name="connsiteX1" fmla="*/ 2437539 w 6369851"/>
              <a:gd name="connsiteY1" fmla="*/ 430070 h 5726860"/>
              <a:gd name="connsiteX2" fmla="*/ 3932313 w 6369851"/>
              <a:gd name="connsiteY2" fmla="*/ 430070 h 5726860"/>
              <a:gd name="connsiteX3" fmla="*/ 6251910 w 6369851"/>
              <a:gd name="connsiteY3" fmla="*/ 4429376 h 5726860"/>
              <a:gd name="connsiteX4" fmla="*/ 5504523 w 6369851"/>
              <a:gd name="connsiteY4" fmla="*/ 5726860 h 5726860"/>
              <a:gd name="connsiteX5" fmla="*/ 865329 w 6369851"/>
              <a:gd name="connsiteY5" fmla="*/ 5726860 h 5726860"/>
              <a:gd name="connsiteX6" fmla="*/ 117942 w 6369851"/>
              <a:gd name="connsiteY6" fmla="*/ 4429376 h 5726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69851" h="5726860">
                <a:moveTo>
                  <a:pt x="117942" y="4429376"/>
                </a:moveTo>
                <a:lnTo>
                  <a:pt x="2437539" y="430070"/>
                </a:lnTo>
                <a:cubicBezTo>
                  <a:pt x="2770126" y="-143356"/>
                  <a:pt x="3599725" y="-143356"/>
                  <a:pt x="3932313" y="430070"/>
                </a:cubicBezTo>
                <a:lnTo>
                  <a:pt x="6251910" y="4429376"/>
                </a:lnTo>
                <a:cubicBezTo>
                  <a:pt x="6586039" y="5005459"/>
                  <a:pt x="6170491" y="5726860"/>
                  <a:pt x="5504523" y="5726860"/>
                </a:cubicBezTo>
                <a:lnTo>
                  <a:pt x="865329" y="5726860"/>
                </a:lnTo>
                <a:cubicBezTo>
                  <a:pt x="199361" y="5726860"/>
                  <a:pt x="-216186" y="5005459"/>
                  <a:pt x="117942" y="4429376"/>
                </a:cubicBezTo>
              </a:path>
            </a:pathLst>
          </a:custGeom>
          <a:gradFill>
            <a:gsLst>
              <a:gs pos="0">
                <a:srgbClr val="FAFAFA"/>
              </a:gs>
              <a:gs pos="100000">
                <a:schemeClr val="bg1">
                  <a:lumMod val="85000"/>
                  <a:alpha val="3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lt1"/>
              </a:solidFill>
            </a:endParaRPr>
          </a:p>
        </p:txBody>
      </p:sp>
      <p:sp>
        <p:nvSpPr>
          <p:cNvPr id="2" name="PA_e7d195523061f1c0" descr="e7d195523061f1c0cef09ac28eaae964ec9988a5cce77c8b8C1E4685C6E6B40CD7615480512384A61EE159C6FE0045D14B61E85D0A95589D558B81FFC809322ACC20DC2254D928200A3EA0841B8B1814961BE795024DFDEF45878460D5EEC04B3DB4C246007153409DEDE37CA726A66AF19B77CE744E11CADCFB09B3408DEC1F688348922E38CCEE" hidden="1"/>
          <p:cNvSpPr txBox="1"/>
          <p:nvPr>
            <p:custDataLst>
              <p:tags r:id="rId1"/>
            </p:custDataLst>
          </p:nvPr>
        </p:nvSpPr>
        <p:spPr>
          <a:xfrm>
            <a:off x="-309166" y="1352550"/>
            <a:ext cx="326390" cy="762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pPr defTabSz="914400"/>
            <a:r>
              <a:rPr lang="en-US" altLang="zh-CN" sz="100">
                <a:solidFill>
                  <a:srgbClr val="ADB9CA"/>
                </a:solidFill>
                <a:latin typeface="Calibri" panose="020F0502020204030204"/>
                <a:ea typeface="微软雅黑" panose="020B0503020204020204" pitchFamily="34" charset="-122"/>
                <a:cs typeface="+mn-ea"/>
                <a:sym typeface="+mn-lt"/>
              </a:rPr>
              <a:t>e7d195523061f1c0cef09ac28eaae964ec9988a5cce77c8b8C1E4685C6E6B40CD7615480512384A61EE159C6FE0045D14B61E85D0A95589D558B81FFC809322ACC20DC2254D928200A3EA0841B8B1814961BE795024DFDEF45878460D5EEC04B3DB4C246007153409DEDE37CA726A66AF19B77CE744E11CADCFB09B3408DEC1F688348922E38CCEE</a:t>
            </a:r>
            <a:endParaRPr lang="zh-CN" altLang="en-US" sz="100">
              <a:solidFill>
                <a:srgbClr val="ADB9CA"/>
              </a:solidFill>
              <a:latin typeface="Calibri" panose="020F050202020403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-903615" y="-1040909"/>
            <a:ext cx="2476500" cy="2476500"/>
          </a:xfrm>
          <a:prstGeom prst="ellipse">
            <a:avLst/>
          </a:prstGeom>
          <a:gradFill>
            <a:gsLst>
              <a:gs pos="0">
                <a:srgbClr val="FAFAFA"/>
              </a:gs>
              <a:gs pos="100000">
                <a:schemeClr val="bg1">
                  <a:lumMod val="85000"/>
                  <a:alpha val="50000"/>
                </a:schemeClr>
              </a:gs>
            </a:gsLst>
            <a:lin ang="5400000" scaled="1"/>
          </a:gradFill>
          <a:ln>
            <a:noFill/>
          </a:ln>
          <a:effectLst>
            <a:outerShdw blurRad="254000" dist="635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9" name="椭圆 18"/>
          <p:cNvSpPr/>
          <p:nvPr/>
        </p:nvSpPr>
        <p:spPr>
          <a:xfrm>
            <a:off x="7794740" y="3555021"/>
            <a:ext cx="2476500" cy="2476500"/>
          </a:xfrm>
          <a:prstGeom prst="ellipse">
            <a:avLst/>
          </a:prstGeom>
          <a:gradFill>
            <a:gsLst>
              <a:gs pos="0">
                <a:srgbClr val="FAFAFA"/>
              </a:gs>
              <a:gs pos="100000">
                <a:schemeClr val="bg1">
                  <a:lumMod val="85000"/>
                  <a:alpha val="50000"/>
                </a:schemeClr>
              </a:gs>
            </a:gsLst>
            <a:lin ang="5400000" scaled="1"/>
          </a:gradFill>
          <a:ln>
            <a:noFill/>
          </a:ln>
          <a:effectLst>
            <a:outerShdw blurRad="254000" dist="127000" dir="13500000" algn="b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1" name="deco-ring"/>
          <p:cNvSpPr/>
          <p:nvPr/>
        </p:nvSpPr>
        <p:spPr>
          <a:xfrm>
            <a:off x="6096000" y="952500"/>
            <a:ext cx="2286000" cy="2286000"/>
          </a:xfrm>
          <a:prstGeom prst="ellipse">
            <a:avLst/>
          </a:prstGeom>
          <a:noFill/>
          <a:ln w="12700">
            <a:solidFill>
              <a:srgbClr val="D9D2C4"/>
            </a:solidFill>
          </a:ln>
        </p:spPr>
      </p:sp>
      <p:sp>
        <p:nvSpPr>
          <p:cNvPr id="22" name="deco-ring2"/>
          <p:cNvSpPr/>
          <p:nvPr/>
        </p:nvSpPr>
        <p:spPr>
          <a:xfrm>
            <a:off x="6438900" y="1295400"/>
            <a:ext cx="1600200" cy="1600200"/>
          </a:xfrm>
          <a:prstGeom prst="ellipse">
            <a:avLst/>
          </a:prstGeom>
          <a:noFill/>
          <a:ln w="12700">
            <a:solidFill>
              <a:srgbClr val="2F5D50"/>
            </a:solidFill>
          </a:ln>
        </p:spPr>
      </p:sp>
      <p:sp>
        <p:nvSpPr>
          <p:cNvPr id="23" name="deco-icon"/>
          <p:cNvSpPr/>
          <p:nvPr/>
        </p:nvSpPr>
        <p:spPr>
          <a:xfrm>
            <a:off x="6896100" y="17526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256" y="0"/>
                </a:moveTo>
                <a:cubicBezTo>
                  <a:pt x="280" y="0"/>
                  <a:pt x="300" y="13"/>
                  <a:pt x="311" y="32"/>
                </a:cubicBezTo>
                <a:lnTo>
                  <a:pt x="320" y="32"/>
                </a:lnTo>
                <a:cubicBezTo>
                  <a:pt x="355" y="32"/>
                  <a:pt x="384" y="61"/>
                  <a:pt x="384" y="96"/>
                </a:cubicBezTo>
                <a:lnTo>
                  <a:pt x="384" y="448"/>
                </a:lnTo>
                <a:cubicBezTo>
                  <a:pt x="384" y="483"/>
                  <a:pt x="355" y="512"/>
                  <a:pt x="320" y="512"/>
                </a:cubicBezTo>
                <a:lnTo>
                  <a:pt x="64" y="512"/>
                </a:lnTo>
                <a:cubicBezTo>
                  <a:pt x="29" y="512"/>
                  <a:pt x="0" y="483"/>
                  <a:pt x="0" y="448"/>
                </a:cubicBezTo>
                <a:lnTo>
                  <a:pt x="0" y="96"/>
                </a:lnTo>
                <a:cubicBezTo>
                  <a:pt x="0" y="61"/>
                  <a:pt x="29" y="32"/>
                  <a:pt x="64" y="32"/>
                </a:cubicBezTo>
                <a:lnTo>
                  <a:pt x="73" y="32"/>
                </a:lnTo>
                <a:cubicBezTo>
                  <a:pt x="84" y="13"/>
                  <a:pt x="104" y="0"/>
                  <a:pt x="128" y="0"/>
                </a:cubicBezTo>
                <a:lnTo>
                  <a:pt x="256" y="0"/>
                </a:lnTo>
                <a:close/>
                <a:moveTo>
                  <a:pt x="283" y="213"/>
                </a:moveTo>
                <a:cubicBezTo>
                  <a:pt x="272" y="205"/>
                  <a:pt x="257" y="207"/>
                  <a:pt x="249" y="218"/>
                </a:cubicBezTo>
                <a:lnTo>
                  <a:pt x="164" y="336"/>
                </a:lnTo>
                <a:lnTo>
                  <a:pt x="137" y="308"/>
                </a:lnTo>
                <a:cubicBezTo>
                  <a:pt x="128" y="299"/>
                  <a:pt x="113" y="298"/>
                  <a:pt x="103" y="308"/>
                </a:cubicBezTo>
                <a:cubicBezTo>
                  <a:pt x="94" y="317"/>
                  <a:pt x="94" y="332"/>
                  <a:pt x="103" y="342"/>
                </a:cubicBezTo>
                <a:lnTo>
                  <a:pt x="149" y="390"/>
                </a:lnTo>
                <a:cubicBezTo>
                  <a:pt x="154" y="395"/>
                  <a:pt x="161" y="397"/>
                  <a:pt x="168" y="397"/>
                </a:cubicBezTo>
                <a:cubicBezTo>
                  <a:pt x="175" y="396"/>
                  <a:pt x="182" y="393"/>
                  <a:pt x="186" y="387"/>
                </a:cubicBezTo>
                <a:lnTo>
                  <a:pt x="288" y="246"/>
                </a:lnTo>
                <a:cubicBezTo>
                  <a:pt x="296" y="235"/>
                  <a:pt x="294" y="220"/>
                  <a:pt x="283" y="213"/>
                </a:cubicBezTo>
                <a:close/>
                <a:moveTo>
                  <a:pt x="136" y="64"/>
                </a:moveTo>
                <a:cubicBezTo>
                  <a:pt x="123" y="64"/>
                  <a:pt x="112" y="75"/>
                  <a:pt x="112" y="88"/>
                </a:cubicBezTo>
                <a:cubicBezTo>
                  <a:pt x="112" y="101"/>
                  <a:pt x="123" y="112"/>
                  <a:pt x="136" y="112"/>
                </a:cubicBezTo>
                <a:lnTo>
                  <a:pt x="248" y="112"/>
                </a:lnTo>
                <a:cubicBezTo>
                  <a:pt x="261" y="112"/>
                  <a:pt x="272" y="101"/>
                  <a:pt x="272" y="88"/>
                </a:cubicBezTo>
                <a:cubicBezTo>
                  <a:pt x="272" y="75"/>
                  <a:pt x="261" y="64"/>
                  <a:pt x="248" y="64"/>
                </a:cubicBezTo>
                <a:lnTo>
                  <a:pt x="136" y="64"/>
                </a:lnTo>
                <a:close/>
              </a:path>
            </a:pathLst>
          </a:custGeom>
          <a:solidFill>
            <a:srgbClr val="2F5D50"/>
          </a:solidFill>
          <a:ln>
            <a:noFill/>
          </a:ln>
        </p:spPr>
      </p:sp>
      <p:sp>
        <p:nvSpPr>
          <p:cNvPr id="24" name="kicker"/>
          <p:cNvSpPr txBox="1"/>
          <p:nvPr/>
        </p:nvSpPr>
        <p:spPr>
          <a:xfrm>
            <a:off x="609600" y="1123950"/>
            <a:ext cx="47625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900" b="1" kern="0" spc="300" noProof="1">
                <a:solidFill>
                  <a:srgbClr val="C4661F"/>
                </a:solidFill>
                <a:latin typeface="MiSans" charset="-122"/>
                <a:ea typeface="MiSans" charset="-122"/>
              </a:rPr>
              <a:t>软件测试课程项目 · 成果展示</a:t>
            </a:r>
            <a:endParaRPr lang="en-US" sz="900" noProof="1"/>
          </a:p>
        </p:txBody>
      </p:sp>
      <p:sp>
        <p:nvSpPr>
          <p:cNvPr id="25" name="title"/>
          <p:cNvSpPr txBox="1"/>
          <p:nvPr/>
        </p:nvSpPr>
        <p:spPr>
          <a:xfrm>
            <a:off x="609600" y="1409700"/>
            <a:ext cx="5334000" cy="571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3150" b="1" noProof="1">
                <a:solidFill>
                  <a:srgbClr val="1E2422"/>
                </a:solidFill>
                <a:latin typeface="MiSans" charset="-122"/>
                <a:ea typeface="MiSans" charset="-122"/>
              </a:rPr>
              <a:t>AI 闯关学习小程序</a:t>
            </a:r>
            <a:endParaRPr lang="en-US" sz="3150" noProof="1"/>
          </a:p>
        </p:txBody>
      </p:sp>
      <p:sp>
        <p:nvSpPr>
          <p:cNvPr id="26" name="subtitle"/>
          <p:cNvSpPr txBox="1"/>
          <p:nvPr/>
        </p:nvSpPr>
        <p:spPr>
          <a:xfrm>
            <a:off x="609600" y="207645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b="1" noProof="1">
                <a:solidFill>
                  <a:srgbClr val="2F5D50"/>
                </a:solidFill>
                <a:latin typeface="MiSans" charset="-122"/>
                <a:ea typeface="MiSans" charset="-122"/>
              </a:rPr>
              <a:t>软件测试成果展示</a:t>
            </a:r>
            <a:endParaRPr lang="en-US" noProof="1"/>
          </a:p>
        </p:txBody>
      </p:sp>
      <p:sp>
        <p:nvSpPr>
          <p:cNvPr id="27" name="accent-rule"/>
          <p:cNvSpPr/>
          <p:nvPr/>
        </p:nvSpPr>
        <p:spPr>
          <a:xfrm>
            <a:off x="609600" y="2628900"/>
            <a:ext cx="914400" cy="28575"/>
          </a:xfrm>
          <a:prstGeom prst="rect">
            <a:avLst/>
          </a:prstGeom>
          <a:solidFill>
            <a:srgbClr val="C4661F"/>
          </a:solidFill>
          <a:ln>
            <a:noFill/>
          </a:ln>
        </p:spPr>
      </p:sp>
      <p:sp>
        <p:nvSpPr>
          <p:cNvPr id="28" name="meta"/>
          <p:cNvSpPr txBox="1"/>
          <p:nvPr/>
        </p:nvSpPr>
        <p:spPr>
          <a:xfrm>
            <a:off x="609600" y="28194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975" noProof="1">
                <a:solidFill>
                  <a:srgbClr val="5F6B66"/>
                </a:solidFill>
                <a:latin typeface="MiSans" charset="-122"/>
                <a:ea typeface="MiSans" charset="-122"/>
              </a:rPr>
              <a:t>测试执行：沙铭亮 · 于军雷　｜　测试周期：2026.09.08 – 09.14　｜　版本：V1.0 → V1.2</a:t>
            </a:r>
            <a:endParaRPr lang="en-US" sz="975" noProof="1"/>
          </a:p>
        </p:txBody>
      </p:sp>
      <p:sp>
        <p:nvSpPr>
          <p:cNvPr id="29" name="links"/>
          <p:cNvSpPr txBox="1"/>
          <p:nvPr/>
        </p:nvSpPr>
        <p:spPr>
          <a:xfrm>
            <a:off x="609600" y="3124200"/>
            <a:ext cx="66675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790" noProof="1">
                <a:solidFill>
                  <a:srgbClr val="5F6B66"/>
                </a:solidFill>
                <a:latin typeface="JetBrains Mono" panose="02000009000000000000"/>
                <a:ea typeface="JetBrains Mono" panose="02000009000000000000"/>
              </a:rPr>
              <a:t>github.com/SiO2sml/software_test</a:t>
            </a:r>
            <a:endParaRPr lang="en-US" sz="790" noProof="1"/>
          </a:p>
        </p:txBody>
      </p:sp>
      <p:sp>
        <p:nvSpPr>
          <p:cNvPr id="30" name="bottom-hair"/>
          <p:cNvSpPr/>
          <p:nvPr/>
        </p:nvSpPr>
        <p:spPr>
          <a:xfrm>
            <a:off x="609600" y="4324350"/>
            <a:ext cx="7924800" cy="9525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31" name="bottom-note"/>
          <p:cNvSpPr txBox="1"/>
          <p:nvPr/>
        </p:nvSpPr>
        <p:spPr>
          <a:xfrm>
            <a:off x="609600" y="4457700"/>
            <a:ext cx="79248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45000"/>
              </a:lnSpc>
            </a:pPr>
            <a:r>
              <a:rPr lang="en-US" sz="790" noProof="1">
                <a:solidFill>
                  <a:srgbClr val="5F6B66"/>
                </a:solidFill>
                <a:latin typeface="MiSans" charset="-122"/>
                <a:ea typeface="MiSans" charset="-122"/>
              </a:rPr>
              <a:t>被测对象：基于大语言模型的微信闯关学习小程序（前端 Taro 4 · 后端 FastAPI · MySQL 8.0）</a:t>
            </a:r>
            <a:endParaRPr lang="en-US" sz="790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09600" y="419100"/>
            <a:ext cx="38100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b="1" kern="0" spc="300" noProof="1">
                <a:solidFill>
                  <a:srgbClr val="C4661F"/>
                </a:solidFill>
                <a:latin typeface="MiSans" charset="-122"/>
                <a:ea typeface="MiSans" charset="-122"/>
              </a:rPr>
              <a:t>01 · 被测对象</a:t>
            </a:r>
            <a:endParaRPr lang="en-US" sz="9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792480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75" b="1" noProof="1">
                <a:solidFill>
                  <a:srgbClr val="1E2422"/>
                </a:solidFill>
                <a:latin typeface="MiSans" charset="-122"/>
                <a:ea typeface="MiSans" charset="-122"/>
              </a:rPr>
              <a:t>输入知识点，AI 自动出题的微信闯关学习小程序</a:t>
            </a:r>
            <a:endParaRPr lang="en-US" sz="1875" noProof="1"/>
          </a:p>
        </p:txBody>
      </p:sp>
      <p:sp>
        <p:nvSpPr>
          <p:cNvPr id="4" name="title-rule"/>
          <p:cNvSpPr/>
          <p:nvPr/>
        </p:nvSpPr>
        <p:spPr>
          <a:xfrm>
            <a:off x="609600" y="1066800"/>
            <a:ext cx="7924800" cy="9525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5" name="feat-head"/>
          <p:cNvSpPr txBox="1"/>
          <p:nvPr/>
        </p:nvSpPr>
        <p:spPr>
          <a:xfrm>
            <a:off x="609600" y="1276350"/>
            <a:ext cx="38100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50" b="1" noProof="1">
                <a:solidFill>
                  <a:srgbClr val="2F5D50"/>
                </a:solidFill>
                <a:latin typeface="MiSans" charset="-122"/>
                <a:ea typeface="MiSans" charset="-122"/>
              </a:rPr>
              <a:t>核心功能</a:t>
            </a:r>
            <a:endParaRPr lang="en-US" sz="1050" noProof="1"/>
          </a:p>
        </p:txBody>
      </p:sp>
      <p:sp>
        <p:nvSpPr>
          <p:cNvPr id="6" name="feat-list"/>
          <p:cNvSpPr txBox="1"/>
          <p:nvPr/>
        </p:nvSpPr>
        <p:spPr>
          <a:xfrm>
            <a:off x="609600" y="1543050"/>
            <a:ext cx="4000500" cy="2000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2000"/>
              </a:lnSpc>
            </a:pPr>
            <a:r>
              <a:rPr lang="en-US" sz="940" b="1" noProof="1">
                <a:solidFill>
                  <a:srgbClr val="1E2422"/>
                </a:solidFill>
                <a:latin typeface="MiSans" charset="-122"/>
                <a:ea typeface="MiSans" charset="-122"/>
              </a:rPr>
              <a:t>AI 出题</a:t>
            </a:r>
            <a:r>
              <a:rPr lang="en-US" sz="940" noProof="1">
                <a:solidFill>
                  <a:srgbClr val="1E2422"/>
                </a:solidFill>
                <a:latin typeface="MiSans" charset="-122"/>
                <a:ea typeface="MiSans" charset="-122"/>
              </a:rPr>
              <a:t>：输入知识描述，由大模型生成配套练习题</a:t>
            </a:r>
            <a:endParaRPr lang="en-US" sz="940" noProof="1"/>
          </a:p>
          <a:p>
            <a:pPr>
              <a:lnSpc>
                <a:spcPct val="162000"/>
              </a:lnSpc>
              <a:spcBef>
                <a:spcPts val="600"/>
              </a:spcBef>
            </a:pPr>
            <a:r>
              <a:rPr lang="en-US" sz="940" b="1" noProof="1">
                <a:solidFill>
                  <a:srgbClr val="1E2422"/>
                </a:solidFill>
                <a:latin typeface="MiSans" charset="-122"/>
                <a:ea typeface="MiSans" charset="-122"/>
              </a:rPr>
              <a:t>答题闯关</a:t>
            </a:r>
            <a:r>
              <a:rPr lang="en-US" sz="940" noProof="1">
                <a:solidFill>
                  <a:srgbClr val="1E2422"/>
                </a:solidFill>
                <a:latin typeface="MiSans" charset="-122"/>
                <a:ea typeface="MiSans" charset="-122"/>
              </a:rPr>
              <a:t>：作答积累积分，统计正确率与得分率</a:t>
            </a:r>
            <a:endParaRPr lang="en-US" sz="940" noProof="1"/>
          </a:p>
          <a:p>
            <a:pPr>
              <a:lnSpc>
                <a:spcPct val="162000"/>
              </a:lnSpc>
              <a:spcBef>
                <a:spcPts val="600"/>
              </a:spcBef>
            </a:pPr>
            <a:r>
              <a:rPr lang="en-US" sz="940" b="1" noProof="1">
                <a:solidFill>
                  <a:srgbClr val="1E2422"/>
                </a:solidFill>
                <a:latin typeface="MiSans" charset="-122"/>
                <a:ea typeface="MiSans" charset="-122"/>
              </a:rPr>
              <a:t>智能复盘</a:t>
            </a:r>
            <a:r>
              <a:rPr lang="en-US" sz="940" noProof="1">
                <a:solidFill>
                  <a:srgbClr val="1E2422"/>
                </a:solidFill>
                <a:latin typeface="MiSans" charset="-122"/>
                <a:ea typeface="MiSans" charset="-122"/>
              </a:rPr>
              <a:t>：生成答题复盘报告</a:t>
            </a:r>
            <a:endParaRPr lang="en-US" sz="940" noProof="1"/>
          </a:p>
          <a:p>
            <a:pPr>
              <a:lnSpc>
                <a:spcPct val="162000"/>
              </a:lnSpc>
              <a:spcBef>
                <a:spcPts val="600"/>
              </a:spcBef>
            </a:pPr>
            <a:r>
              <a:rPr lang="en-US" sz="940" b="1" noProof="1">
                <a:solidFill>
                  <a:srgbClr val="1E2422"/>
                </a:solidFill>
                <a:latin typeface="MiSans" charset="-122"/>
                <a:ea typeface="MiSans" charset="-122"/>
              </a:rPr>
              <a:t>知识库出题</a:t>
            </a:r>
            <a:r>
              <a:rPr lang="en-US" sz="940" noProof="1">
                <a:solidFill>
                  <a:srgbClr val="1E2422"/>
                </a:solidFill>
                <a:latin typeface="MiSans" charset="-122"/>
                <a:ea typeface="MiSans" charset="-122"/>
              </a:rPr>
              <a:t>：上传文档解析分块，基于文档出题并生成配图</a:t>
            </a:r>
            <a:endParaRPr lang="en-US" sz="940" noProof="1"/>
          </a:p>
          <a:p>
            <a:pPr>
              <a:lnSpc>
                <a:spcPct val="162000"/>
              </a:lnSpc>
              <a:spcBef>
                <a:spcPts val="600"/>
              </a:spcBef>
            </a:pPr>
            <a:endParaRPr lang="en-US" sz="940" noProof="1"/>
          </a:p>
        </p:txBody>
      </p:sp>
      <p:sp>
        <p:nvSpPr>
          <p:cNvPr id="7" name="stack-head"/>
          <p:cNvSpPr txBox="1"/>
          <p:nvPr/>
        </p:nvSpPr>
        <p:spPr>
          <a:xfrm>
            <a:off x="609600" y="36957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50" b="1" noProof="1">
                <a:solidFill>
                  <a:srgbClr val="2F5D50"/>
                </a:solidFill>
                <a:latin typeface="MiSans" charset="-122"/>
                <a:ea typeface="MiSans" charset="-122"/>
              </a:rPr>
              <a:t>技术栈</a:t>
            </a:r>
            <a:endParaRPr lang="en-US" sz="1050" noProof="1"/>
          </a:p>
        </p:txBody>
      </p:sp>
      <p:sp>
        <p:nvSpPr>
          <p:cNvPr id="9" name="stack-body"/>
          <p:cNvSpPr txBox="1"/>
          <p:nvPr/>
        </p:nvSpPr>
        <p:spPr>
          <a:xfrm>
            <a:off x="609600" y="3924300"/>
            <a:ext cx="40005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825" noProof="1">
                <a:solidFill>
                  <a:srgbClr val="5F6B66"/>
                </a:solidFill>
                <a:latin typeface="MiSans" charset="-122"/>
                <a:ea typeface="MiSans" charset="-122"/>
              </a:rPr>
              <a:t>前端　Taro 4 · React 18 · TypeScript（微信小程序）</a:t>
            </a:r>
            <a:endParaRPr lang="en-US" sz="825" noProof="1"/>
          </a:p>
          <a:p>
            <a:pPr>
              <a:lnSpc>
                <a:spcPct val="160000"/>
              </a:lnSpc>
            </a:pPr>
            <a:r>
              <a:rPr lang="en-US" sz="825" noProof="1">
                <a:solidFill>
                  <a:srgbClr val="5F6B66"/>
                </a:solidFill>
                <a:latin typeface="MiSans" charset="-122"/>
                <a:ea typeface="MiSans" charset="-122"/>
              </a:rPr>
              <a:t>后端　Python 3.11 · FastAPI · Pydantic v2 · 异步任务</a:t>
            </a:r>
            <a:endParaRPr lang="en-US" sz="825" noProof="1"/>
          </a:p>
          <a:p>
            <a:pPr>
              <a:lnSpc>
                <a:spcPct val="160000"/>
              </a:lnSpc>
            </a:pPr>
            <a:r>
              <a:rPr lang="en-US" sz="825" noProof="1">
                <a:solidFill>
                  <a:srgbClr val="5F6B66"/>
                </a:solidFill>
                <a:latin typeface="MiSans" charset="-122"/>
                <a:ea typeface="MiSans" charset="-122"/>
              </a:rPr>
              <a:t>数据　MySQL 8.0（业务）· Chroma（知识库向量）</a:t>
            </a:r>
            <a:endParaRPr lang="en-US" sz="825" noProof="1"/>
          </a:p>
          <a:p>
            <a:pPr>
              <a:lnSpc>
                <a:spcPct val="160000"/>
              </a:lnSpc>
            </a:pPr>
            <a:r>
              <a:rPr lang="en-US" sz="825" noProof="1">
                <a:solidFill>
                  <a:srgbClr val="5F6B66"/>
                </a:solidFill>
                <a:latin typeface="MiSans" charset="-122"/>
                <a:ea typeface="MiSans" charset="-122"/>
              </a:rPr>
              <a:t>三方　DeepSeek 出题 · 阿里云百炼 Embedding / 生图</a:t>
            </a:r>
            <a:endParaRPr lang="en-US" sz="825" noProof="1"/>
          </a:p>
        </p:txBody>
      </p:sp>
      <p:sp>
        <p:nvSpPr>
          <p:cNvPr id="10" name="mid-rule"/>
          <p:cNvSpPr/>
          <p:nvPr/>
        </p:nvSpPr>
        <p:spPr>
          <a:xfrm>
            <a:off x="4914900" y="1276350"/>
            <a:ext cx="9525" cy="333375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13" name="footer-hair"/>
          <p:cNvSpPr/>
          <p:nvPr/>
        </p:nvSpPr>
        <p:spPr>
          <a:xfrm>
            <a:off x="609600" y="4762500"/>
            <a:ext cx="7924800" cy="9525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rcRect l="-1114" b="21735"/>
          <a:stretch>
            <a:fillRect/>
          </a:stretch>
        </p:blipFill>
        <p:spPr>
          <a:xfrm>
            <a:off x="5638800" y="1304290"/>
            <a:ext cx="2362200" cy="323088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09600" y="419100"/>
            <a:ext cx="38100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900" b="1" kern="0" spc="300" noProof="1">
                <a:solidFill>
                  <a:srgbClr val="C4661F"/>
                </a:solidFill>
                <a:latin typeface="MiSans" charset="-122"/>
                <a:ea typeface="MiSans" charset="-122"/>
              </a:rPr>
              <a:t>02 · 测试范围与策略</a:t>
            </a:r>
            <a:endParaRPr lang="en-US" sz="9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792480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1875" b="1" noProof="1">
                <a:solidFill>
                  <a:srgbClr val="1E2422"/>
                </a:solidFill>
                <a:latin typeface="MiSans" charset="-122"/>
                <a:ea typeface="MiSans" charset="-122"/>
              </a:rPr>
              <a:t>按风险选方法：每个模块匹配对应的测试设计技术</a:t>
            </a:r>
            <a:endParaRPr lang="en-US" sz="1875" noProof="1"/>
          </a:p>
        </p:txBody>
      </p:sp>
      <p:sp>
        <p:nvSpPr>
          <p:cNvPr id="4" name="title-rule"/>
          <p:cNvSpPr/>
          <p:nvPr/>
        </p:nvSpPr>
        <p:spPr>
          <a:xfrm>
            <a:off x="609600" y="1066800"/>
            <a:ext cx="7924800" cy="9525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graphicFrame>
        <p:nvGraphicFramePr>
          <p:cNvPr id="5" name="strategy-table"/>
          <p:cNvGraphicFramePr>
            <a:graphicFrameLocks noGrp="1"/>
          </p:cNvGraphicFramePr>
          <p:nvPr/>
        </p:nvGraphicFramePr>
        <p:xfrm>
          <a:off x="609600" y="1276350"/>
          <a:ext cx="7924800" cy="2707640"/>
        </p:xfrm>
        <a:graphic>
          <a:graphicData uri="http://schemas.openxmlformats.org/drawingml/2006/table">
            <a:tbl>
              <a:tblPr/>
              <a:tblGrid>
                <a:gridCol w="2377440"/>
                <a:gridCol w="3645535"/>
                <a:gridCol w="1901825"/>
              </a:tblGrid>
              <a:tr h="338455">
                <a:tc>
                  <a:txBody>
                    <a:bodyPr wrap="square" rtlCol="0"/>
                    <a:p>
                      <a:pPr algn="l"/>
                      <a:r>
                        <a:rPr lang="en-US" sz="90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被测模块</a:t>
                      </a:r>
                      <a:endParaRPr lang="en-US" sz="90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2F5D50"/>
                    </a:solidFill>
                  </a:tcPr>
                </a:tc>
                <a:tc>
                  <a:txBody>
                    <a:bodyPr wrap="square" rtlCol="0"/>
                    <a:p>
                      <a:pPr algn="l"/>
                      <a:r>
                        <a:rPr lang="en-US" sz="90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测试方法</a:t>
                      </a:r>
                      <a:endParaRPr lang="en-US" sz="90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2F5D50"/>
                    </a:solidFill>
                  </a:tcPr>
                </a:tc>
                <a:tc>
                  <a:txBody>
                    <a:bodyPr wrap="square" rtlCol="0"/>
                    <a:p>
                      <a:pPr algn="l"/>
                      <a:r>
                        <a:rPr lang="en-US" sz="90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关注点</a:t>
                      </a:r>
                      <a:endParaRPr lang="en-US" sz="90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2F5D50"/>
                    </a:solidFill>
                  </a:tcPr>
                </a:tc>
              </a:tr>
              <a:tr h="338455">
                <a:tc>
                  <a:txBody>
                    <a:bodyPr wrap="square" rtlCol="0"/>
                    <a:p>
                      <a:pPr algn="l"/>
                      <a:r>
                        <a:rPr lang="en-US" sz="790" noProof="1">
                          <a:solidFill>
                            <a:srgbClr val="1E2422"/>
                          </a:solidFill>
                          <a:latin typeface="JetBrains Mono" panose="02000009000000000000"/>
                          <a:ea typeface="JetBrains Mono" panose="02000009000000000000"/>
                        </a:rPr>
                        <a:t>compute_score_summary</a:t>
                      </a:r>
                      <a:endParaRPr lang="en-US" sz="790" noProof="1">
                        <a:solidFill>
                          <a:srgbClr val="1E2422"/>
                        </a:solidFill>
                        <a:latin typeface="JetBrains Mono" panose="02000009000000000000"/>
                        <a:ea typeface="JetBrains Mono" panose="02000009000000000000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p>
                      <a:pPr algn="l"/>
                      <a:r>
                        <a:rPr lang="en-US" sz="900" noProof="1">
                          <a:solidFill>
                            <a:srgbClr val="1E2422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等价类划分 + 边界值分析</a:t>
                      </a:r>
                      <a:endParaRPr lang="en-US" sz="900" noProof="1">
                        <a:solidFill>
                          <a:srgbClr val="1E2422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p>
                      <a:pPr algn="l"/>
                      <a:r>
                        <a:rPr lang="en-US" sz="900" noProof="1">
                          <a:solidFill>
                            <a:srgbClr val="1E2422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除 0、全对 / 全错、空记录</a:t>
                      </a:r>
                      <a:endParaRPr lang="en-US" sz="900" noProof="1">
                        <a:solidFill>
                          <a:srgbClr val="1E2422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noFill/>
                  </a:tcPr>
                </a:tc>
              </a:tr>
              <a:tr h="338455">
                <a:tc>
                  <a:txBody>
                    <a:bodyPr wrap="square" rtlCol="0"/>
                    <a:p>
                      <a:pPr algn="l"/>
                      <a:r>
                        <a:rPr lang="en-US" sz="790" noProof="1">
                          <a:solidFill>
                            <a:srgbClr val="1E2422"/>
                          </a:solidFill>
                          <a:latin typeface="JetBrains Mono" panose="02000009000000000000"/>
                          <a:ea typeface="JetBrains Mono" panose="02000009000000000000"/>
                        </a:rPr>
                        <a:t>check_content</a:t>
                      </a:r>
                      <a:endParaRPr lang="en-US" sz="790" noProof="1">
                        <a:solidFill>
                          <a:srgbClr val="1E2422"/>
                        </a:solidFill>
                        <a:latin typeface="JetBrains Mono" panose="02000009000000000000"/>
                        <a:ea typeface="JetBrains Mono" panose="02000009000000000000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p>
                      <a:pPr algn="l"/>
                      <a:r>
                        <a:rPr lang="en-US" sz="900" noProof="1">
                          <a:solidFill>
                            <a:srgbClr val="1E2422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等价类 + 边界值 + 规则判定覆盖</a:t>
                      </a:r>
                      <a:endParaRPr lang="en-US" sz="900" noProof="1">
                        <a:solidFill>
                          <a:srgbClr val="1E2422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p>
                      <a:pPr algn="l"/>
                      <a:r>
                        <a:rPr lang="en-US" sz="900" noProof="1">
                          <a:solidFill>
                            <a:srgbClr val="1E2422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敏感词、空串、长度边界</a:t>
                      </a:r>
                      <a:endParaRPr lang="en-US" sz="900" noProof="1">
                        <a:solidFill>
                          <a:srgbClr val="1E2422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noFill/>
                  </a:tcPr>
                </a:tc>
              </a:tr>
              <a:tr h="338455">
                <a:tc>
                  <a:txBody>
                    <a:bodyPr wrap="square" rtlCol="0"/>
                    <a:p>
                      <a:pPr algn="l"/>
                      <a:r>
                        <a:rPr lang="en-US" sz="790" noProof="1">
                          <a:solidFill>
                            <a:srgbClr val="1E2422"/>
                          </a:solidFill>
                          <a:latin typeface="JetBrains Mono" panose="02000009000000000000"/>
                          <a:ea typeface="JetBrains Mono" panose="02000009000000000000"/>
                        </a:rPr>
                        <a:t>knowledge_repository</a:t>
                      </a:r>
                      <a:endParaRPr lang="en-US" sz="790" noProof="1">
                        <a:solidFill>
                          <a:srgbClr val="1E2422"/>
                        </a:solidFill>
                        <a:latin typeface="JetBrains Mono" panose="02000009000000000000"/>
                        <a:ea typeface="JetBrains Mono" panose="02000009000000000000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p>
                      <a:pPr algn="l"/>
                      <a:r>
                        <a:rPr lang="en-US" sz="900" noProof="1">
                          <a:solidFill>
                            <a:srgbClr val="1E2422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Mock 隔离 + 等价类 + 边界值 + SQL 覆盖</a:t>
                      </a:r>
                      <a:endParaRPr lang="en-US" sz="900" noProof="1">
                        <a:solidFill>
                          <a:srgbClr val="1E2422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p>
                      <a:pPr algn="l"/>
                      <a:r>
                        <a:rPr lang="en-US" sz="900" noProof="1">
                          <a:solidFill>
                            <a:srgbClr val="1E2422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增删改查、文档不存在</a:t>
                      </a:r>
                      <a:endParaRPr lang="en-US" sz="900" noProof="1">
                        <a:solidFill>
                          <a:srgbClr val="1E2422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noFill/>
                  </a:tcPr>
                </a:tc>
              </a:tr>
              <a:tr h="338455">
                <a:tc>
                  <a:txBody>
                    <a:bodyPr wrap="square" rtlCol="0"/>
                    <a:p>
                      <a:pPr algn="l"/>
                      <a:r>
                        <a:rPr lang="en-US" sz="790" noProof="1">
                          <a:solidFill>
                            <a:srgbClr val="1E2422"/>
                          </a:solidFill>
                          <a:latin typeface="JetBrains Mono" panose="02000009000000000000"/>
                          <a:ea typeface="JetBrains Mono" panose="02000009000000000000"/>
                        </a:rPr>
                        <a:t>handle_upload</a:t>
                      </a:r>
                      <a:endParaRPr lang="en-US" sz="790" noProof="1">
                        <a:solidFill>
                          <a:srgbClr val="1E2422"/>
                        </a:solidFill>
                        <a:latin typeface="JetBrains Mono" panose="02000009000000000000"/>
                        <a:ea typeface="JetBrains Mono" panose="02000009000000000000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p>
                      <a:pPr algn="l"/>
                      <a:r>
                        <a:rPr lang="en-US" sz="900" noProof="1">
                          <a:solidFill>
                            <a:srgbClr val="1E2422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边界值 + 等价类 + 异常测试</a:t>
                      </a:r>
                      <a:endParaRPr lang="en-US" sz="900" noProof="1">
                        <a:solidFill>
                          <a:srgbClr val="1E2422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p>
                      <a:pPr algn="l"/>
                      <a:r>
                        <a:rPr lang="en-US" sz="900" noProof="1">
                          <a:solidFill>
                            <a:srgbClr val="1E2422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超 10MB 文件、非法类型</a:t>
                      </a:r>
                      <a:endParaRPr lang="en-US" sz="900" noProof="1">
                        <a:solidFill>
                          <a:srgbClr val="1E2422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noFill/>
                  </a:tcPr>
                </a:tc>
              </a:tr>
              <a:tr h="338455">
                <a:tc>
                  <a:txBody>
                    <a:bodyPr wrap="square" rtlCol="0"/>
                    <a:p>
                      <a:pPr algn="l"/>
                      <a:r>
                        <a:rPr lang="en-US" sz="790" noProof="1">
                          <a:solidFill>
                            <a:srgbClr val="1E2422"/>
                          </a:solidFill>
                          <a:latin typeface="JetBrains Mono" panose="02000009000000000000"/>
                          <a:ea typeface="JetBrains Mono" panose="02000009000000000000"/>
                        </a:rPr>
                        <a:t>create_token / decode_token</a:t>
                      </a:r>
                      <a:endParaRPr lang="en-US" sz="790" noProof="1">
                        <a:solidFill>
                          <a:srgbClr val="1E2422"/>
                        </a:solidFill>
                        <a:latin typeface="JetBrains Mono" panose="02000009000000000000"/>
                        <a:ea typeface="JetBrains Mono" panose="02000009000000000000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p>
                      <a:pPr algn="l"/>
                      <a:r>
                        <a:rPr lang="en-US" sz="900" noProof="1">
                          <a:solidFill>
                            <a:srgbClr val="1E2422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功能测试 + 异常测试</a:t>
                      </a:r>
                      <a:endParaRPr lang="en-US" sz="900" noProof="1">
                        <a:solidFill>
                          <a:srgbClr val="1E2422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p>
                      <a:pPr algn="l"/>
                      <a:r>
                        <a:rPr lang="en-US" sz="900" noProof="1">
                          <a:solidFill>
                            <a:srgbClr val="1E2422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篡改 token、过期 token</a:t>
                      </a:r>
                      <a:endParaRPr lang="en-US" sz="900" noProof="1">
                        <a:solidFill>
                          <a:srgbClr val="1E2422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noFill/>
                  </a:tcPr>
                </a:tc>
              </a:tr>
              <a:tr h="338455">
                <a:tc>
                  <a:txBody>
                    <a:bodyPr wrap="square" rtlCol="0"/>
                    <a:p>
                      <a:pPr algn="l"/>
                      <a:r>
                        <a:rPr lang="en-US" sz="790" noProof="1">
                          <a:solidFill>
                            <a:srgbClr val="1E2422"/>
                          </a:solidFill>
                          <a:latin typeface="JetBrains Mono" panose="02000009000000000000"/>
                          <a:ea typeface="JetBrains Mono" panose="02000009000000000000"/>
                        </a:rPr>
                        <a:t>get_current_user</a:t>
                      </a:r>
                      <a:endParaRPr lang="en-US" sz="790" noProof="1">
                        <a:solidFill>
                          <a:srgbClr val="1E2422"/>
                        </a:solidFill>
                        <a:latin typeface="JetBrains Mono" panose="02000009000000000000"/>
                        <a:ea typeface="JetBrains Mono" panose="02000009000000000000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p>
                      <a:pPr algn="l"/>
                      <a:r>
                        <a:rPr lang="en-US" sz="900" noProof="1">
                          <a:solidFill>
                            <a:srgbClr val="1E2422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负面测试 + 未登录异常路径</a:t>
                      </a:r>
                      <a:endParaRPr lang="en-US" sz="900" noProof="1">
                        <a:solidFill>
                          <a:srgbClr val="1E2422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p>
                      <a:pPr algn="l"/>
                      <a:r>
                        <a:rPr lang="en-US" sz="900" noProof="1">
                          <a:solidFill>
                            <a:srgbClr val="1E2422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未登录拦截（401）</a:t>
                      </a:r>
                      <a:endParaRPr lang="en-US" sz="900" noProof="1">
                        <a:solidFill>
                          <a:srgbClr val="1E2422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noFill/>
                  </a:tcPr>
                </a:tc>
              </a:tr>
              <a:tr h="338455">
                <a:tc>
                  <a:txBody>
                    <a:bodyPr wrap="square" rtlCol="0"/>
                    <a:p>
                      <a:pPr algn="l"/>
                      <a:r>
                        <a:rPr lang="en-US" sz="790" noProof="1">
                          <a:solidFill>
                            <a:srgbClr val="1E2422"/>
                          </a:solidFill>
                          <a:latin typeface="JetBrains Mono" panose="02000009000000000000"/>
                          <a:ea typeface="JetBrains Mono" panose="02000009000000000000"/>
                        </a:rPr>
                        <a:t>create_quiz_task</a:t>
                      </a:r>
                      <a:endParaRPr lang="en-US" sz="790" noProof="1">
                        <a:solidFill>
                          <a:srgbClr val="1E2422"/>
                        </a:solidFill>
                        <a:latin typeface="JetBrains Mono" panose="02000009000000000000"/>
                        <a:ea typeface="JetBrains Mono" panose="02000009000000000000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p>
                      <a:pPr algn="l"/>
                      <a:r>
                        <a:rPr lang="en-US" sz="900" noProof="1">
                          <a:solidFill>
                            <a:srgbClr val="1E2422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等价类划分 + 异常测试</a:t>
                      </a:r>
                      <a:endParaRPr lang="en-US" sz="900" noProof="1">
                        <a:solidFill>
                          <a:srgbClr val="1E2422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p>
                      <a:pPr algn="l"/>
                      <a:r>
                        <a:rPr lang="en-US" sz="900" noProof="1">
                          <a:solidFill>
                            <a:srgbClr val="1E2422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登录态、文档归属校验</a:t>
                      </a:r>
                      <a:endParaRPr lang="en-US" sz="900" noProof="1">
                        <a:solidFill>
                          <a:srgbClr val="1E2422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exclude-head"/>
          <p:cNvSpPr txBox="1"/>
          <p:nvPr/>
        </p:nvSpPr>
        <p:spPr>
          <a:xfrm>
            <a:off x="609600" y="4171950"/>
            <a:ext cx="1905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975" b="1" noProof="1">
                <a:solidFill>
                  <a:srgbClr val="2F5D50"/>
                </a:solidFill>
                <a:latin typeface="MiSans" charset="-122"/>
                <a:ea typeface="MiSans" charset="-122"/>
              </a:rPr>
              <a:t>本次不覆盖</a:t>
            </a:r>
            <a:endParaRPr lang="en-US" sz="975" noProof="1"/>
          </a:p>
        </p:txBody>
      </p:sp>
      <p:sp>
        <p:nvSpPr>
          <p:cNvPr id="7" name="exclude-body"/>
          <p:cNvSpPr txBox="1"/>
          <p:nvPr/>
        </p:nvSpPr>
        <p:spPr>
          <a:xfrm>
            <a:off x="1714500" y="4171950"/>
            <a:ext cx="68199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p>
            <a:pPr>
              <a:lnSpc>
                <a:spcPct val="150000"/>
              </a:lnSpc>
            </a:pPr>
            <a:r>
              <a:rPr lang="en-US" sz="865" noProof="1">
                <a:solidFill>
                  <a:srgbClr val="5F6B66"/>
                </a:solidFill>
                <a:latin typeface="MiSans" charset="-122"/>
                <a:ea typeface="MiSans" charset="-122"/>
              </a:rPr>
              <a:t>Prompts 相关（AI 生成逻辑）：与单元测试范畴无关，且测试过程繁琐；UI 层交互：属功能测试范畴，已通过手动功能测试覆盖（缺陷 001–004 均由此发现）。</a:t>
            </a:r>
            <a:endParaRPr lang="en-US" sz="865" noProof="1"/>
          </a:p>
        </p:txBody>
      </p:sp>
      <p:sp>
        <p:nvSpPr>
          <p:cNvPr id="8" name="footer-hair"/>
          <p:cNvSpPr/>
          <p:nvPr/>
        </p:nvSpPr>
        <p:spPr>
          <a:xfrm>
            <a:off x="609600" y="4762500"/>
            <a:ext cx="7924800" cy="9525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" name="kicker"/>
          <p:cNvSpPr txBox="1"/>
          <p:nvPr/>
        </p:nvSpPr>
        <p:spPr>
          <a:xfrm>
            <a:off x="609600" y="419100"/>
            <a:ext cx="38100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900" b="1" kern="0" spc="300" noProof="1">
                <a:solidFill>
                  <a:srgbClr val="C4661F"/>
                </a:solidFill>
                <a:latin typeface="MiSans" charset="-122"/>
                <a:ea typeface="MiSans" charset="-122"/>
              </a:rPr>
              <a:t>03 · 测试用例设计</a:t>
            </a:r>
            <a:endParaRPr lang="en-US" sz="900" noProof="1"/>
          </a:p>
        </p:txBody>
      </p:sp>
      <p:sp>
        <p:nvSpPr>
          <p:cNvPr id="25" name="title"/>
          <p:cNvSpPr txBox="1"/>
          <p:nvPr/>
        </p:nvSpPr>
        <p:spPr>
          <a:xfrm>
            <a:off x="609600" y="647700"/>
            <a:ext cx="792480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1875" b="1" noProof="1">
                <a:solidFill>
                  <a:srgbClr val="1E2422"/>
                </a:solidFill>
                <a:latin typeface="MiSans" charset="-122"/>
                <a:ea typeface="MiSans" charset="-122"/>
              </a:rPr>
              <a:t>30 条用例：等价类 / 边界值为主，Mock 隔离与安全测试并重</a:t>
            </a:r>
            <a:endParaRPr lang="en-US" sz="1875" noProof="1"/>
          </a:p>
        </p:txBody>
      </p:sp>
      <p:sp>
        <p:nvSpPr>
          <p:cNvPr id="26" name="title-rule"/>
          <p:cNvSpPr/>
          <p:nvPr/>
        </p:nvSpPr>
        <p:spPr>
          <a:xfrm>
            <a:off x="609600" y="1066800"/>
            <a:ext cx="7924800" cy="9525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27" name="pie-head"/>
          <p:cNvSpPr txBox="1"/>
          <p:nvPr/>
        </p:nvSpPr>
        <p:spPr>
          <a:xfrm>
            <a:off x="609600" y="123825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975" b="1" noProof="1">
                <a:solidFill>
                  <a:srgbClr val="2F5D50"/>
                </a:solidFill>
                <a:latin typeface="MiSans" charset="-122"/>
                <a:ea typeface="MiSans" charset="-122"/>
              </a:rPr>
              <a:t>用例按测试方法分布（占比）</a:t>
            </a:r>
            <a:endParaRPr lang="en-US" sz="975" noProof="1"/>
          </a:p>
        </p:txBody>
      </p:sp>
      <p:graphicFrame>
        <p:nvGraphicFramePr>
          <p:cNvPr id="28" name="pie"/>
          <p:cNvGraphicFramePr/>
          <p:nvPr/>
        </p:nvGraphicFramePr>
        <p:xfrm>
          <a:off x="419100" y="1466850"/>
          <a:ext cx="381000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9" name="pie-note"/>
          <p:cNvSpPr txBox="1"/>
          <p:nvPr/>
        </p:nvSpPr>
        <p:spPr>
          <a:xfrm>
            <a:off x="609600" y="4343400"/>
            <a:ext cx="3429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p>
            <a:pPr>
              <a:lnSpc>
                <a:spcPct val="140000"/>
              </a:lnSpc>
            </a:pPr>
            <a:r>
              <a:rPr lang="en-US" sz="790" noProof="1">
                <a:solidFill>
                  <a:srgbClr val="5F6B66"/>
                </a:solidFill>
                <a:latin typeface="MiSans" charset="-122"/>
                <a:ea typeface="MiSans" charset="-122"/>
              </a:rPr>
              <a:t>安全测试 5 条全部针对 JWT 与内容合规；全部 30 条用例中 ≥24 条已自动化。</a:t>
            </a:r>
            <a:endParaRPr lang="en-US" sz="790" noProof="1"/>
          </a:p>
        </p:txBody>
      </p:sp>
      <p:sp>
        <p:nvSpPr>
          <p:cNvPr id="30" name="mid-rule"/>
          <p:cNvSpPr/>
          <p:nvPr/>
        </p:nvSpPr>
        <p:spPr>
          <a:xfrm>
            <a:off x="4552950" y="1276350"/>
            <a:ext cx="9525" cy="32385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31" name="bar-head"/>
          <p:cNvSpPr txBox="1"/>
          <p:nvPr/>
        </p:nvSpPr>
        <p:spPr>
          <a:xfrm>
            <a:off x="4819650" y="1238250"/>
            <a:ext cx="371475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975" b="1" noProof="1">
                <a:solidFill>
                  <a:srgbClr val="2F5D50"/>
                </a:solidFill>
                <a:latin typeface="MiSans" charset="-122"/>
                <a:ea typeface="MiSans" charset="-122"/>
              </a:rPr>
              <a:t>需求 → 用例数映射（条）</a:t>
            </a:r>
            <a:endParaRPr lang="en-US" sz="975" noProof="1"/>
          </a:p>
        </p:txBody>
      </p:sp>
      <p:graphicFrame>
        <p:nvGraphicFramePr>
          <p:cNvPr id="32" name="bar"/>
          <p:cNvGraphicFramePr/>
          <p:nvPr/>
        </p:nvGraphicFramePr>
        <p:xfrm>
          <a:off x="4629150" y="1466850"/>
          <a:ext cx="400050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3" name="bar-note"/>
          <p:cNvSpPr txBox="1"/>
          <p:nvPr/>
        </p:nvSpPr>
        <p:spPr>
          <a:xfrm>
            <a:off x="4819650" y="4343400"/>
            <a:ext cx="37147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p>
            <a:pPr>
              <a:lnSpc>
                <a:spcPct val="140000"/>
              </a:lnSpc>
            </a:pPr>
            <a:r>
              <a:rPr lang="en-US" sz="790" noProof="1">
                <a:solidFill>
                  <a:srgbClr val="5F6B66"/>
                </a:solidFill>
                <a:latin typeface="MiSans" charset="-122"/>
                <a:ea typeface="MiSans" charset="-122"/>
              </a:rPr>
              <a:t>知识库存储（8 条）与智能出题（6 条）用例最多 —— 数据正确性与成本控制是本次测试的两个重心。</a:t>
            </a:r>
            <a:endParaRPr lang="en-US" sz="790" noProof="1"/>
          </a:p>
        </p:txBody>
      </p:sp>
      <p:sp>
        <p:nvSpPr>
          <p:cNvPr id="34" name="footer-hair"/>
          <p:cNvSpPr/>
          <p:nvPr/>
        </p:nvSpPr>
        <p:spPr>
          <a:xfrm>
            <a:off x="609600" y="4762500"/>
            <a:ext cx="7924800" cy="9525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09600" y="419100"/>
            <a:ext cx="38100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900" b="1" kern="0" spc="300" noProof="1">
                <a:solidFill>
                  <a:srgbClr val="C4661F"/>
                </a:solidFill>
                <a:latin typeface="MiSans" charset="-122"/>
                <a:ea typeface="MiSans" charset="-122"/>
              </a:rPr>
              <a:t>03 · 测试用例设计</a:t>
            </a:r>
            <a:endParaRPr lang="en-US" sz="9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792480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1875" b="1" noProof="1">
                <a:solidFill>
                  <a:srgbClr val="1E2422"/>
                </a:solidFill>
                <a:latin typeface="MiSans" charset="-122"/>
                <a:ea typeface="MiSans" charset="-122"/>
              </a:rPr>
              <a:t>三个典型用例：空边界、敏感词、超长输入</a:t>
            </a:r>
            <a:endParaRPr lang="en-US" sz="1875" noProof="1"/>
          </a:p>
        </p:txBody>
      </p:sp>
      <p:sp>
        <p:nvSpPr>
          <p:cNvPr id="4" name="title-rule"/>
          <p:cNvSpPr/>
          <p:nvPr/>
        </p:nvSpPr>
        <p:spPr>
          <a:xfrm>
            <a:off x="609600" y="1066800"/>
            <a:ext cx="7924800" cy="9525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5" name="c1-tag"/>
          <p:cNvSpPr txBox="1"/>
          <p:nvPr/>
        </p:nvSpPr>
        <p:spPr>
          <a:xfrm>
            <a:off x="609600" y="1276350"/>
            <a:ext cx="43815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975" b="1" noProof="1">
                <a:solidFill>
                  <a:srgbClr val="2F5D50"/>
                </a:solidFill>
                <a:latin typeface="MiSans" charset="-122"/>
                <a:ea typeface="MiSans" charset="-122"/>
              </a:rPr>
              <a:t>用例 ①　</a:t>
            </a:r>
            <a:r>
              <a:rPr lang="en-US" sz="865" b="1" noProof="1">
                <a:solidFill>
                  <a:srgbClr val="C4661F"/>
                </a:solidFill>
                <a:latin typeface="JetBrains Mono" panose="02000009000000000000"/>
                <a:ea typeface="JetBrains Mono" panose="02000009000000000000"/>
              </a:rPr>
              <a:t>compute_score_summary([])</a:t>
            </a:r>
            <a:r>
              <a:rPr lang="en-US" sz="975" b="1" noProof="1">
                <a:solidFill>
                  <a:srgbClr val="2F5D50"/>
                </a:solidFill>
                <a:latin typeface="MiSans" charset="-122"/>
                <a:ea typeface="MiSans" charset="-122"/>
              </a:rPr>
              <a:t>　—— 空列表边界</a:t>
            </a:r>
            <a:endParaRPr lang="en-US" sz="975" noProof="1"/>
          </a:p>
        </p:txBody>
      </p:sp>
      <p:sp>
        <p:nvSpPr>
          <p:cNvPr id="6" name="c1-body"/>
          <p:cNvSpPr txBox="1"/>
          <p:nvPr/>
        </p:nvSpPr>
        <p:spPr>
          <a:xfrm>
            <a:off x="609600" y="1524000"/>
            <a:ext cx="79248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p>
            <a:pPr>
              <a:lnSpc>
                <a:spcPct val="150000"/>
              </a:lnSpc>
            </a:pPr>
            <a:r>
              <a:rPr lang="en-US" sz="900" noProof="1">
                <a:solidFill>
                  <a:srgbClr val="1E2422"/>
                </a:solidFill>
                <a:latin typeface="MiSans" charset="-122"/>
                <a:ea typeface="MiSans" charset="-122"/>
              </a:rPr>
              <a:t>输入空答题记录 → 预期 </a:t>
            </a:r>
            <a:r>
              <a:rPr lang="en-US" sz="790" noProof="1">
                <a:solidFill>
                  <a:srgbClr val="1E2422"/>
                </a:solidFill>
                <a:latin typeface="JetBrains Mono" panose="02000009000000000000"/>
                <a:ea typeface="JetBrains Mono" panose="02000009000000000000"/>
              </a:rPr>
              <a:t>total=0, correct=0, accuracy=0</a:t>
            </a:r>
            <a:r>
              <a:rPr lang="en-US" sz="900" noProof="1">
                <a:solidFill>
                  <a:srgbClr val="1E2422"/>
                </a:solidFill>
                <a:latin typeface="MiSans" charset="-122"/>
                <a:ea typeface="MiSans" charset="-122"/>
              </a:rPr>
              <a:t>，不抛除 0 异常 → 实际一致</a:t>
            </a:r>
            <a:endParaRPr lang="en-US" sz="900" noProof="1"/>
          </a:p>
          <a:p>
            <a:pPr>
              <a:lnSpc>
                <a:spcPct val="150000"/>
              </a:lnSpc>
            </a:pPr>
            <a:r>
              <a:rPr lang="en-US" sz="900" noProof="1">
                <a:solidFill>
                  <a:srgbClr val="5F6B66"/>
                </a:solidFill>
                <a:latin typeface="MiSans" charset="-122"/>
                <a:ea typeface="MiSans" charset="-122"/>
              </a:rPr>
              <a:t>思路：答题记录列表长度可以为 0，必须验证除 0 防护这一边界行为</a:t>
            </a:r>
            <a:endParaRPr lang="en-US" sz="900" noProof="1"/>
          </a:p>
        </p:txBody>
      </p:sp>
      <p:sp>
        <p:nvSpPr>
          <p:cNvPr id="7" name="c1-rule"/>
          <p:cNvSpPr/>
          <p:nvPr/>
        </p:nvSpPr>
        <p:spPr>
          <a:xfrm>
            <a:off x="609600" y="2057400"/>
            <a:ext cx="7924800" cy="9525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8" name="c2-tag"/>
          <p:cNvSpPr txBox="1"/>
          <p:nvPr/>
        </p:nvSpPr>
        <p:spPr>
          <a:xfrm>
            <a:off x="609600" y="2209800"/>
            <a:ext cx="66675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975" b="1" noProof="1">
                <a:solidFill>
                  <a:srgbClr val="2F5D50"/>
                </a:solidFill>
                <a:latin typeface="MiSans" charset="-122"/>
                <a:ea typeface="MiSans" charset="-122"/>
              </a:rPr>
              <a:t>用例 ②　</a:t>
            </a:r>
            <a:r>
              <a:rPr lang="en-US" sz="865" b="1" noProof="1">
                <a:solidFill>
                  <a:srgbClr val="C4661F"/>
                </a:solidFill>
                <a:latin typeface="JetBrains Mono" panose="02000009000000000000"/>
                <a:ea typeface="JetBrains Mono" panose="02000009000000000000"/>
              </a:rPr>
              <a:t>check_content("请帮我出一套关于赌博危害的题目")</a:t>
            </a:r>
            <a:endParaRPr lang="en-US" sz="975" noProof="1"/>
          </a:p>
        </p:txBody>
      </p:sp>
      <p:sp>
        <p:nvSpPr>
          <p:cNvPr id="9" name="c2-body"/>
          <p:cNvSpPr txBox="1"/>
          <p:nvPr/>
        </p:nvSpPr>
        <p:spPr>
          <a:xfrm>
            <a:off x="609600" y="2457450"/>
            <a:ext cx="79248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p>
            <a:pPr>
              <a:lnSpc>
                <a:spcPct val="150000"/>
              </a:lnSpc>
            </a:pPr>
            <a:r>
              <a:rPr lang="en-US" sz="900" noProof="1">
                <a:solidFill>
                  <a:srgbClr val="1E2422"/>
                </a:solidFill>
                <a:latin typeface="MiSans" charset="-122"/>
                <a:ea typeface="MiSans" charset="-122"/>
              </a:rPr>
              <a:t>输入含敏感词的非法文本 → 预期返回 </a:t>
            </a:r>
            <a:r>
              <a:rPr lang="en-US" sz="790" noProof="1">
                <a:solidFill>
                  <a:srgbClr val="1E2422"/>
                </a:solidFill>
                <a:latin typeface="JetBrains Mono" panose="02000009000000000000"/>
                <a:ea typeface="JetBrains Mono" panose="02000009000000000000"/>
              </a:rPr>
              <a:t>False</a:t>
            </a:r>
            <a:r>
              <a:rPr lang="en-US" sz="900" noProof="1">
                <a:solidFill>
                  <a:srgbClr val="1E2422"/>
                </a:solidFill>
                <a:latin typeface="MiSans" charset="-122"/>
                <a:ea typeface="MiSans" charset="-122"/>
              </a:rPr>
              <a:t> 并拒绝请求 → 实际一致</a:t>
            </a:r>
            <a:endParaRPr lang="en-US" sz="900" noProof="1"/>
          </a:p>
          <a:p>
            <a:pPr>
              <a:lnSpc>
                <a:spcPct val="150000"/>
              </a:lnSpc>
            </a:pPr>
            <a:r>
              <a:rPr lang="en-US" sz="900" noProof="1">
                <a:solidFill>
                  <a:srgbClr val="5F6B66"/>
                </a:solidFill>
                <a:latin typeface="MiSans" charset="-122"/>
                <a:ea typeface="MiSans" charset="-122"/>
              </a:rPr>
              <a:t>思路：敏感词属非法等价类，验证内容必须被正确识别并拦截，属规则判定覆盖</a:t>
            </a:r>
            <a:endParaRPr lang="en-US" sz="900" noProof="1"/>
          </a:p>
        </p:txBody>
      </p:sp>
      <p:sp>
        <p:nvSpPr>
          <p:cNvPr id="10" name="c2-rule"/>
          <p:cNvSpPr/>
          <p:nvPr/>
        </p:nvSpPr>
        <p:spPr>
          <a:xfrm>
            <a:off x="609600" y="2990850"/>
            <a:ext cx="7924800" cy="9525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11" name="c3-tag"/>
          <p:cNvSpPr txBox="1"/>
          <p:nvPr/>
        </p:nvSpPr>
        <p:spPr>
          <a:xfrm>
            <a:off x="609600" y="3143250"/>
            <a:ext cx="66675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975" b="1" noProof="1">
                <a:solidFill>
                  <a:srgbClr val="2F5D50"/>
                </a:solidFill>
                <a:latin typeface="MiSans" charset="-122"/>
                <a:ea typeface="MiSans" charset="-122"/>
              </a:rPr>
              <a:t>用例 ③　</a:t>
            </a:r>
            <a:r>
              <a:rPr lang="en-US" sz="865" b="1" noProof="1">
                <a:solidFill>
                  <a:srgbClr val="C4661F"/>
                </a:solidFill>
                <a:latin typeface="JetBrains Mono" panose="02000009000000000000"/>
                <a:ea typeface="JetBrains Mono" panose="02000009000000000000"/>
              </a:rPr>
              <a:t>QuizGenerateRequest</a:t>
            </a:r>
            <a:r>
              <a:rPr lang="en-US" sz="975" b="1" noProof="1">
                <a:solidFill>
                  <a:srgbClr val="2F5D50"/>
                </a:solidFill>
                <a:latin typeface="MiSans" charset="-122"/>
                <a:ea typeface="MiSans" charset="-122"/>
              </a:rPr>
              <a:t>　—— 超 2000 字符输入</a:t>
            </a:r>
            <a:endParaRPr lang="en-US" sz="975" noProof="1"/>
          </a:p>
        </p:txBody>
      </p:sp>
      <p:sp>
        <p:nvSpPr>
          <p:cNvPr id="12" name="c3-body"/>
          <p:cNvSpPr txBox="1"/>
          <p:nvPr/>
        </p:nvSpPr>
        <p:spPr>
          <a:xfrm>
            <a:off x="609600" y="3390900"/>
            <a:ext cx="79248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p>
            <a:pPr>
              <a:lnSpc>
                <a:spcPct val="150000"/>
              </a:lnSpc>
            </a:pPr>
            <a:r>
              <a:rPr lang="en-US" sz="900" noProof="1">
                <a:solidFill>
                  <a:srgbClr val="1E2422"/>
                </a:solidFill>
                <a:latin typeface="MiSans" charset="-122"/>
                <a:ea typeface="MiSans" charset="-122"/>
              </a:rPr>
              <a:t>输入随机超长文段（&gt;2000 字符）→ 预期请求校验失败 → 实际一致</a:t>
            </a:r>
            <a:endParaRPr lang="en-US" sz="900" noProof="1"/>
          </a:p>
          <a:p>
            <a:pPr>
              <a:lnSpc>
                <a:spcPct val="150000"/>
              </a:lnSpc>
            </a:pPr>
            <a:r>
              <a:rPr lang="en-US" sz="900" noProof="1">
                <a:solidFill>
                  <a:srgbClr val="5F6B66"/>
                </a:solidFill>
                <a:latin typeface="MiSans" charset="-122"/>
                <a:ea typeface="MiSans" charset="-122"/>
              </a:rPr>
              <a:t>思路：超长输入直接影响大模型调用成本、响应性能与系统稳定性，必须设输入上限</a:t>
            </a:r>
            <a:endParaRPr lang="en-US" sz="900" noProof="1"/>
          </a:p>
        </p:txBody>
      </p:sp>
      <p:sp>
        <p:nvSpPr>
          <p:cNvPr id="13" name="c3-rule"/>
          <p:cNvSpPr/>
          <p:nvPr/>
        </p:nvSpPr>
        <p:spPr>
          <a:xfrm>
            <a:off x="609600" y="3924300"/>
            <a:ext cx="7924800" cy="9525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14" name="take-icon"/>
          <p:cNvSpPr/>
          <p:nvPr/>
        </p:nvSpPr>
        <p:spPr>
          <a:xfrm>
            <a:off x="609600" y="41529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2F5D50"/>
          </a:solidFill>
          <a:ln>
            <a:noFill/>
          </a:ln>
        </p:spPr>
      </p:sp>
      <p:sp>
        <p:nvSpPr>
          <p:cNvPr id="15" name="takeaway"/>
          <p:cNvSpPr txBox="1"/>
          <p:nvPr/>
        </p:nvSpPr>
        <p:spPr>
          <a:xfrm>
            <a:off x="914400" y="4095750"/>
            <a:ext cx="76200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p>
            <a:pPr>
              <a:lnSpc>
                <a:spcPct val="155000"/>
              </a:lnSpc>
            </a:pPr>
            <a:r>
              <a:rPr lang="en-US" sz="940" b="1" noProof="1">
                <a:solidFill>
                  <a:srgbClr val="1E2422"/>
                </a:solidFill>
                <a:latin typeface="MiSans" charset="-122"/>
                <a:ea typeface="MiSans" charset="-122"/>
              </a:rPr>
              <a:t>共同特征：</a:t>
            </a:r>
            <a:r>
              <a:rPr lang="en-US" sz="940" noProof="1">
                <a:solidFill>
                  <a:srgbClr val="1E2422"/>
                </a:solidFill>
                <a:latin typeface="MiSans" charset="-122"/>
                <a:ea typeface="MiSans" charset="-122"/>
              </a:rPr>
              <a:t>三条用例都直接指向"钱"和"稳定性"——除 0 崩溃、违规内容放行、超长输入烧费用，任何一条漏测都会在线上放大。</a:t>
            </a:r>
            <a:endParaRPr lang="en-US" sz="940" noProof="1"/>
          </a:p>
        </p:txBody>
      </p:sp>
      <p:sp>
        <p:nvSpPr>
          <p:cNvPr id="16" name="footer-hair"/>
          <p:cNvSpPr/>
          <p:nvPr/>
        </p:nvSpPr>
        <p:spPr>
          <a:xfrm>
            <a:off x="609600" y="4762500"/>
            <a:ext cx="7924800" cy="9525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09600" y="419100"/>
            <a:ext cx="38100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900" b="1" kern="0" spc="300" noProof="1">
                <a:solidFill>
                  <a:srgbClr val="C4661F"/>
                </a:solidFill>
                <a:latin typeface="MiSans" charset="-122"/>
                <a:ea typeface="MiSans" charset="-122"/>
              </a:rPr>
              <a:t>04 · 自动化测试设计与实施</a:t>
            </a:r>
            <a:endParaRPr lang="en-US" sz="9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792480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1875" b="1" noProof="1">
                <a:solidFill>
                  <a:srgbClr val="1E2422"/>
                </a:solidFill>
                <a:latin typeface="MiSans" charset="-122"/>
                <a:ea typeface="MiSans" charset="-122"/>
              </a:rPr>
              <a:t>pytest 三层测试结构：层间解耦，外部依赖全部隔离</a:t>
            </a:r>
            <a:endParaRPr lang="en-US" sz="1875" noProof="1"/>
          </a:p>
        </p:txBody>
      </p:sp>
      <p:sp>
        <p:nvSpPr>
          <p:cNvPr id="4" name="title-rule"/>
          <p:cNvSpPr/>
          <p:nvPr/>
        </p:nvSpPr>
        <p:spPr>
          <a:xfrm>
            <a:off x="609600" y="1066800"/>
            <a:ext cx="7924800" cy="9525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5" name="layer3"/>
          <p:cNvSpPr/>
          <p:nvPr/>
        </p:nvSpPr>
        <p:spPr>
          <a:xfrm>
            <a:off x="609600" y="1295400"/>
            <a:ext cx="5715000" cy="704850"/>
          </a:xfrm>
          <a:prstGeom prst="rect">
            <a:avLst/>
          </a:prstGeom>
          <a:solidFill>
            <a:srgbClr val="F0EDE4"/>
          </a:solidFill>
          <a:ln w="12700">
            <a:solidFill>
              <a:srgbClr val="2F5D50"/>
            </a:solidFill>
          </a:ln>
        </p:spPr>
      </p:sp>
      <p:sp>
        <p:nvSpPr>
          <p:cNvPr id="6" name="layer3-text"/>
          <p:cNvSpPr txBox="1"/>
          <p:nvPr/>
        </p:nvSpPr>
        <p:spPr>
          <a:xfrm>
            <a:off x="800100" y="1409700"/>
            <a:ext cx="53340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p>
            <a:pPr>
              <a:lnSpc>
                <a:spcPct val="150000"/>
              </a:lnSpc>
            </a:pPr>
            <a:r>
              <a:rPr lang="en-US" sz="940" b="1" noProof="1">
                <a:solidFill>
                  <a:srgbClr val="1E2422"/>
                </a:solidFill>
                <a:latin typeface="MiSans" charset="-122"/>
                <a:ea typeface="MiSans" charset="-122"/>
              </a:rPr>
              <a:t>API 层测试</a:t>
            </a:r>
            <a:r>
              <a:rPr lang="en-US" sz="940" noProof="1">
                <a:solidFill>
                  <a:srgbClr val="1E2422"/>
                </a:solidFill>
                <a:latin typeface="MiSans" charset="-122"/>
                <a:ea typeface="MiSans" charset="-122"/>
              </a:rPr>
              <a:t>　</a:t>
            </a:r>
            <a:r>
              <a:rPr lang="en-US" sz="825" noProof="1">
                <a:solidFill>
                  <a:srgbClr val="5F6B66"/>
                </a:solidFill>
                <a:latin typeface="MiSans" charset="-122"/>
                <a:ea typeface="MiSans" charset="-122"/>
              </a:rPr>
              <a:t>FastAPI 路由与参数校验</a:t>
            </a:r>
            <a:endParaRPr lang="en-US" sz="940" noProof="1"/>
          </a:p>
          <a:p>
            <a:pPr>
              <a:lnSpc>
                <a:spcPct val="150000"/>
              </a:lnSpc>
            </a:pPr>
            <a:r>
              <a:rPr lang="en-US" sz="825" noProof="1">
                <a:solidFill>
                  <a:srgbClr val="5F6B66"/>
                </a:solidFill>
                <a:latin typeface="MiSans" charset="-122"/>
                <a:ea typeface="MiSans" charset="-122"/>
              </a:rPr>
              <a:t>不真实启动服务，直接校验请求体规则（如超长输入拒绝）</a:t>
            </a:r>
            <a:endParaRPr lang="en-US" sz="940" noProof="1"/>
          </a:p>
        </p:txBody>
      </p:sp>
      <p:sp>
        <p:nvSpPr>
          <p:cNvPr id="7" name="arrow1"/>
          <p:cNvSpPr/>
          <p:nvPr/>
        </p:nvSpPr>
        <p:spPr>
          <a:xfrm>
            <a:off x="3390900" y="2019300"/>
            <a:ext cx="152400" cy="190500"/>
          </a:xfrm>
          <a:custGeom>
            <a:avLst/>
            <a:gdLst/>
            <a:ahLst/>
            <a:cxnLst/>
            <a:rect l="l" t="t" r="r" b="b"/>
            <a:pathLst>
              <a:path w="16" h="20">
                <a:moveTo>
                  <a:pt x="8" y="0"/>
                </a:moveTo>
                <a:lnTo>
                  <a:pt x="8" y="20"/>
                </a:lnTo>
              </a:path>
            </a:pathLst>
          </a:custGeom>
          <a:noFill/>
          <a:ln w="19050" cap="rnd">
            <a:solidFill>
              <a:srgbClr val="5F6B66"/>
            </a:solidFill>
            <a:round/>
            <a:tailEnd type="arrow"/>
          </a:ln>
        </p:spPr>
      </p:sp>
      <p:sp>
        <p:nvSpPr>
          <p:cNvPr id="8" name="layer2"/>
          <p:cNvSpPr/>
          <p:nvPr/>
        </p:nvSpPr>
        <p:spPr>
          <a:xfrm>
            <a:off x="609600" y="2228850"/>
            <a:ext cx="5715000" cy="704850"/>
          </a:xfrm>
          <a:prstGeom prst="rect">
            <a:avLst/>
          </a:prstGeom>
          <a:solidFill>
            <a:srgbClr val="F0EDE4"/>
          </a:solidFill>
          <a:ln w="12700">
            <a:solidFill>
              <a:srgbClr val="2F5D50"/>
            </a:solidFill>
          </a:ln>
        </p:spPr>
      </p:sp>
      <p:sp>
        <p:nvSpPr>
          <p:cNvPr id="9" name="layer2-text"/>
          <p:cNvSpPr txBox="1"/>
          <p:nvPr/>
        </p:nvSpPr>
        <p:spPr>
          <a:xfrm>
            <a:off x="800100" y="2343150"/>
            <a:ext cx="53340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p>
            <a:pPr>
              <a:lnSpc>
                <a:spcPct val="150000"/>
              </a:lnSpc>
            </a:pPr>
            <a:r>
              <a:rPr lang="en-US" sz="940" b="1" noProof="1">
                <a:solidFill>
                  <a:srgbClr val="1E2422"/>
                </a:solidFill>
                <a:latin typeface="MiSans" charset="-122"/>
                <a:ea typeface="MiSans" charset="-122"/>
              </a:rPr>
              <a:t>服务层测试</a:t>
            </a:r>
            <a:r>
              <a:rPr lang="en-US" sz="940" noProof="1">
                <a:solidFill>
                  <a:srgbClr val="1E2422"/>
                </a:solidFill>
                <a:latin typeface="MiSans" charset="-122"/>
                <a:ea typeface="MiSans" charset="-122"/>
              </a:rPr>
              <a:t>　</a:t>
            </a:r>
            <a:r>
              <a:rPr lang="en-US" sz="825" noProof="1">
                <a:solidFill>
                  <a:srgbClr val="5F6B66"/>
                </a:solidFill>
                <a:latin typeface="MiSans" charset="-122"/>
                <a:ea typeface="MiSans" charset="-122"/>
              </a:rPr>
              <a:t>Mock / Stub 隔离依赖</a:t>
            </a:r>
            <a:endParaRPr lang="en-US" sz="940" noProof="1"/>
          </a:p>
          <a:p>
            <a:pPr>
              <a:lnSpc>
                <a:spcPct val="150000"/>
              </a:lnSpc>
            </a:pPr>
            <a:r>
              <a:rPr lang="en-US" sz="825" noProof="1">
                <a:solidFill>
                  <a:srgbClr val="5F6B66"/>
                </a:solidFill>
                <a:latin typeface="MiSans" charset="-122"/>
                <a:ea typeface="MiSans" charset="-122"/>
              </a:rPr>
              <a:t>MySQL 连接池、微信登录、大模型与云存储全部用 AsyncMock 替代</a:t>
            </a:r>
            <a:endParaRPr lang="en-US" sz="940" noProof="1"/>
          </a:p>
        </p:txBody>
      </p:sp>
      <p:sp>
        <p:nvSpPr>
          <p:cNvPr id="10" name="arrow2"/>
          <p:cNvSpPr/>
          <p:nvPr/>
        </p:nvSpPr>
        <p:spPr>
          <a:xfrm>
            <a:off x="3390900" y="2952750"/>
            <a:ext cx="152400" cy="190500"/>
          </a:xfrm>
          <a:custGeom>
            <a:avLst/>
            <a:gdLst/>
            <a:ahLst/>
            <a:cxnLst/>
            <a:rect l="l" t="t" r="r" b="b"/>
            <a:pathLst>
              <a:path w="16" h="20">
                <a:moveTo>
                  <a:pt x="8" y="0"/>
                </a:moveTo>
                <a:lnTo>
                  <a:pt x="8" y="20"/>
                </a:lnTo>
              </a:path>
            </a:pathLst>
          </a:custGeom>
          <a:noFill/>
          <a:ln w="19050" cap="rnd">
            <a:solidFill>
              <a:srgbClr val="5F6B66"/>
            </a:solidFill>
            <a:round/>
            <a:tailEnd type="arrow"/>
          </a:ln>
        </p:spPr>
      </p:sp>
      <p:sp>
        <p:nvSpPr>
          <p:cNvPr id="11" name="layer1"/>
          <p:cNvSpPr/>
          <p:nvPr/>
        </p:nvSpPr>
        <p:spPr>
          <a:xfrm>
            <a:off x="609600" y="3162300"/>
            <a:ext cx="5715000" cy="704850"/>
          </a:xfrm>
          <a:prstGeom prst="rect">
            <a:avLst/>
          </a:prstGeom>
          <a:solidFill>
            <a:srgbClr val="F0EDE4"/>
          </a:solidFill>
          <a:ln w="12700">
            <a:solidFill>
              <a:srgbClr val="2F5D50"/>
            </a:solidFill>
          </a:ln>
        </p:spPr>
      </p:sp>
      <p:sp>
        <p:nvSpPr>
          <p:cNvPr id="12" name="layer1-text"/>
          <p:cNvSpPr txBox="1"/>
          <p:nvPr/>
        </p:nvSpPr>
        <p:spPr>
          <a:xfrm>
            <a:off x="800100" y="3276600"/>
            <a:ext cx="53340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p>
            <a:pPr>
              <a:lnSpc>
                <a:spcPct val="150000"/>
              </a:lnSpc>
            </a:pPr>
            <a:r>
              <a:rPr lang="en-US" sz="940" b="1" noProof="1">
                <a:solidFill>
                  <a:srgbClr val="1E2422"/>
                </a:solidFill>
                <a:latin typeface="MiSans" charset="-122"/>
                <a:ea typeface="MiSans" charset="-122"/>
              </a:rPr>
              <a:t>单元测试</a:t>
            </a:r>
            <a:r>
              <a:rPr lang="en-US" sz="940" noProof="1">
                <a:solidFill>
                  <a:srgbClr val="1E2422"/>
                </a:solidFill>
                <a:latin typeface="MiSans" charset="-122"/>
                <a:ea typeface="MiSans" charset="-122"/>
              </a:rPr>
              <a:t>　</a:t>
            </a:r>
            <a:r>
              <a:rPr lang="en-US" sz="825" noProof="1">
                <a:solidFill>
                  <a:srgbClr val="5F6B66"/>
                </a:solidFill>
                <a:latin typeface="MiSans" charset="-122"/>
                <a:ea typeface="MiSans" charset="-122"/>
              </a:rPr>
              <a:t>直接调用函数并断言返回值</a:t>
            </a:r>
            <a:endParaRPr lang="en-US" sz="940" noProof="1"/>
          </a:p>
          <a:p>
            <a:pPr>
              <a:lnSpc>
                <a:spcPct val="150000"/>
              </a:lnSpc>
            </a:pPr>
            <a:r>
              <a:rPr lang="en-US" sz="825" noProof="1">
                <a:solidFill>
                  <a:srgbClr val="5F6B66"/>
                </a:solidFill>
                <a:latin typeface="MiSans" charset="-122"/>
                <a:ea typeface="MiSans" charset="-122"/>
              </a:rPr>
              <a:t>parametrize 数据驱动，覆盖全对 / 全错 / 空记录等等价类与边界值</a:t>
            </a:r>
            <a:endParaRPr lang="en-US" sz="940" noProof="1"/>
          </a:p>
        </p:txBody>
      </p:sp>
      <p:sp>
        <p:nvSpPr>
          <p:cNvPr id="13" name="base"/>
          <p:cNvSpPr/>
          <p:nvPr/>
        </p:nvSpPr>
        <p:spPr>
          <a:xfrm>
            <a:off x="609600" y="4038600"/>
            <a:ext cx="5715000" cy="381000"/>
          </a:xfrm>
          <a:prstGeom prst="rect">
            <a:avLst/>
          </a:prstGeom>
          <a:solidFill>
            <a:srgbClr val="2F5D50"/>
          </a:solidFill>
          <a:ln>
            <a:noFill/>
          </a:ln>
        </p:spPr>
      </p:sp>
      <p:sp>
        <p:nvSpPr>
          <p:cNvPr id="14" name="base-text"/>
          <p:cNvSpPr txBox="1"/>
          <p:nvPr/>
        </p:nvSpPr>
        <p:spPr>
          <a:xfrm>
            <a:off x="800100" y="4038600"/>
            <a:ext cx="5334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p>
            <a:pPr algn="l">
              <a:lnSpc>
                <a:spcPct val="120000"/>
              </a:lnSpc>
            </a:pPr>
            <a:r>
              <a:rPr lang="en-US" sz="94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测试基座　pytest · pytest-asyncio · 参数化 + 夹具</a:t>
            </a:r>
            <a:endParaRPr lang="en-US" sz="940" noProof="1"/>
          </a:p>
        </p:txBody>
      </p:sp>
      <p:sp>
        <p:nvSpPr>
          <p:cNvPr id="15" name="right-head"/>
          <p:cNvSpPr txBox="1"/>
          <p:nvPr/>
        </p:nvSpPr>
        <p:spPr>
          <a:xfrm>
            <a:off x="6667500" y="1295400"/>
            <a:ext cx="18669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975" b="1" noProof="1">
                <a:solidFill>
                  <a:srgbClr val="2F5D50"/>
                </a:solidFill>
                <a:latin typeface="MiSans" charset="-122"/>
                <a:ea typeface="MiSans" charset="-122"/>
              </a:rPr>
              <a:t>隔离原则</a:t>
            </a:r>
            <a:endParaRPr lang="en-US" sz="975" noProof="1"/>
          </a:p>
        </p:txBody>
      </p:sp>
      <p:sp>
        <p:nvSpPr>
          <p:cNvPr id="16" name="right-body"/>
          <p:cNvSpPr txBox="1"/>
          <p:nvPr/>
        </p:nvSpPr>
        <p:spPr>
          <a:xfrm>
            <a:off x="6667500" y="1543050"/>
            <a:ext cx="1866900" cy="171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p>
            <a:pPr>
              <a:lnSpc>
                <a:spcPct val="155000"/>
              </a:lnSpc>
            </a:pPr>
            <a:r>
              <a:rPr lang="en-US" sz="865" noProof="1">
                <a:solidFill>
                  <a:srgbClr val="1E2422"/>
                </a:solidFill>
                <a:latin typeface="MiSans" charset="-122"/>
                <a:ea typeface="MiSans" charset="-122"/>
              </a:rPr>
              <a:t>· 单元测试不连真实数据库</a:t>
            </a:r>
            <a:endParaRPr lang="en-US" sz="865" noProof="1"/>
          </a:p>
          <a:p>
            <a:pPr>
              <a:lnSpc>
                <a:spcPct val="155000"/>
              </a:lnSpc>
              <a:spcBef>
                <a:spcPts val="500"/>
              </a:spcBef>
            </a:pPr>
            <a:r>
              <a:rPr lang="en-US" sz="865" noProof="1">
                <a:solidFill>
                  <a:srgbClr val="1E2422"/>
                </a:solidFill>
                <a:latin typeface="MiSans" charset="-122"/>
                <a:ea typeface="MiSans" charset="-122"/>
              </a:rPr>
              <a:t>· API 测试不启动真实服务</a:t>
            </a:r>
            <a:endParaRPr lang="en-US" sz="865" noProof="1"/>
          </a:p>
          <a:p>
            <a:pPr>
              <a:lnSpc>
                <a:spcPct val="155000"/>
              </a:lnSpc>
              <a:spcBef>
                <a:spcPts val="500"/>
              </a:spcBef>
            </a:pPr>
            <a:r>
              <a:rPr lang="en-US" sz="865" noProof="1">
                <a:solidFill>
                  <a:srgbClr val="1E2422"/>
                </a:solidFill>
                <a:latin typeface="MiSans" charset="-122"/>
                <a:ea typeface="MiSans" charset="-122"/>
              </a:rPr>
              <a:t>· 服务层不调用真实大模型 / 云存储</a:t>
            </a:r>
            <a:endParaRPr lang="en-US" sz="865" noProof="1"/>
          </a:p>
          <a:p>
            <a:pPr>
              <a:lnSpc>
                <a:spcPct val="155000"/>
              </a:lnSpc>
              <a:spcBef>
                <a:spcPts val="500"/>
              </a:spcBef>
            </a:pPr>
            <a:r>
              <a:rPr lang="en-US" sz="865" noProof="1">
                <a:solidFill>
                  <a:srgbClr val="1E2422"/>
                </a:solidFill>
                <a:latin typeface="MiSans" charset="-122"/>
                <a:ea typeface="MiSans" charset="-122"/>
              </a:rPr>
              <a:t>· 不消耗任何第三方资源，结果可重复</a:t>
            </a:r>
            <a:endParaRPr lang="en-US" sz="865" noProof="1"/>
          </a:p>
        </p:txBody>
      </p:sp>
      <p:sp>
        <p:nvSpPr>
          <p:cNvPr id="17" name="right-rule"/>
          <p:cNvSpPr/>
          <p:nvPr/>
        </p:nvSpPr>
        <p:spPr>
          <a:xfrm>
            <a:off x="6667500" y="3352800"/>
            <a:ext cx="1866900" cy="9525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18" name="right-num"/>
          <p:cNvSpPr txBox="1"/>
          <p:nvPr/>
        </p:nvSpPr>
        <p:spPr>
          <a:xfrm>
            <a:off x="6667500" y="3505200"/>
            <a:ext cx="18669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2550" b="1" noProof="1">
                <a:solidFill>
                  <a:srgbClr val="C4661F"/>
                </a:solidFill>
                <a:latin typeface="MiSans" charset="-122"/>
                <a:ea typeface="MiSans" charset="-122"/>
              </a:rPr>
              <a:t>≥80%</a:t>
            </a:r>
            <a:endParaRPr lang="en-US" sz="2550" noProof="1"/>
          </a:p>
        </p:txBody>
      </p:sp>
      <p:sp>
        <p:nvSpPr>
          <p:cNvPr id="19" name="right-num-label"/>
          <p:cNvSpPr txBox="1"/>
          <p:nvPr/>
        </p:nvSpPr>
        <p:spPr>
          <a:xfrm>
            <a:off x="6667500" y="3962400"/>
            <a:ext cx="18669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p>
            <a:pPr>
              <a:lnSpc>
                <a:spcPct val="145000"/>
              </a:lnSpc>
            </a:pPr>
            <a:r>
              <a:rPr lang="en-US" sz="790" noProof="1">
                <a:solidFill>
                  <a:srgbClr val="5F6B66"/>
                </a:solidFill>
                <a:latin typeface="MiSans" charset="-122"/>
                <a:ea typeface="MiSans" charset="-122"/>
              </a:rPr>
              <a:t>用例自动化占比（≥24 / 30 条），执行稳定、可重复回归</a:t>
            </a:r>
            <a:endParaRPr lang="en-US" sz="790" noProof="1"/>
          </a:p>
        </p:txBody>
      </p:sp>
      <p:sp>
        <p:nvSpPr>
          <p:cNvPr id="20" name="footer-hair"/>
          <p:cNvSpPr/>
          <p:nvPr/>
        </p:nvSpPr>
        <p:spPr>
          <a:xfrm>
            <a:off x="609600" y="4762500"/>
            <a:ext cx="7924800" cy="9525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09600" y="419100"/>
            <a:ext cx="38100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900" b="1" kern="0" spc="300" noProof="1">
                <a:solidFill>
                  <a:srgbClr val="C4661F"/>
                </a:solidFill>
                <a:latin typeface="MiSans" charset="-122"/>
                <a:ea typeface="MiSans" charset="-122"/>
              </a:rPr>
              <a:t>04 · 自动化测试设计与实施</a:t>
            </a:r>
            <a:endParaRPr lang="en-US" sz="9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792480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1875" b="1" noProof="1">
                <a:solidFill>
                  <a:srgbClr val="1E2422"/>
                </a:solidFill>
                <a:latin typeface="MiSans" charset="-122"/>
                <a:ea typeface="MiSans" charset="-122"/>
              </a:rPr>
              <a:t>参数化覆盖等价类，Mock 隔离数据库与第三方服务</a:t>
            </a:r>
            <a:endParaRPr lang="en-US" sz="1875" noProof="1"/>
          </a:p>
        </p:txBody>
      </p:sp>
      <p:sp>
        <p:nvSpPr>
          <p:cNvPr id="4" name="title-rule"/>
          <p:cNvSpPr/>
          <p:nvPr/>
        </p:nvSpPr>
        <p:spPr>
          <a:xfrm>
            <a:off x="609600" y="1066800"/>
            <a:ext cx="7924800" cy="9525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5" name="code1-label"/>
          <p:cNvSpPr txBox="1"/>
          <p:nvPr/>
        </p:nvSpPr>
        <p:spPr>
          <a:xfrm>
            <a:off x="609600" y="1238250"/>
            <a:ext cx="38100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865" b="1" noProof="1">
                <a:solidFill>
                  <a:srgbClr val="2F5D50"/>
                </a:solidFill>
                <a:latin typeface="MiSans" charset="-122"/>
                <a:ea typeface="MiSans" charset="-122"/>
              </a:rPr>
              <a:t>参数化驱动 —— 一组断言覆盖全部等价类</a:t>
            </a:r>
            <a:endParaRPr lang="en-US" sz="865" noProof="1"/>
          </a:p>
        </p:txBody>
      </p:sp>
      <p:sp>
        <p:nvSpPr>
          <p:cNvPr id="6" name="code1-panel"/>
          <p:cNvSpPr/>
          <p:nvPr/>
        </p:nvSpPr>
        <p:spPr>
          <a:xfrm>
            <a:off x="609600" y="1447800"/>
            <a:ext cx="3810000" cy="2667000"/>
          </a:xfrm>
          <a:prstGeom prst="rect">
            <a:avLst/>
          </a:prstGeom>
          <a:solidFill>
            <a:srgbClr val="F0EDE4"/>
          </a:solidFill>
          <a:ln w="12700">
            <a:solidFill>
              <a:srgbClr val="D9D2C4"/>
            </a:solidFill>
          </a:ln>
        </p:spPr>
      </p:sp>
      <p:sp>
        <p:nvSpPr>
          <p:cNvPr id="7" name="code1"/>
          <p:cNvSpPr txBox="1"/>
          <p:nvPr/>
        </p:nvSpPr>
        <p:spPr>
          <a:xfrm>
            <a:off x="742950" y="1562100"/>
            <a:ext cx="3543300" cy="2457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p>
            <a:pPr>
              <a:lnSpc>
                <a:spcPct val="145000"/>
              </a:lnSpc>
            </a:pPr>
            <a:r>
              <a:rPr lang="en-US" sz="675" noProof="1">
                <a:solidFill>
                  <a:srgbClr val="C4661F"/>
                </a:solidFill>
                <a:latin typeface="JetBrains Mono" panose="02000009000000000000"/>
                <a:ea typeface="JetBrains Mono" panose="02000009000000000000"/>
              </a:rPr>
              <a:t>@pytest.mark.parametrize</a:t>
            </a:r>
            <a:r>
              <a:rPr lang="en-US" sz="675" noProof="1">
                <a:solidFill>
                  <a:srgbClr val="1E2422"/>
                </a:solidFill>
                <a:latin typeface="JetBrains Mono" panose="02000009000000000000"/>
                <a:ea typeface="JetBrains Mono" panose="02000009000000000000"/>
              </a:rPr>
              <a:t>(</a:t>
            </a:r>
            <a:endParaRPr lang="en-US" sz="675" noProof="1"/>
          </a:p>
          <a:p>
            <a:pPr>
              <a:lnSpc>
                <a:spcPct val="145000"/>
              </a:lnSpc>
            </a:pPr>
            <a:r>
              <a:rPr lang="en-US" sz="675" noProof="1">
                <a:solidFill>
                  <a:srgbClr val="1E2422"/>
                </a:solidFill>
                <a:latin typeface="JetBrains Mono" panose="02000009000000000000"/>
                <a:ea typeface="JetBrains Mono" panose="02000009000000000000"/>
              </a:rPr>
              <a:t>    "records, expected",</a:t>
            </a:r>
            <a:endParaRPr lang="en-US" sz="675" noProof="1"/>
          </a:p>
          <a:p>
            <a:pPr>
              <a:lnSpc>
                <a:spcPct val="145000"/>
              </a:lnSpc>
            </a:pPr>
            <a:r>
              <a:rPr lang="en-US" sz="675" noProof="1">
                <a:solidFill>
                  <a:srgbClr val="1E2422"/>
                </a:solidFill>
                <a:latin typeface="JetBrains Mono" panose="02000009000000000000"/>
                <a:ea typeface="JetBrains Mono" panose="02000009000000000000"/>
              </a:rPr>
              <a:t>    [</a:t>
            </a:r>
            <a:endParaRPr lang="en-US" sz="675" noProof="1"/>
          </a:p>
          <a:p>
            <a:pPr>
              <a:lnSpc>
                <a:spcPct val="145000"/>
              </a:lnSpc>
            </a:pPr>
            <a:r>
              <a:rPr lang="en-US" sz="675" noProof="1">
                <a:solidFill>
                  <a:srgbClr val="1E2422"/>
                </a:solidFill>
                <a:latin typeface="JetBrains Mono" panose="02000009000000000000"/>
                <a:ea typeface="JetBrains Mono" panose="02000009000000000000"/>
              </a:rPr>
              <a:t>      ([make_record("q1", True, 1000)],</a:t>
            </a:r>
            <a:endParaRPr lang="en-US" sz="675" noProof="1"/>
          </a:p>
          <a:p>
            <a:pPr>
              <a:lnSpc>
                <a:spcPct val="145000"/>
              </a:lnSpc>
            </a:pPr>
            <a:r>
              <a:rPr lang="en-US" sz="675" noProof="1">
                <a:solidFill>
                  <a:srgbClr val="1E2422"/>
                </a:solidFill>
                <a:latin typeface="JetBrains Mono" panose="02000009000000000000"/>
                <a:ea typeface="JetBrains Mono" panose="02000009000000000000"/>
              </a:rPr>
              <a:t>       {"total":1,"correct":1,"wrong":0,"accuracy":100,</a:t>
            </a:r>
            <a:endParaRPr lang="en-US" sz="675" noProof="1"/>
          </a:p>
          <a:p>
            <a:pPr>
              <a:lnSpc>
                <a:spcPct val="145000"/>
              </a:lnSpc>
            </a:pPr>
            <a:r>
              <a:rPr lang="en-US" sz="675" noProof="1">
                <a:solidFill>
                  <a:srgbClr val="1E2422"/>
                </a:solidFill>
                <a:latin typeface="JetBrains Mono" panose="02000009000000000000"/>
                <a:ea typeface="JetBrains Mono" panose="02000009000000000000"/>
              </a:rPr>
              <a:t>        "avg_duration_ms":1000}),</a:t>
            </a:r>
            <a:endParaRPr lang="en-US" sz="675" noProof="1"/>
          </a:p>
          <a:p>
            <a:pPr>
              <a:lnSpc>
                <a:spcPct val="145000"/>
              </a:lnSpc>
            </a:pPr>
            <a:r>
              <a:rPr lang="en-US" sz="675" noProof="1">
                <a:solidFill>
                  <a:srgbClr val="1E2422"/>
                </a:solidFill>
                <a:latin typeface="JetBrains Mono" panose="02000009000000000000"/>
                <a:ea typeface="JetBrains Mono" panose="02000009000000000000"/>
              </a:rPr>
              <a:t>      ([make_record("q1", False, 2000)],</a:t>
            </a:r>
            <a:endParaRPr lang="en-US" sz="675" noProof="1"/>
          </a:p>
          <a:p>
            <a:pPr>
              <a:lnSpc>
                <a:spcPct val="145000"/>
              </a:lnSpc>
            </a:pPr>
            <a:r>
              <a:rPr lang="en-US" sz="675" noProof="1">
                <a:solidFill>
                  <a:srgbClr val="1E2422"/>
                </a:solidFill>
                <a:latin typeface="JetBrains Mono" panose="02000009000000000000"/>
                <a:ea typeface="JetBrains Mono" panose="02000009000000000000"/>
              </a:rPr>
              <a:t>       {"total":1,"correct":0,"wrong":1,"accuracy":0,</a:t>
            </a:r>
            <a:endParaRPr lang="en-US" sz="675" noProof="1"/>
          </a:p>
          <a:p>
            <a:pPr>
              <a:lnSpc>
                <a:spcPct val="145000"/>
              </a:lnSpc>
            </a:pPr>
            <a:r>
              <a:rPr lang="en-US" sz="675" noProof="1">
                <a:solidFill>
                  <a:srgbClr val="1E2422"/>
                </a:solidFill>
                <a:latin typeface="JetBrains Mono" panose="02000009000000000000"/>
                <a:ea typeface="JetBrains Mono" panose="02000009000000000000"/>
              </a:rPr>
              <a:t>        "avg_duration_ms":2000}),</a:t>
            </a:r>
            <a:endParaRPr lang="en-US" sz="675" noProof="1"/>
          </a:p>
          <a:p>
            <a:pPr>
              <a:lnSpc>
                <a:spcPct val="145000"/>
              </a:lnSpc>
            </a:pPr>
            <a:r>
              <a:rPr lang="en-US" sz="675" noProof="1">
                <a:solidFill>
                  <a:srgbClr val="1E2422"/>
                </a:solidFill>
                <a:latin typeface="JetBrains Mono" panose="02000009000000000000"/>
                <a:ea typeface="JetBrains Mono" panose="02000009000000000000"/>
              </a:rPr>
              <a:t>      ([],  </a:t>
            </a:r>
            <a:r>
              <a:rPr lang="en-US" sz="675" noProof="1">
                <a:solidFill>
                  <a:srgbClr val="5F6B66"/>
                </a:solidFill>
                <a:latin typeface="JetBrains Mono" panose="02000009000000000000"/>
                <a:ea typeface="JetBrains Mono" panose="02000009000000000000"/>
              </a:rPr>
              <a:t># 空记录边界：验证除 0 防护</a:t>
            </a:r>
            <a:endParaRPr lang="en-US" sz="675" noProof="1"/>
          </a:p>
          <a:p>
            <a:pPr>
              <a:lnSpc>
                <a:spcPct val="145000"/>
              </a:lnSpc>
            </a:pPr>
            <a:r>
              <a:rPr lang="en-US" sz="675" noProof="1">
                <a:solidFill>
                  <a:srgbClr val="1E2422"/>
                </a:solidFill>
                <a:latin typeface="JetBrains Mono" panose="02000009000000000000"/>
                <a:ea typeface="JetBrains Mono" panose="02000009000000000000"/>
              </a:rPr>
              <a:t>       {"total":0,"correct":0,"wrong":0,"accuracy":0,</a:t>
            </a:r>
            <a:endParaRPr lang="en-US" sz="675" noProof="1"/>
          </a:p>
          <a:p>
            <a:pPr>
              <a:lnSpc>
                <a:spcPct val="145000"/>
              </a:lnSpc>
            </a:pPr>
            <a:r>
              <a:rPr lang="en-US" sz="675" noProof="1">
                <a:solidFill>
                  <a:srgbClr val="1E2422"/>
                </a:solidFill>
                <a:latin typeface="JetBrains Mono" panose="02000009000000000000"/>
                <a:ea typeface="JetBrains Mono" panose="02000009000000000000"/>
              </a:rPr>
              <a:t>        "avg_duration_ms":0}),</a:t>
            </a:r>
            <a:endParaRPr lang="en-US" sz="675" noProof="1"/>
          </a:p>
          <a:p>
            <a:pPr>
              <a:lnSpc>
                <a:spcPct val="145000"/>
              </a:lnSpc>
            </a:pPr>
            <a:r>
              <a:rPr lang="en-US" sz="675" noProof="1">
                <a:solidFill>
                  <a:srgbClr val="1E2422"/>
                </a:solidFill>
                <a:latin typeface="JetBrains Mono" panose="02000009000000000000"/>
                <a:ea typeface="JetBrains Mono" panose="02000009000000000000"/>
              </a:rPr>
              <a:t>    ],  ids=["all-correct","all-wrong","empty"])</a:t>
            </a:r>
            <a:endParaRPr lang="en-US" sz="675" noProof="1"/>
          </a:p>
          <a:p>
            <a:pPr>
              <a:lnSpc>
                <a:spcPct val="145000"/>
              </a:lnSpc>
            </a:pPr>
            <a:r>
              <a:rPr lang="en-US" sz="675" noProof="1">
                <a:solidFill>
                  <a:srgbClr val="1E2422"/>
                </a:solidFill>
                <a:latin typeface="JetBrains Mono" panose="02000009000000000000"/>
                <a:ea typeface="JetBrains Mono" panose="02000009000000000000"/>
              </a:rPr>
              <a:t>def test_parametrized(records, expected):</a:t>
            </a:r>
            <a:endParaRPr lang="en-US" sz="675" noProof="1"/>
          </a:p>
          <a:p>
            <a:pPr>
              <a:lnSpc>
                <a:spcPct val="145000"/>
              </a:lnSpc>
            </a:pPr>
            <a:r>
              <a:rPr lang="en-US" sz="675" noProof="1">
                <a:solidFill>
                  <a:srgbClr val="1E2422"/>
                </a:solidFill>
                <a:latin typeface="JetBrains Mono" panose="02000009000000000000"/>
                <a:ea typeface="JetBrains Mono" panose="02000009000000000000"/>
              </a:rPr>
              <a:t>    assert compute_score_summary(records) == expected</a:t>
            </a:r>
            <a:endParaRPr lang="en-US" sz="675" noProof="1"/>
          </a:p>
        </p:txBody>
      </p:sp>
      <p:sp>
        <p:nvSpPr>
          <p:cNvPr id="8" name="code2-label"/>
          <p:cNvSpPr txBox="1"/>
          <p:nvPr/>
        </p:nvSpPr>
        <p:spPr>
          <a:xfrm>
            <a:off x="4724400" y="1238250"/>
            <a:ext cx="38100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865" b="1" noProof="1">
                <a:solidFill>
                  <a:srgbClr val="2F5D50"/>
                </a:solidFill>
                <a:latin typeface="MiSans" charset="-122"/>
                <a:ea typeface="MiSans" charset="-122"/>
              </a:rPr>
              <a:t>Mock 隔离 —— 异步连接池全部替身</a:t>
            </a:r>
            <a:endParaRPr lang="en-US" sz="865" noProof="1"/>
          </a:p>
        </p:txBody>
      </p:sp>
      <p:sp>
        <p:nvSpPr>
          <p:cNvPr id="9" name="code2-panel"/>
          <p:cNvSpPr/>
          <p:nvPr/>
        </p:nvSpPr>
        <p:spPr>
          <a:xfrm>
            <a:off x="4724400" y="1447800"/>
            <a:ext cx="3810000" cy="2667000"/>
          </a:xfrm>
          <a:prstGeom prst="rect">
            <a:avLst/>
          </a:prstGeom>
          <a:solidFill>
            <a:srgbClr val="F0EDE4"/>
          </a:solidFill>
          <a:ln w="12700">
            <a:solidFill>
              <a:srgbClr val="D9D2C4"/>
            </a:solidFill>
          </a:ln>
        </p:spPr>
      </p:sp>
      <p:sp>
        <p:nvSpPr>
          <p:cNvPr id="10" name="code2"/>
          <p:cNvSpPr txBox="1"/>
          <p:nvPr/>
        </p:nvSpPr>
        <p:spPr>
          <a:xfrm>
            <a:off x="4857750" y="1562100"/>
            <a:ext cx="3543300" cy="2457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p>
            <a:pPr>
              <a:lnSpc>
                <a:spcPct val="145000"/>
              </a:lnSpc>
            </a:pPr>
            <a:r>
              <a:rPr lang="en-US" sz="675" noProof="1">
                <a:solidFill>
                  <a:srgbClr val="1E2422"/>
                </a:solidFill>
                <a:latin typeface="JetBrains Mono" panose="02000009000000000000"/>
                <a:ea typeface="JetBrains Mono" panose="02000009000000000000"/>
              </a:rPr>
              <a:t>def _make_pool(fetchone=None, fetchall=None):</a:t>
            </a:r>
            <a:endParaRPr lang="en-US" sz="675" noProof="1"/>
          </a:p>
          <a:p>
            <a:pPr>
              <a:lnSpc>
                <a:spcPct val="145000"/>
              </a:lnSpc>
            </a:pPr>
            <a:r>
              <a:rPr lang="en-US" sz="675" noProof="1">
                <a:solidFill>
                  <a:srgbClr val="1E2422"/>
                </a:solidFill>
                <a:latin typeface="JetBrains Mono" panose="02000009000000000000"/>
                <a:ea typeface="JetBrains Mono" panose="02000009000000000000"/>
              </a:rPr>
              <a:t>    cursor = </a:t>
            </a:r>
            <a:r>
              <a:rPr lang="en-US" sz="675" noProof="1">
                <a:solidFill>
                  <a:srgbClr val="C4661F"/>
                </a:solidFill>
                <a:latin typeface="JetBrains Mono" panose="02000009000000000000"/>
                <a:ea typeface="JetBrains Mono" panose="02000009000000000000"/>
              </a:rPr>
              <a:t>AsyncMock</a:t>
            </a:r>
            <a:r>
              <a:rPr lang="en-US" sz="675" noProof="1">
                <a:solidFill>
                  <a:srgbClr val="1E2422"/>
                </a:solidFill>
                <a:latin typeface="JetBrains Mono" panose="02000009000000000000"/>
                <a:ea typeface="JetBrains Mono" panose="02000009000000000000"/>
              </a:rPr>
              <a:t>()</a:t>
            </a:r>
            <a:endParaRPr lang="en-US" sz="675" noProof="1"/>
          </a:p>
          <a:p>
            <a:pPr>
              <a:lnSpc>
                <a:spcPct val="145000"/>
              </a:lnSpc>
            </a:pPr>
            <a:r>
              <a:rPr lang="en-US" sz="675" noProof="1">
                <a:solidFill>
                  <a:srgbClr val="1E2422"/>
                </a:solidFill>
                <a:latin typeface="JetBrains Mono" panose="02000009000000000000"/>
                <a:ea typeface="JetBrains Mono" panose="02000009000000000000"/>
              </a:rPr>
              <a:t>    cursor.fetchone = AsyncMock(</a:t>
            </a:r>
            <a:endParaRPr lang="en-US" sz="675" noProof="1"/>
          </a:p>
          <a:p>
            <a:pPr>
              <a:lnSpc>
                <a:spcPct val="145000"/>
              </a:lnSpc>
            </a:pPr>
            <a:r>
              <a:rPr lang="en-US" sz="675" noProof="1">
                <a:solidFill>
                  <a:srgbClr val="1E2422"/>
                </a:solidFill>
                <a:latin typeface="JetBrains Mono" panose="02000009000000000000"/>
                <a:ea typeface="JetBrains Mono" panose="02000009000000000000"/>
              </a:rPr>
              <a:t>        return_value=fetchone)</a:t>
            </a:r>
            <a:endParaRPr lang="en-US" sz="675" noProof="1"/>
          </a:p>
          <a:p>
            <a:pPr>
              <a:lnSpc>
                <a:spcPct val="145000"/>
              </a:lnSpc>
            </a:pPr>
            <a:r>
              <a:rPr lang="en-US" sz="675" noProof="1">
                <a:solidFill>
                  <a:srgbClr val="1E2422"/>
                </a:solidFill>
                <a:latin typeface="JetBrains Mono" panose="02000009000000000000"/>
                <a:ea typeface="JetBrains Mono" panose="02000009000000000000"/>
              </a:rPr>
              <a:t>    cursor.fetchall = AsyncMock(</a:t>
            </a:r>
            <a:endParaRPr lang="en-US" sz="675" noProof="1"/>
          </a:p>
          <a:p>
            <a:pPr>
              <a:lnSpc>
                <a:spcPct val="145000"/>
              </a:lnSpc>
            </a:pPr>
            <a:r>
              <a:rPr lang="en-US" sz="675" noProof="1">
                <a:solidFill>
                  <a:srgbClr val="1E2422"/>
                </a:solidFill>
                <a:latin typeface="JetBrains Mono" panose="02000009000000000000"/>
                <a:ea typeface="JetBrains Mono" panose="02000009000000000000"/>
              </a:rPr>
              <a:t>        return_value=fetchall or [])</a:t>
            </a:r>
            <a:endParaRPr lang="en-US" sz="675" noProof="1"/>
          </a:p>
          <a:p>
            <a:pPr>
              <a:lnSpc>
                <a:spcPct val="145000"/>
              </a:lnSpc>
            </a:pPr>
            <a:r>
              <a:rPr lang="en-US" sz="675" noProof="1">
                <a:solidFill>
                  <a:srgbClr val="1E2422"/>
                </a:solidFill>
                <a:latin typeface="JetBrains Mono" panose="02000009000000000000"/>
                <a:ea typeface="JetBrains Mono" panose="02000009000000000000"/>
              </a:rPr>
              <a:t>    conn = MagicMock()</a:t>
            </a:r>
            <a:endParaRPr lang="en-US" sz="675" noProof="1"/>
          </a:p>
          <a:p>
            <a:pPr>
              <a:lnSpc>
                <a:spcPct val="145000"/>
              </a:lnSpc>
            </a:pPr>
            <a:r>
              <a:rPr lang="en-US" sz="675" noProof="1">
                <a:solidFill>
                  <a:srgbClr val="1E2422"/>
                </a:solidFill>
                <a:latin typeface="JetBrains Mono" panose="02000009000000000000"/>
                <a:ea typeface="JetBrains Mono" panose="02000009000000000000"/>
              </a:rPr>
              <a:t>    conn.cursor.return_value.</a:t>
            </a:r>
            <a:endParaRPr lang="en-US" sz="675" noProof="1"/>
          </a:p>
          <a:p>
            <a:pPr>
              <a:lnSpc>
                <a:spcPct val="145000"/>
              </a:lnSpc>
            </a:pPr>
            <a:r>
              <a:rPr lang="en-US" sz="675" noProof="1">
                <a:solidFill>
                  <a:srgbClr val="1E2422"/>
                </a:solidFill>
                <a:latin typeface="JetBrains Mono" panose="02000009000000000000"/>
                <a:ea typeface="JetBrains Mono" panose="02000009000000000000"/>
              </a:rPr>
              <a:t>        __aenter__.return_value = cursor</a:t>
            </a:r>
            <a:endParaRPr lang="en-US" sz="675" noProof="1"/>
          </a:p>
          <a:p>
            <a:pPr>
              <a:lnSpc>
                <a:spcPct val="145000"/>
              </a:lnSpc>
            </a:pPr>
            <a:r>
              <a:rPr lang="en-US" sz="675" noProof="1">
                <a:solidFill>
                  <a:srgbClr val="1E2422"/>
                </a:solidFill>
                <a:latin typeface="JetBrains Mono" panose="02000009000000000000"/>
                <a:ea typeface="JetBrains Mono" panose="02000009000000000000"/>
              </a:rPr>
              <a:t>    pool = MagicMock()</a:t>
            </a:r>
            <a:endParaRPr lang="en-US" sz="675" noProof="1"/>
          </a:p>
          <a:p>
            <a:pPr>
              <a:lnSpc>
                <a:spcPct val="145000"/>
              </a:lnSpc>
            </a:pPr>
            <a:r>
              <a:rPr lang="en-US" sz="675" noProof="1">
                <a:solidFill>
                  <a:srgbClr val="1E2422"/>
                </a:solidFill>
                <a:latin typeface="JetBrains Mono" panose="02000009000000000000"/>
                <a:ea typeface="JetBrains Mono" panose="02000009000000000000"/>
              </a:rPr>
              <a:t>    pool.acquire.return_value.</a:t>
            </a:r>
            <a:endParaRPr lang="en-US" sz="675" noProof="1"/>
          </a:p>
          <a:p>
            <a:pPr>
              <a:lnSpc>
                <a:spcPct val="145000"/>
              </a:lnSpc>
            </a:pPr>
            <a:r>
              <a:rPr lang="en-US" sz="675" noProof="1">
                <a:solidFill>
                  <a:srgbClr val="1E2422"/>
                </a:solidFill>
                <a:latin typeface="JetBrains Mono" panose="02000009000000000000"/>
                <a:ea typeface="JetBrains Mono" panose="02000009000000000000"/>
              </a:rPr>
              <a:t>        __aenter__.return_value = conn</a:t>
            </a:r>
            <a:endParaRPr lang="en-US" sz="675" noProof="1"/>
          </a:p>
          <a:p>
            <a:pPr>
              <a:lnSpc>
                <a:spcPct val="145000"/>
              </a:lnSpc>
            </a:pPr>
            <a:r>
              <a:rPr lang="en-US" sz="675" noProof="1">
                <a:solidFill>
                  <a:srgbClr val="1E2422"/>
                </a:solidFill>
                <a:latin typeface="JetBrains Mono" panose="02000009000000000000"/>
                <a:ea typeface="JetBrains Mono" panose="02000009000000000000"/>
              </a:rPr>
              <a:t>    return pool, cursor</a:t>
            </a:r>
            <a:endParaRPr lang="en-US" sz="675" noProof="1"/>
          </a:p>
          <a:p>
            <a:pPr>
              <a:lnSpc>
                <a:spcPct val="145000"/>
              </a:lnSpc>
            </a:pPr>
            <a:r>
              <a:rPr lang="en-US" sz="675" noProof="1">
                <a:solidFill>
                  <a:srgbClr val="1E2422"/>
                </a:solidFill>
                <a:latin typeface="JetBrains Mono" panose="02000009000000000000"/>
                <a:ea typeface="JetBrains Mono" panose="02000009000000000000"/>
              </a:rPr>
              <a:t> </a:t>
            </a:r>
            <a:endParaRPr lang="en-US" sz="675" noProof="1"/>
          </a:p>
          <a:p>
            <a:pPr>
              <a:lnSpc>
                <a:spcPct val="145000"/>
              </a:lnSpc>
            </a:pPr>
            <a:r>
              <a:rPr lang="en-US" sz="675" noProof="1">
                <a:solidFill>
                  <a:srgbClr val="5F6B66"/>
                </a:solidFill>
                <a:latin typeface="JetBrains Mono" panose="02000009000000000000"/>
                <a:ea typeface="JetBrains Mono" panose="02000009000000000000"/>
              </a:rPr>
              <a:t># fetchone 返回 None → 模拟"文档不存在"</a:t>
            </a:r>
            <a:endParaRPr lang="en-US" sz="675" noProof="1"/>
          </a:p>
          <a:p>
            <a:pPr>
              <a:lnSpc>
                <a:spcPct val="145000"/>
              </a:lnSpc>
            </a:pPr>
            <a:r>
              <a:rPr lang="en-US" sz="675" noProof="1">
                <a:solidFill>
                  <a:srgbClr val="5F6B66"/>
                </a:solidFill>
                <a:latin typeface="JetBrains Mono" panose="02000009000000000000"/>
                <a:ea typeface="JetBrains Mono" panose="02000009000000000000"/>
              </a:rPr>
              <a:t># 全程不触碰真实 MySQL 与网络</a:t>
            </a:r>
            <a:endParaRPr lang="en-US" sz="675" noProof="1"/>
          </a:p>
        </p:txBody>
      </p:sp>
      <p:sp>
        <p:nvSpPr>
          <p:cNvPr id="12" name="principle"/>
          <p:cNvSpPr txBox="1"/>
          <p:nvPr/>
        </p:nvSpPr>
        <p:spPr>
          <a:xfrm>
            <a:off x="895350" y="4267200"/>
            <a:ext cx="76390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p>
            <a:pPr>
              <a:lnSpc>
                <a:spcPct val="150000"/>
              </a:lnSpc>
            </a:pPr>
            <a:r>
              <a:rPr lang="en-US" sz="900" b="1" noProof="1">
                <a:solidFill>
                  <a:srgbClr val="1E2422"/>
                </a:solidFill>
                <a:latin typeface="MiSans" charset="-122"/>
                <a:ea typeface="MiSans" charset="-122"/>
              </a:rPr>
              <a:t>实施要点：</a:t>
            </a:r>
            <a:r>
              <a:rPr lang="en-US" sz="900" noProof="1">
                <a:solidFill>
                  <a:srgbClr val="1E2422"/>
                </a:solidFill>
                <a:latin typeface="MiSans" charset="-122"/>
                <a:ea typeface="MiSans" charset="-122"/>
              </a:rPr>
              <a:t>不连真实数据库、不启动真实服务、不调用真实大模型 —— 测试稳定、秒级执行、不消耗任何第三方资源。</a:t>
            </a:r>
            <a:endParaRPr lang="en-US" sz="900" noProof="1"/>
          </a:p>
        </p:txBody>
      </p:sp>
      <p:sp>
        <p:nvSpPr>
          <p:cNvPr id="13" name="footer-hair"/>
          <p:cNvSpPr/>
          <p:nvPr/>
        </p:nvSpPr>
        <p:spPr>
          <a:xfrm>
            <a:off x="609600" y="4762500"/>
            <a:ext cx="7924800" cy="9525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09600" y="419100"/>
            <a:ext cx="38100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900" b="1" kern="0" spc="300" noProof="1">
                <a:solidFill>
                  <a:srgbClr val="C4661F"/>
                </a:solidFill>
                <a:latin typeface="MiSans" charset="-122"/>
                <a:ea typeface="MiSans" charset="-122"/>
              </a:rPr>
              <a:t>05 · 关键缺陷</a:t>
            </a:r>
            <a:endParaRPr lang="en-US" sz="9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742950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1875" b="1" noProof="1">
                <a:solidFill>
                  <a:srgbClr val="1E2422"/>
                </a:solidFill>
                <a:latin typeface="MiSans" charset="-122"/>
                <a:ea typeface="MiSans" charset="-122"/>
              </a:rPr>
              <a:t>缺陷 003｜出题接口无上限：脚本可无限烧掉大模型费用</a:t>
            </a:r>
            <a:endParaRPr lang="en-US" sz="1875" noProof="1"/>
          </a:p>
        </p:txBody>
      </p:sp>
      <p:sp>
        <p:nvSpPr>
          <p:cNvPr id="4" name="sev-tag"/>
          <p:cNvSpPr/>
          <p:nvPr/>
        </p:nvSpPr>
        <p:spPr>
          <a:xfrm>
            <a:off x="7810500" y="685800"/>
            <a:ext cx="723900" cy="247650"/>
          </a:xfrm>
          <a:prstGeom prst="rect">
            <a:avLst/>
          </a:prstGeom>
          <a:solidFill>
            <a:srgbClr val="A63D2A"/>
          </a:solidFill>
          <a:ln>
            <a:noFill/>
          </a:ln>
        </p:spPr>
      </p:sp>
      <p:sp>
        <p:nvSpPr>
          <p:cNvPr id="5" name="sev-tag-text"/>
          <p:cNvSpPr txBox="1"/>
          <p:nvPr/>
        </p:nvSpPr>
        <p:spPr>
          <a:xfrm>
            <a:off x="7810500" y="685800"/>
            <a:ext cx="72390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p>
            <a:pPr algn="ctr">
              <a:lnSpc>
                <a:spcPct val="120000"/>
              </a:lnSpc>
            </a:pPr>
            <a:r>
              <a:rPr lang="en-US" sz="9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高危</a:t>
            </a:r>
            <a:endParaRPr lang="en-US" sz="900" noProof="1"/>
          </a:p>
        </p:txBody>
      </p:sp>
      <p:sp>
        <p:nvSpPr>
          <p:cNvPr id="6" name="title-rule"/>
          <p:cNvSpPr/>
          <p:nvPr/>
        </p:nvSpPr>
        <p:spPr>
          <a:xfrm>
            <a:off x="609600" y="1066800"/>
            <a:ext cx="7924800" cy="9525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7" name="symptom-head"/>
          <p:cNvSpPr txBox="1"/>
          <p:nvPr/>
        </p:nvSpPr>
        <p:spPr>
          <a:xfrm>
            <a:off x="609600" y="1200150"/>
            <a:ext cx="1143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975" b="1" noProof="1">
                <a:solidFill>
                  <a:srgbClr val="A63D2A"/>
                </a:solidFill>
                <a:latin typeface="MiSans" charset="-122"/>
                <a:ea typeface="MiSans" charset="-122"/>
              </a:rPr>
              <a:t>现象</a:t>
            </a:r>
            <a:endParaRPr lang="en-US" sz="975" noProof="1"/>
          </a:p>
        </p:txBody>
      </p:sp>
      <p:sp>
        <p:nvSpPr>
          <p:cNvPr id="8" name="symptom"/>
          <p:cNvSpPr txBox="1"/>
          <p:nvPr/>
        </p:nvSpPr>
        <p:spPr>
          <a:xfrm>
            <a:off x="1333500" y="1200150"/>
            <a:ext cx="72009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p>
            <a:pPr>
              <a:lnSpc>
                <a:spcPct val="150000"/>
              </a:lnSpc>
            </a:pPr>
            <a:r>
              <a:rPr lang="en-US" sz="900" noProof="1">
                <a:solidFill>
                  <a:srgbClr val="1E2422"/>
                </a:solidFill>
                <a:latin typeface="MiSans" charset="-122"/>
                <a:ea typeface="MiSans" charset="-122"/>
              </a:rPr>
              <a:t>任何人（无需登录）可写脚本无限循环调用 </a:t>
            </a:r>
            <a:r>
              <a:rPr lang="en-US" sz="790" noProof="1">
                <a:solidFill>
                  <a:srgbClr val="1E2422"/>
                </a:solidFill>
                <a:latin typeface="JetBrains Mono" panose="02000009000000000000"/>
                <a:ea typeface="JetBrains Mono" panose="02000009000000000000"/>
              </a:rPr>
              <a:t>/quiz/generate</a:t>
            </a:r>
            <a:r>
              <a:rPr lang="en-US" sz="900" noProof="1">
                <a:solidFill>
                  <a:srgbClr val="1E2422"/>
                </a:solidFill>
                <a:latin typeface="MiSans" charset="-122"/>
                <a:ea typeface="MiSans" charset="-122"/>
              </a:rPr>
              <a:t>，没有每日上限，账单可以无限增长。</a:t>
            </a:r>
            <a:endParaRPr lang="en-US" sz="900" noProof="1"/>
          </a:p>
        </p:txBody>
      </p:sp>
      <p:sp>
        <p:nvSpPr>
          <p:cNvPr id="9" name="flow-head"/>
          <p:cNvSpPr txBox="1"/>
          <p:nvPr/>
        </p:nvSpPr>
        <p:spPr>
          <a:xfrm>
            <a:off x="609600" y="1676400"/>
            <a:ext cx="28575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975" b="1" noProof="1">
                <a:solidFill>
                  <a:srgbClr val="2F5D50"/>
                </a:solidFill>
                <a:latin typeface="MiSans" charset="-122"/>
                <a:ea typeface="MiSans" charset="-122"/>
              </a:rPr>
              <a:t>修复方案：限额前置校验</a:t>
            </a:r>
            <a:endParaRPr lang="en-US" sz="975" noProof="1"/>
          </a:p>
        </p:txBody>
      </p:sp>
      <p:sp>
        <p:nvSpPr>
          <p:cNvPr id="10" name="flow-box1"/>
          <p:cNvSpPr/>
          <p:nvPr/>
        </p:nvSpPr>
        <p:spPr>
          <a:xfrm>
            <a:off x="609600" y="2209800"/>
            <a:ext cx="1600200" cy="533400"/>
          </a:xfrm>
          <a:prstGeom prst="rect">
            <a:avLst/>
          </a:prstGeom>
          <a:solidFill>
            <a:srgbClr val="F0EDE4"/>
          </a:solidFill>
          <a:ln w="12700">
            <a:solidFill>
              <a:srgbClr val="2F5D50"/>
            </a:solidFill>
          </a:ln>
        </p:spPr>
      </p:sp>
      <p:sp>
        <p:nvSpPr>
          <p:cNvPr id="11" name="flow-box1-text"/>
          <p:cNvSpPr txBox="1"/>
          <p:nvPr/>
        </p:nvSpPr>
        <p:spPr>
          <a:xfrm>
            <a:off x="685800" y="2209800"/>
            <a:ext cx="14478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p>
            <a:pPr algn="ctr">
              <a:lnSpc>
                <a:spcPct val="135000"/>
              </a:lnSpc>
            </a:pPr>
            <a:r>
              <a:rPr lang="en-US" sz="865" noProof="1">
                <a:solidFill>
                  <a:srgbClr val="1E2422"/>
                </a:solidFill>
                <a:latin typeface="MiSans" charset="-122"/>
                <a:ea typeface="MiSans" charset="-122"/>
              </a:rPr>
              <a:t>请求</a:t>
            </a:r>
            <a:endParaRPr lang="en-US" sz="865" noProof="1"/>
          </a:p>
          <a:p>
            <a:pPr algn="ctr">
              <a:lnSpc>
                <a:spcPct val="135000"/>
              </a:lnSpc>
            </a:pPr>
            <a:r>
              <a:rPr lang="en-US" sz="750" noProof="1">
                <a:solidFill>
                  <a:srgbClr val="1E2422"/>
                </a:solidFill>
                <a:latin typeface="JetBrains Mono" panose="02000009000000000000"/>
                <a:ea typeface="JetBrains Mono" panose="02000009000000000000"/>
              </a:rPr>
              <a:t>POST /quiz/generate</a:t>
            </a:r>
            <a:endParaRPr lang="en-US" sz="865" noProof="1"/>
          </a:p>
        </p:txBody>
      </p:sp>
      <p:sp>
        <p:nvSpPr>
          <p:cNvPr id="12" name="flow-arrow1"/>
          <p:cNvSpPr/>
          <p:nvPr/>
        </p:nvSpPr>
        <p:spPr>
          <a:xfrm>
            <a:off x="2286000" y="2419350"/>
            <a:ext cx="381000" cy="114300"/>
          </a:xfrm>
          <a:custGeom>
            <a:avLst/>
            <a:gdLst/>
            <a:ahLst/>
            <a:cxnLst/>
            <a:rect l="l" t="t" r="r" b="b"/>
            <a:pathLst>
              <a:path w="40" h="12">
                <a:moveTo>
                  <a:pt x="0" y="6"/>
                </a:moveTo>
                <a:lnTo>
                  <a:pt x="40" y="6"/>
                </a:lnTo>
              </a:path>
            </a:pathLst>
          </a:custGeom>
          <a:noFill/>
          <a:ln w="19050" cap="rnd">
            <a:solidFill>
              <a:srgbClr val="5F6B66"/>
            </a:solidFill>
            <a:round/>
            <a:tailEnd type="arrow"/>
          </a:ln>
        </p:spPr>
      </p:sp>
      <p:sp>
        <p:nvSpPr>
          <p:cNvPr id="13" name="flow-box2"/>
          <p:cNvSpPr/>
          <p:nvPr/>
        </p:nvSpPr>
        <p:spPr>
          <a:xfrm>
            <a:off x="2743200" y="2095500"/>
            <a:ext cx="2286000" cy="762000"/>
          </a:xfrm>
          <a:prstGeom prst="rect">
            <a:avLst/>
          </a:prstGeom>
          <a:solidFill>
            <a:srgbClr val="F0EDE4"/>
          </a:solidFill>
          <a:ln w="19050">
            <a:solidFill>
              <a:srgbClr val="C4661F"/>
            </a:solidFill>
          </a:ln>
        </p:spPr>
      </p:sp>
      <p:sp>
        <p:nvSpPr>
          <p:cNvPr id="14" name="flow-box2-text"/>
          <p:cNvSpPr txBox="1"/>
          <p:nvPr/>
        </p:nvSpPr>
        <p:spPr>
          <a:xfrm>
            <a:off x="2838450" y="2171700"/>
            <a:ext cx="20955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p>
            <a:pPr algn="ctr">
              <a:lnSpc>
                <a:spcPct val="140000"/>
              </a:lnSpc>
            </a:pPr>
            <a:r>
              <a:rPr lang="en-US" sz="865" b="1" noProof="1">
                <a:solidFill>
                  <a:srgbClr val="1E2422"/>
                </a:solidFill>
                <a:latin typeface="MiSans" charset="-122"/>
                <a:ea typeface="MiSans" charset="-122"/>
              </a:rPr>
              <a:t>新增前置校验依赖</a:t>
            </a:r>
            <a:endParaRPr lang="en-US" sz="865" noProof="1"/>
          </a:p>
          <a:p>
            <a:pPr algn="ctr">
              <a:lnSpc>
                <a:spcPct val="140000"/>
              </a:lnSpc>
            </a:pPr>
            <a:r>
              <a:rPr lang="en-US" sz="750" noProof="1">
                <a:solidFill>
                  <a:srgbClr val="5F6B66"/>
                </a:solidFill>
                <a:latin typeface="MiSans" charset="-122"/>
                <a:ea typeface="MiSans" charset="-122"/>
              </a:rPr>
              <a:t>统计 quiz_tasks 表当日 0 点起的 generate 任务数（游客按 request.client.host 计数）</a:t>
            </a:r>
            <a:endParaRPr lang="en-US" sz="865" noProof="1"/>
          </a:p>
        </p:txBody>
      </p:sp>
      <p:sp>
        <p:nvSpPr>
          <p:cNvPr id="15" name="flow-arrow2"/>
          <p:cNvSpPr/>
          <p:nvPr/>
        </p:nvSpPr>
        <p:spPr>
          <a:xfrm>
            <a:off x="5105400" y="1809750"/>
            <a:ext cx="419100" cy="666750"/>
          </a:xfrm>
          <a:custGeom>
            <a:avLst/>
            <a:gdLst/>
            <a:ahLst/>
            <a:cxnLst/>
            <a:rect l="l" t="t" r="r" b="b"/>
            <a:pathLst>
              <a:path w="44" h="70">
                <a:moveTo>
                  <a:pt x="0" y="64"/>
                </a:moveTo>
                <a:lnTo>
                  <a:pt x="40" y="64"/>
                </a:lnTo>
                <a:lnTo>
                  <a:pt x="40" y="6"/>
                </a:lnTo>
                <a:lnTo>
                  <a:pt x="44" y="6"/>
                </a:lnTo>
              </a:path>
            </a:pathLst>
          </a:custGeom>
          <a:noFill/>
          <a:ln w="19050">
            <a:solidFill>
              <a:srgbClr val="5F6B66"/>
            </a:solidFill>
            <a:tailEnd type="arrow"/>
          </a:ln>
        </p:spPr>
      </p:sp>
      <p:sp>
        <p:nvSpPr>
          <p:cNvPr id="16" name="flow-arrow3"/>
          <p:cNvSpPr/>
          <p:nvPr/>
        </p:nvSpPr>
        <p:spPr>
          <a:xfrm>
            <a:off x="5105400" y="2419350"/>
            <a:ext cx="419100" cy="762000"/>
          </a:xfrm>
          <a:custGeom>
            <a:avLst/>
            <a:gdLst/>
            <a:ahLst/>
            <a:cxnLst/>
            <a:rect l="l" t="t" r="r" b="b"/>
            <a:pathLst>
              <a:path w="44" h="80">
                <a:moveTo>
                  <a:pt x="0" y="6"/>
                </a:moveTo>
                <a:lnTo>
                  <a:pt x="40" y="6"/>
                </a:lnTo>
                <a:lnTo>
                  <a:pt x="40" y="74"/>
                </a:lnTo>
                <a:lnTo>
                  <a:pt x="44" y="74"/>
                </a:lnTo>
              </a:path>
            </a:pathLst>
          </a:custGeom>
          <a:noFill/>
          <a:ln w="19050">
            <a:solidFill>
              <a:srgbClr val="A63D2A"/>
            </a:solidFill>
            <a:tailEnd type="arrow"/>
          </a:ln>
        </p:spPr>
      </p:sp>
      <p:sp>
        <p:nvSpPr>
          <p:cNvPr id="17" name="flow-box3"/>
          <p:cNvSpPr/>
          <p:nvPr/>
        </p:nvSpPr>
        <p:spPr>
          <a:xfrm>
            <a:off x="5600700" y="1600200"/>
            <a:ext cx="2933700" cy="495300"/>
          </a:xfrm>
          <a:prstGeom prst="rect">
            <a:avLst/>
          </a:prstGeom>
          <a:solidFill>
            <a:srgbClr val="EAF0EC"/>
          </a:solidFill>
          <a:ln w="12700">
            <a:solidFill>
              <a:srgbClr val="2F5D50"/>
            </a:solidFill>
          </a:ln>
        </p:spPr>
      </p:sp>
      <p:sp>
        <p:nvSpPr>
          <p:cNvPr id="18" name="flow-box3-text"/>
          <p:cNvSpPr txBox="1"/>
          <p:nvPr/>
        </p:nvSpPr>
        <p:spPr>
          <a:xfrm>
            <a:off x="5695950" y="1600200"/>
            <a:ext cx="27432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p>
            <a:pPr algn="ctr">
              <a:lnSpc>
                <a:spcPct val="135000"/>
              </a:lnSpc>
            </a:pPr>
            <a:r>
              <a:rPr lang="en-US" sz="865" b="1" noProof="1">
                <a:solidFill>
                  <a:srgbClr val="1E2422"/>
                </a:solidFill>
                <a:latin typeface="MiSans" charset="-122"/>
                <a:ea typeface="MiSans" charset="-122"/>
              </a:rPr>
              <a:t>&lt; 50 次 → 放行</a:t>
            </a:r>
            <a:endParaRPr lang="en-US" sz="865" noProof="1"/>
          </a:p>
          <a:p>
            <a:pPr algn="ctr">
              <a:lnSpc>
                <a:spcPct val="135000"/>
              </a:lnSpc>
            </a:pPr>
            <a:r>
              <a:rPr lang="en-US" sz="750" noProof="1">
                <a:solidFill>
                  <a:srgbClr val="5F6B66"/>
                </a:solidFill>
                <a:latin typeface="MiSans" charset="-122"/>
                <a:ea typeface="MiSans" charset="-122"/>
              </a:rPr>
              <a:t>进入大模型 / 搜索调用，正常出题</a:t>
            </a:r>
            <a:endParaRPr lang="en-US" sz="865" noProof="1"/>
          </a:p>
        </p:txBody>
      </p:sp>
      <p:sp>
        <p:nvSpPr>
          <p:cNvPr id="19" name="flow-box4"/>
          <p:cNvSpPr/>
          <p:nvPr/>
        </p:nvSpPr>
        <p:spPr>
          <a:xfrm>
            <a:off x="5600700" y="2876550"/>
            <a:ext cx="2933700" cy="495300"/>
          </a:xfrm>
          <a:prstGeom prst="rect">
            <a:avLst/>
          </a:prstGeom>
          <a:solidFill>
            <a:srgbClr val="F4E8E2"/>
          </a:solidFill>
          <a:ln w="12700">
            <a:solidFill>
              <a:srgbClr val="A63D2A"/>
            </a:solidFill>
          </a:ln>
        </p:spPr>
      </p:sp>
      <p:sp>
        <p:nvSpPr>
          <p:cNvPr id="20" name="flow-box4-text"/>
          <p:cNvSpPr txBox="1"/>
          <p:nvPr/>
        </p:nvSpPr>
        <p:spPr>
          <a:xfrm>
            <a:off x="5695950" y="2876550"/>
            <a:ext cx="27432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p>
            <a:pPr algn="ctr">
              <a:lnSpc>
                <a:spcPct val="135000"/>
              </a:lnSpc>
            </a:pPr>
            <a:r>
              <a:rPr lang="en-US" sz="865" b="1" noProof="1">
                <a:solidFill>
                  <a:srgbClr val="1E2422"/>
                </a:solidFill>
                <a:latin typeface="MiSans" charset="-122"/>
                <a:ea typeface="MiSans" charset="-122"/>
              </a:rPr>
              <a:t>≥ 50 次 → 429 拦截</a:t>
            </a:r>
            <a:endParaRPr lang="en-US" sz="865" noProof="1"/>
          </a:p>
          <a:p>
            <a:pPr algn="ctr">
              <a:lnSpc>
                <a:spcPct val="135000"/>
              </a:lnSpc>
            </a:pPr>
            <a:r>
              <a:rPr lang="en-US" sz="750" noProof="1">
                <a:solidFill>
                  <a:srgbClr val="5F6B66"/>
                </a:solidFill>
                <a:latin typeface="MiSans" charset="-122"/>
                <a:ea typeface="MiSans" charset="-122"/>
              </a:rPr>
              <a:t>先于任何大模型调用，恶意请求零 API 费用</a:t>
            </a:r>
            <a:endParaRPr lang="en-US" sz="865" noProof="1"/>
          </a:p>
        </p:txBody>
      </p:sp>
      <p:sp>
        <p:nvSpPr>
          <p:cNvPr id="21" name="flow-note"/>
          <p:cNvSpPr txBox="1"/>
          <p:nvPr/>
        </p:nvSpPr>
        <p:spPr>
          <a:xfrm>
            <a:off x="5600700" y="2190750"/>
            <a:ext cx="29337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p>
            <a:pPr algn="ctr">
              <a:lnSpc>
                <a:spcPct val="120000"/>
              </a:lnSpc>
            </a:pPr>
            <a:r>
              <a:rPr lang="en-US" sz="750" noProof="1">
                <a:solidFill>
                  <a:srgbClr val="5F6B66"/>
                </a:solidFill>
                <a:latin typeface="JetBrains Mono" panose="02000009000000000000"/>
                <a:ea typeface="JetBrains Mono" panose="02000009000000000000"/>
              </a:rPr>
              <a:t>QUIZ_GEN_DAILY_LIMIT = 50（.env 可调）</a:t>
            </a:r>
            <a:endParaRPr lang="en-US" sz="750" noProof="1"/>
          </a:p>
        </p:txBody>
      </p:sp>
      <p:sp>
        <p:nvSpPr>
          <p:cNvPr id="22" name="fix-rule"/>
          <p:cNvSpPr/>
          <p:nvPr/>
        </p:nvSpPr>
        <p:spPr>
          <a:xfrm>
            <a:off x="609600" y="3657600"/>
            <a:ext cx="7924800" cy="9525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23" name="fix-head"/>
          <p:cNvSpPr txBox="1"/>
          <p:nvPr/>
        </p:nvSpPr>
        <p:spPr>
          <a:xfrm>
            <a:off x="609600" y="3790950"/>
            <a:ext cx="1143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975" b="1" noProof="1">
                <a:solidFill>
                  <a:srgbClr val="2F5D50"/>
                </a:solidFill>
                <a:latin typeface="MiSans" charset="-122"/>
                <a:ea typeface="MiSans" charset="-122"/>
              </a:rPr>
              <a:t>修复结果</a:t>
            </a:r>
            <a:endParaRPr lang="en-US" sz="975" noProof="1"/>
          </a:p>
        </p:txBody>
      </p:sp>
      <p:sp>
        <p:nvSpPr>
          <p:cNvPr id="24" name="fix-body"/>
          <p:cNvSpPr txBox="1"/>
          <p:nvPr/>
        </p:nvSpPr>
        <p:spPr>
          <a:xfrm>
            <a:off x="1333500" y="3790950"/>
            <a:ext cx="72009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p>
            <a:pPr>
              <a:lnSpc>
                <a:spcPct val="155000"/>
              </a:lnSpc>
            </a:pPr>
            <a:r>
              <a:rPr lang="en-US" sz="900" noProof="1">
                <a:solidFill>
                  <a:srgbClr val="1E2422"/>
                </a:solidFill>
                <a:latin typeface="MiSans" charset="-122"/>
                <a:ea typeface="MiSans" charset="-122"/>
              </a:rPr>
              <a:t>· </a:t>
            </a:r>
            <a:r>
              <a:rPr lang="en-US" sz="790" noProof="1">
                <a:solidFill>
                  <a:srgbClr val="1E2422"/>
                </a:solidFill>
                <a:latin typeface="JetBrains Mono" panose="02000009000000000000"/>
                <a:ea typeface="JetBrains Mono" panose="02000009000000000000"/>
              </a:rPr>
              <a:t>app/core/config.py</a:t>
            </a:r>
            <a:r>
              <a:rPr lang="en-US" sz="900" noProof="1">
                <a:solidFill>
                  <a:srgbClr val="1E2422"/>
                </a:solidFill>
                <a:latin typeface="MiSans" charset="-122"/>
                <a:ea typeface="MiSans" charset="-122"/>
              </a:rPr>
              <a:t> 新增配置项 QUIZ_GEN_DAILY_LIMIT（默认 50），.env 调整免改代码</a:t>
            </a:r>
            <a:endParaRPr lang="en-US" sz="900" noProof="1"/>
          </a:p>
          <a:p>
            <a:pPr>
              <a:lnSpc>
                <a:spcPct val="155000"/>
              </a:lnSpc>
            </a:pPr>
            <a:r>
              <a:rPr lang="en-US" sz="900" noProof="1">
                <a:solidFill>
                  <a:srgbClr val="1E2422"/>
                </a:solidFill>
                <a:latin typeface="MiSans" charset="-122"/>
                <a:ea typeface="MiSans" charset="-122"/>
              </a:rPr>
              <a:t>· 超限返回统一错误结构：</a:t>
            </a:r>
            <a:r>
              <a:rPr lang="en-US" sz="790" noProof="1">
                <a:solidFill>
                  <a:srgbClr val="1E2422"/>
                </a:solidFill>
                <a:latin typeface="JetBrains Mono" panose="02000009000000000000"/>
                <a:ea typeface="JetBrains Mono" panose="02000009000000000000"/>
              </a:rPr>
              <a:t>{"code": 429xx, "message": "今日出题次数已达上限"}</a:t>
            </a:r>
            <a:endParaRPr lang="en-US" sz="900" noProof="1"/>
          </a:p>
          <a:p>
            <a:pPr>
              <a:lnSpc>
                <a:spcPct val="155000"/>
              </a:lnSpc>
            </a:pPr>
            <a:r>
              <a:rPr lang="en-US" sz="900" noProof="1">
                <a:solidFill>
                  <a:srgbClr val="1E2422"/>
                </a:solidFill>
                <a:latin typeface="MiSans" charset="-122"/>
                <a:ea typeface="MiSans" charset="-122"/>
              </a:rPr>
              <a:t>· 属安全风险类缺陷，上线前必须修复 —— 已于 V1.2 修复并回归通过</a:t>
            </a:r>
            <a:endParaRPr lang="en-US" sz="900" noProof="1"/>
          </a:p>
        </p:txBody>
      </p:sp>
      <p:sp>
        <p:nvSpPr>
          <p:cNvPr id="25" name="footer-hair"/>
          <p:cNvSpPr/>
          <p:nvPr/>
        </p:nvSpPr>
        <p:spPr>
          <a:xfrm>
            <a:off x="609600" y="4762500"/>
            <a:ext cx="7924800" cy="9525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09600" y="419100"/>
            <a:ext cx="38100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900" b="1" kern="0" spc="300" noProof="1">
                <a:solidFill>
                  <a:srgbClr val="C4661F"/>
                </a:solidFill>
                <a:latin typeface="MiSans" charset="-122"/>
                <a:ea typeface="MiSans" charset="-122"/>
              </a:rPr>
              <a:t>06 · 典型踩坑</a:t>
            </a:r>
            <a:endParaRPr lang="en-US" sz="9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742950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1875" b="1" noProof="1">
                <a:solidFill>
                  <a:srgbClr val="1E2422"/>
                </a:solidFill>
                <a:latin typeface="MiSans" charset="-122"/>
                <a:ea typeface="MiSans" charset="-122"/>
              </a:rPr>
              <a:t>缺陷 001｜微信授权 401：一个故障背后的三个问题</a:t>
            </a:r>
            <a:endParaRPr lang="en-US" sz="1875" noProof="1"/>
          </a:p>
        </p:txBody>
      </p:sp>
      <p:sp>
        <p:nvSpPr>
          <p:cNvPr id="4" name="sev-tag"/>
          <p:cNvSpPr/>
          <p:nvPr/>
        </p:nvSpPr>
        <p:spPr>
          <a:xfrm>
            <a:off x="7810500" y="685800"/>
            <a:ext cx="723900" cy="247650"/>
          </a:xfrm>
          <a:prstGeom prst="rect">
            <a:avLst/>
          </a:prstGeom>
          <a:solidFill>
            <a:srgbClr val="A63D2A"/>
          </a:solidFill>
          <a:ln>
            <a:noFill/>
          </a:ln>
        </p:spPr>
      </p:sp>
      <p:sp>
        <p:nvSpPr>
          <p:cNvPr id="5" name="sev-tag-text"/>
          <p:cNvSpPr txBox="1"/>
          <p:nvPr/>
        </p:nvSpPr>
        <p:spPr>
          <a:xfrm>
            <a:off x="7810500" y="685800"/>
            <a:ext cx="72390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p>
            <a:pPr algn="ctr">
              <a:lnSpc>
                <a:spcPct val="120000"/>
              </a:lnSpc>
            </a:pPr>
            <a:r>
              <a:rPr lang="en-US" sz="9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高危</a:t>
            </a:r>
            <a:endParaRPr lang="en-US" sz="900" noProof="1"/>
          </a:p>
        </p:txBody>
      </p:sp>
      <p:sp>
        <p:nvSpPr>
          <p:cNvPr id="6" name="title-rule"/>
          <p:cNvSpPr/>
          <p:nvPr/>
        </p:nvSpPr>
        <p:spPr>
          <a:xfrm>
            <a:off x="609600" y="1066800"/>
            <a:ext cx="7924800" cy="9525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7" name="symptom-head"/>
          <p:cNvSpPr txBox="1"/>
          <p:nvPr/>
        </p:nvSpPr>
        <p:spPr>
          <a:xfrm>
            <a:off x="609600" y="1200150"/>
            <a:ext cx="1143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975" b="1" noProof="1">
                <a:solidFill>
                  <a:srgbClr val="A63D2A"/>
                </a:solidFill>
                <a:latin typeface="MiSans" charset="-122"/>
                <a:ea typeface="MiSans" charset="-122"/>
              </a:rPr>
              <a:t>现象</a:t>
            </a:r>
            <a:endParaRPr lang="en-US" sz="975" noProof="1"/>
          </a:p>
        </p:txBody>
      </p:sp>
      <p:sp>
        <p:nvSpPr>
          <p:cNvPr id="8" name="symptom"/>
          <p:cNvSpPr txBox="1"/>
          <p:nvPr/>
        </p:nvSpPr>
        <p:spPr>
          <a:xfrm>
            <a:off x="1333500" y="1200150"/>
            <a:ext cx="72009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p>
            <a:pPr>
              <a:lnSpc>
                <a:spcPct val="150000"/>
              </a:lnSpc>
            </a:pPr>
            <a:r>
              <a:rPr lang="en-US" sz="900" noProof="1">
                <a:solidFill>
                  <a:srgbClr val="1E2422"/>
                </a:solidFill>
                <a:latin typeface="MiSans" charset="-122"/>
                <a:ea typeface="MiSans" charset="-122"/>
              </a:rPr>
              <a:t>头像昵称授权无法保存：快捷填入弹窗不出现、接口报 401、昵称保存后不显示、真机上传失败且后端无 PUT 记录。</a:t>
            </a:r>
            <a:endParaRPr lang="en-US" sz="900" noProof="1"/>
          </a:p>
        </p:txBody>
      </p:sp>
      <p:sp>
        <p:nvSpPr>
          <p:cNvPr id="9" name="check-head"/>
          <p:cNvSpPr txBox="1"/>
          <p:nvPr/>
        </p:nvSpPr>
        <p:spPr>
          <a:xfrm>
            <a:off x="609600" y="1676400"/>
            <a:ext cx="28575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975" b="1" noProof="1">
                <a:solidFill>
                  <a:srgbClr val="2F5D50"/>
                </a:solidFill>
                <a:latin typeface="MiSans" charset="-122"/>
                <a:ea typeface="MiSans" charset="-122"/>
              </a:rPr>
              <a:t>排查路径：三层问题逐一浮出</a:t>
            </a:r>
            <a:endParaRPr lang="en-US" sz="975" noProof="1"/>
          </a:p>
        </p:txBody>
      </p:sp>
      <p:sp>
        <p:nvSpPr>
          <p:cNvPr id="10" name="step1-num"/>
          <p:cNvSpPr/>
          <p:nvPr/>
        </p:nvSpPr>
        <p:spPr>
          <a:xfrm>
            <a:off x="609600" y="1962150"/>
            <a:ext cx="247650" cy="247650"/>
          </a:xfrm>
          <a:prstGeom prst="ellipse">
            <a:avLst/>
          </a:prstGeom>
          <a:solidFill>
            <a:srgbClr val="2F5D50"/>
          </a:solidFill>
          <a:ln>
            <a:noFill/>
          </a:ln>
        </p:spPr>
      </p:sp>
      <p:sp>
        <p:nvSpPr>
          <p:cNvPr id="11" name="step1-numtext"/>
          <p:cNvSpPr txBox="1"/>
          <p:nvPr/>
        </p:nvSpPr>
        <p:spPr>
          <a:xfrm>
            <a:off x="609600" y="196215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p>
            <a:pPr algn="ctr">
              <a:lnSpc>
                <a:spcPct val="120000"/>
              </a:lnSpc>
            </a:pPr>
            <a:r>
              <a:rPr lang="en-US" sz="975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1</a:t>
            </a:r>
            <a:endParaRPr lang="en-US" sz="975" noProof="1"/>
          </a:p>
        </p:txBody>
      </p:sp>
      <p:sp>
        <p:nvSpPr>
          <p:cNvPr id="12" name="step1"/>
          <p:cNvSpPr txBox="1"/>
          <p:nvPr/>
        </p:nvSpPr>
        <p:spPr>
          <a:xfrm>
            <a:off x="990600" y="1943100"/>
            <a:ext cx="7543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p>
            <a:pPr algn="l">
              <a:lnSpc>
                <a:spcPct val="140000"/>
              </a:lnSpc>
            </a:pPr>
            <a:r>
              <a:rPr lang="en-US" sz="900" b="1" noProof="1">
                <a:solidFill>
                  <a:srgbClr val="1E2422"/>
                </a:solidFill>
                <a:latin typeface="MiSans" charset="-122"/>
                <a:ea typeface="MiSans" charset="-122"/>
              </a:rPr>
              <a:t>请求去向错误</a:t>
            </a:r>
            <a:r>
              <a:rPr lang="en-US" sz="900" noProof="1">
                <a:solidFill>
                  <a:srgbClr val="1E2422"/>
                </a:solidFill>
                <a:latin typeface="MiSans" charset="-122"/>
                <a:ea typeface="MiSans" charset="-122"/>
              </a:rPr>
              <a:t>：请求被发往生产域名 </a:t>
            </a:r>
            <a:r>
              <a:rPr lang="en-US" sz="790" noProof="1">
                <a:solidFill>
                  <a:srgbClr val="1E2422"/>
                </a:solidFill>
                <a:latin typeface="JetBrains Mono" panose="02000009000000000000"/>
                <a:ea typeface="JetBrains Mono" panose="02000009000000000000"/>
              </a:rPr>
              <a:t>ai-learn.codefather.cn</a:t>
            </a:r>
            <a:r>
              <a:rPr lang="en-US" sz="900" noProof="1">
                <a:solidFill>
                  <a:srgbClr val="1E2422"/>
                </a:solidFill>
                <a:latin typeface="MiSans" charset="-122"/>
                <a:ea typeface="MiSans" charset="-122"/>
              </a:rPr>
              <a:t>，未指向本地后端</a:t>
            </a:r>
            <a:endParaRPr lang="en-US" sz="900" noProof="1"/>
          </a:p>
        </p:txBody>
      </p:sp>
      <p:sp>
        <p:nvSpPr>
          <p:cNvPr id="13" name="step1-line"/>
          <p:cNvSpPr/>
          <p:nvPr/>
        </p:nvSpPr>
        <p:spPr>
          <a:xfrm>
            <a:off x="723900" y="2228850"/>
            <a:ext cx="19050" cy="171450"/>
          </a:xfrm>
          <a:custGeom>
            <a:avLst/>
            <a:gdLst/>
            <a:ahLst/>
            <a:cxnLst/>
            <a:rect l="l" t="t" r="r" b="b"/>
            <a:pathLst>
              <a:path w="2" h="18">
                <a:moveTo>
                  <a:pt x="1" y="0"/>
                </a:moveTo>
                <a:lnTo>
                  <a:pt x="1" y="18"/>
                </a:lnTo>
              </a:path>
            </a:pathLst>
          </a:custGeom>
          <a:noFill/>
          <a:ln w="19050" cap="rnd">
            <a:solidFill>
              <a:srgbClr val="D9D2C4"/>
            </a:solidFill>
            <a:round/>
          </a:ln>
        </p:spPr>
      </p:sp>
      <p:sp>
        <p:nvSpPr>
          <p:cNvPr id="14" name="step2-num"/>
          <p:cNvSpPr/>
          <p:nvPr/>
        </p:nvSpPr>
        <p:spPr>
          <a:xfrm>
            <a:off x="609600" y="2419350"/>
            <a:ext cx="247650" cy="247650"/>
          </a:xfrm>
          <a:prstGeom prst="ellipse">
            <a:avLst/>
          </a:prstGeom>
          <a:solidFill>
            <a:srgbClr val="2F5D50"/>
          </a:solidFill>
          <a:ln>
            <a:noFill/>
          </a:ln>
        </p:spPr>
      </p:sp>
      <p:sp>
        <p:nvSpPr>
          <p:cNvPr id="15" name="step2-numtext"/>
          <p:cNvSpPr txBox="1"/>
          <p:nvPr/>
        </p:nvSpPr>
        <p:spPr>
          <a:xfrm>
            <a:off x="609600" y="241935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p>
            <a:pPr algn="ctr">
              <a:lnSpc>
                <a:spcPct val="120000"/>
              </a:lnSpc>
            </a:pPr>
            <a:r>
              <a:rPr lang="en-US" sz="975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2</a:t>
            </a:r>
            <a:endParaRPr lang="en-US" sz="975" noProof="1"/>
          </a:p>
        </p:txBody>
      </p:sp>
      <p:sp>
        <p:nvSpPr>
          <p:cNvPr id="16" name="step2"/>
          <p:cNvSpPr txBox="1"/>
          <p:nvPr/>
        </p:nvSpPr>
        <p:spPr>
          <a:xfrm>
            <a:off x="990600" y="2400300"/>
            <a:ext cx="7543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p>
            <a:pPr algn="l">
              <a:lnSpc>
                <a:spcPct val="140000"/>
              </a:lnSpc>
            </a:pPr>
            <a:r>
              <a:rPr lang="en-US" sz="900" b="1" noProof="1">
                <a:solidFill>
                  <a:srgbClr val="1E2422"/>
                </a:solidFill>
                <a:latin typeface="MiSans" charset="-122"/>
                <a:ea typeface="MiSans" charset="-122"/>
              </a:rPr>
              <a:t>凭证不一致</a:t>
            </a:r>
            <a:r>
              <a:rPr lang="en-US" sz="900" noProof="1">
                <a:solidFill>
                  <a:srgbClr val="1E2422"/>
                </a:solidFill>
                <a:latin typeface="MiSans" charset="-122"/>
                <a:ea typeface="MiSans" charset="-122"/>
              </a:rPr>
              <a:t>：前端微信开发者工具与后端的 AppID 不是同一个，换 token 必然 401</a:t>
            </a:r>
            <a:endParaRPr lang="en-US" sz="900" noProof="1"/>
          </a:p>
        </p:txBody>
      </p:sp>
      <p:sp>
        <p:nvSpPr>
          <p:cNvPr id="17" name="step2-line"/>
          <p:cNvSpPr/>
          <p:nvPr/>
        </p:nvSpPr>
        <p:spPr>
          <a:xfrm>
            <a:off x="723900" y="2686050"/>
            <a:ext cx="19050" cy="171450"/>
          </a:xfrm>
          <a:custGeom>
            <a:avLst/>
            <a:gdLst/>
            <a:ahLst/>
            <a:cxnLst/>
            <a:rect l="l" t="t" r="r" b="b"/>
            <a:pathLst>
              <a:path w="2" h="18">
                <a:moveTo>
                  <a:pt x="1" y="0"/>
                </a:moveTo>
                <a:lnTo>
                  <a:pt x="1" y="18"/>
                </a:lnTo>
              </a:path>
            </a:pathLst>
          </a:custGeom>
          <a:noFill/>
          <a:ln w="19050" cap="rnd">
            <a:solidFill>
              <a:srgbClr val="D9D2C4"/>
            </a:solidFill>
            <a:round/>
          </a:ln>
        </p:spPr>
      </p:sp>
      <p:sp>
        <p:nvSpPr>
          <p:cNvPr id="18" name="step3-num"/>
          <p:cNvSpPr/>
          <p:nvPr/>
        </p:nvSpPr>
        <p:spPr>
          <a:xfrm>
            <a:off x="609600" y="2876550"/>
            <a:ext cx="247650" cy="247650"/>
          </a:xfrm>
          <a:prstGeom prst="ellipse">
            <a:avLst/>
          </a:prstGeom>
          <a:solidFill>
            <a:srgbClr val="2F5D50"/>
          </a:solidFill>
          <a:ln>
            <a:noFill/>
          </a:ln>
        </p:spPr>
      </p:sp>
      <p:sp>
        <p:nvSpPr>
          <p:cNvPr id="19" name="step3-numtext"/>
          <p:cNvSpPr txBox="1"/>
          <p:nvPr/>
        </p:nvSpPr>
        <p:spPr>
          <a:xfrm>
            <a:off x="609600" y="287655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p>
            <a:pPr algn="ctr">
              <a:lnSpc>
                <a:spcPct val="120000"/>
              </a:lnSpc>
            </a:pPr>
            <a:r>
              <a:rPr lang="en-US" sz="975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3</a:t>
            </a:r>
            <a:endParaRPr lang="en-US" sz="975" noProof="1"/>
          </a:p>
        </p:txBody>
      </p:sp>
      <p:sp>
        <p:nvSpPr>
          <p:cNvPr id="20" name="step3"/>
          <p:cNvSpPr txBox="1"/>
          <p:nvPr/>
        </p:nvSpPr>
        <p:spPr>
          <a:xfrm>
            <a:off x="990600" y="2857500"/>
            <a:ext cx="7543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p>
            <a:pPr algn="l">
              <a:lnSpc>
                <a:spcPct val="140000"/>
              </a:lnSpc>
            </a:pPr>
            <a:r>
              <a:rPr lang="en-US" sz="900" b="1" noProof="1">
                <a:solidFill>
                  <a:srgbClr val="1E2422"/>
                </a:solidFill>
                <a:latin typeface="MiSans" charset="-122"/>
                <a:ea typeface="MiSans" charset="-122"/>
              </a:rPr>
              <a:t>组件事件取值为空</a:t>
            </a:r>
            <a:r>
              <a:rPr lang="en-US" sz="900" noProof="1">
                <a:solidFill>
                  <a:srgbClr val="1E2422"/>
                </a:solidFill>
                <a:latin typeface="MiSans" charset="-122"/>
                <a:ea typeface="MiSans" charset="-122"/>
              </a:rPr>
              <a:t>：昵称快捷填入后 blur 事件取值为空，昵称根本无法落库</a:t>
            </a:r>
            <a:endParaRPr lang="en-US" sz="900" noProof="1"/>
          </a:p>
        </p:txBody>
      </p:sp>
      <p:sp>
        <p:nvSpPr>
          <p:cNvPr id="21" name="fix-rule"/>
          <p:cNvSpPr/>
          <p:nvPr/>
        </p:nvSpPr>
        <p:spPr>
          <a:xfrm>
            <a:off x="609600" y="3314700"/>
            <a:ext cx="7924800" cy="9525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22" name="fix-head"/>
          <p:cNvSpPr txBox="1"/>
          <p:nvPr/>
        </p:nvSpPr>
        <p:spPr>
          <a:xfrm>
            <a:off x="609600" y="3448050"/>
            <a:ext cx="1143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975" b="1" noProof="1">
                <a:solidFill>
                  <a:srgbClr val="2F5D50"/>
                </a:solidFill>
                <a:latin typeface="MiSans" charset="-122"/>
                <a:ea typeface="MiSans" charset="-122"/>
              </a:rPr>
              <a:t>修复</a:t>
            </a:r>
            <a:endParaRPr lang="en-US" sz="975" noProof="1"/>
          </a:p>
        </p:txBody>
      </p:sp>
      <p:sp>
        <p:nvSpPr>
          <p:cNvPr id="23" name="fix-body"/>
          <p:cNvSpPr txBox="1"/>
          <p:nvPr/>
        </p:nvSpPr>
        <p:spPr>
          <a:xfrm>
            <a:off x="1333500" y="3448050"/>
            <a:ext cx="72009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p>
            <a:pPr>
              <a:lnSpc>
                <a:spcPct val="155000"/>
              </a:lnSpc>
            </a:pPr>
            <a:r>
              <a:rPr lang="en-US" sz="900" noProof="1">
                <a:solidFill>
                  <a:srgbClr val="1E2422"/>
                </a:solidFill>
                <a:latin typeface="MiSans" charset="-122"/>
                <a:ea typeface="MiSans" charset="-122"/>
              </a:rPr>
              <a:t>· 统一前后端 AppID 为本组自有 AppID；头像经 </a:t>
            </a:r>
            <a:r>
              <a:rPr lang="en-US" sz="790" noProof="1">
                <a:solidFill>
                  <a:srgbClr val="1E2422"/>
                </a:solidFill>
                <a:latin typeface="JetBrains Mono" panose="02000009000000000000"/>
                <a:ea typeface="JetBrains Mono" panose="02000009000000000000"/>
              </a:rPr>
              <a:t>Button openType='chooseAvatar'</a:t>
            </a:r>
            <a:r>
              <a:rPr lang="en-US" sz="900" noProof="1">
                <a:solidFill>
                  <a:srgbClr val="1E2422"/>
                </a:solidFill>
                <a:latin typeface="MiSans" charset="-122"/>
                <a:ea typeface="MiSans" charset="-122"/>
              </a:rPr>
              <a:t> 取临时路径后调 updateUserProfile 保存并刷新</a:t>
            </a:r>
            <a:endParaRPr lang="en-US" sz="900" noProof="1"/>
          </a:p>
          <a:p>
            <a:pPr>
              <a:lnSpc>
                <a:spcPct val="155000"/>
              </a:lnSpc>
            </a:pPr>
            <a:r>
              <a:rPr lang="en-US" sz="900" noProof="1">
                <a:solidFill>
                  <a:srgbClr val="1E2422"/>
                </a:solidFill>
                <a:latin typeface="MiSans" charset="-122"/>
                <a:ea typeface="MiSans" charset="-122"/>
              </a:rPr>
              <a:t>· 昵称改用 </a:t>
            </a:r>
            <a:r>
              <a:rPr lang="en-US" sz="790" noProof="1">
                <a:solidFill>
                  <a:srgbClr val="1E2422"/>
                </a:solidFill>
                <a:latin typeface="JetBrains Mono" panose="02000009000000000000"/>
                <a:ea typeface="JetBrains Mono" panose="02000009000000000000"/>
              </a:rPr>
              <a:t>Input type='nickname'</a:t>
            </a:r>
            <a:r>
              <a:rPr lang="en-US" sz="900" noProof="1">
                <a:solidFill>
                  <a:srgbClr val="1E2422"/>
                </a:solidFill>
                <a:latin typeface="MiSans" charset="-122"/>
                <a:ea typeface="MiSans" charset="-122"/>
              </a:rPr>
              <a:t>，onInput 持续记录草稿 + onNickNameReview 兜底</a:t>
            </a:r>
            <a:endParaRPr lang="en-US" sz="900" noProof="1"/>
          </a:p>
        </p:txBody>
      </p:sp>
      <p:sp>
        <p:nvSpPr>
          <p:cNvPr id="24" name="lesson-icon"/>
          <p:cNvSpPr/>
          <p:nvPr/>
        </p:nvSpPr>
        <p:spPr>
          <a:xfrm>
            <a:off x="609600" y="42672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293" y="384"/>
                </a:moveTo>
                <a:cubicBezTo>
                  <a:pt x="300" y="362"/>
                  <a:pt x="315" y="342"/>
                  <a:pt x="331" y="324"/>
                </a:cubicBezTo>
                <a:cubicBezTo>
                  <a:pt x="364" y="290"/>
                  <a:pt x="384" y="243"/>
                  <a:pt x="384" y="192"/>
                </a:cubicBezTo>
                <a:cubicBezTo>
                  <a:pt x="384" y="86"/>
                  <a:pt x="298" y="0"/>
                  <a:pt x="192" y="0"/>
                </a:cubicBezTo>
                <a:cubicBezTo>
                  <a:pt x="86" y="0"/>
                  <a:pt x="0" y="86"/>
                  <a:pt x="0" y="192"/>
                </a:cubicBezTo>
                <a:cubicBezTo>
                  <a:pt x="0" y="243"/>
                  <a:pt x="20" y="290"/>
                  <a:pt x="53" y="324"/>
                </a:cubicBezTo>
                <a:cubicBezTo>
                  <a:pt x="69" y="342"/>
                  <a:pt x="84" y="362"/>
                  <a:pt x="91" y="384"/>
                </a:cubicBezTo>
                <a:lnTo>
                  <a:pt x="293" y="384"/>
                </a:lnTo>
                <a:close/>
                <a:moveTo>
                  <a:pt x="184" y="112"/>
                </a:moveTo>
                <a:cubicBezTo>
                  <a:pt x="144" y="112"/>
                  <a:pt x="112" y="144"/>
                  <a:pt x="112" y="184"/>
                </a:cubicBezTo>
                <a:cubicBezTo>
                  <a:pt x="112" y="197"/>
                  <a:pt x="101" y="208"/>
                  <a:pt x="88" y="208"/>
                </a:cubicBezTo>
                <a:cubicBezTo>
                  <a:pt x="75" y="208"/>
                  <a:pt x="64" y="197"/>
                  <a:pt x="64" y="184"/>
                </a:cubicBezTo>
                <a:cubicBezTo>
                  <a:pt x="64" y="118"/>
                  <a:pt x="118" y="64"/>
                  <a:pt x="184" y="64"/>
                </a:cubicBezTo>
                <a:cubicBezTo>
                  <a:pt x="197" y="64"/>
                  <a:pt x="208" y="75"/>
                  <a:pt x="208" y="88"/>
                </a:cubicBezTo>
                <a:cubicBezTo>
                  <a:pt x="208" y="101"/>
                  <a:pt x="197" y="112"/>
                  <a:pt x="184" y="112"/>
                </a:cubicBezTo>
                <a:close/>
              </a:path>
              <a:path w="384" h="512">
                <a:moveTo>
                  <a:pt x="288" y="432"/>
                </a:moveTo>
                <a:lnTo>
                  <a:pt x="96" y="432"/>
                </a:lnTo>
                <a:lnTo>
                  <a:pt x="96" y="448"/>
                </a:lnTo>
                <a:cubicBezTo>
                  <a:pt x="96" y="492"/>
                  <a:pt x="132" y="528"/>
                  <a:pt x="176" y="528"/>
                </a:cubicBezTo>
                <a:lnTo>
                  <a:pt x="208" y="528"/>
                </a:lnTo>
                <a:cubicBezTo>
                  <a:pt x="252" y="528"/>
                  <a:pt x="288" y="492"/>
                  <a:pt x="288" y="448"/>
                </a:cubicBezTo>
                <a:lnTo>
                  <a:pt x="288" y="432"/>
                </a:lnTo>
                <a:close/>
              </a:path>
            </a:pathLst>
          </a:custGeom>
          <a:solidFill>
            <a:srgbClr val="C4661F"/>
          </a:solidFill>
          <a:ln>
            <a:noFill/>
          </a:ln>
        </p:spPr>
      </p:sp>
      <p:sp>
        <p:nvSpPr>
          <p:cNvPr id="25" name="lesson"/>
          <p:cNvSpPr txBox="1"/>
          <p:nvPr/>
        </p:nvSpPr>
        <p:spPr>
          <a:xfrm>
            <a:off x="914400" y="4210050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p>
            <a:pPr>
              <a:lnSpc>
                <a:spcPct val="150000"/>
              </a:lnSpc>
            </a:pPr>
            <a:r>
              <a:rPr lang="en-US" sz="940" b="1" noProof="1">
                <a:solidFill>
                  <a:srgbClr val="1E2422"/>
                </a:solidFill>
                <a:latin typeface="MiSans" charset="-122"/>
                <a:ea typeface="MiSans" charset="-122"/>
              </a:rPr>
              <a:t>踩坑教训：</a:t>
            </a:r>
            <a:r>
              <a:rPr lang="en-US" sz="940" noProof="1">
                <a:solidFill>
                  <a:srgbClr val="1E2422"/>
                </a:solidFill>
                <a:latin typeface="MiSans" charset="-122"/>
                <a:ea typeface="MiSans" charset="-122"/>
              </a:rPr>
              <a:t>域名、AppID、组件事件每个环节单独看都"没错"，叠加在一起就是故障 —— 微信生态配置必须和代码改动一起纳入联调清单。</a:t>
            </a:r>
            <a:endParaRPr lang="en-US" sz="940" noProof="1"/>
          </a:p>
        </p:txBody>
      </p:sp>
      <p:sp>
        <p:nvSpPr>
          <p:cNvPr id="26" name="footer-hair"/>
          <p:cNvSpPr/>
          <p:nvPr/>
        </p:nvSpPr>
        <p:spPr>
          <a:xfrm>
            <a:off x="609600" y="4762500"/>
            <a:ext cx="7924800" cy="9525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09600" y="419100"/>
            <a:ext cx="38100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900" b="1" kern="0" spc="300" noProof="1">
                <a:solidFill>
                  <a:srgbClr val="C4661F"/>
                </a:solidFill>
                <a:latin typeface="MiSans" charset="-122"/>
                <a:ea typeface="MiSans" charset="-122"/>
              </a:rPr>
              <a:t>07 · 测试结论</a:t>
            </a:r>
            <a:endParaRPr lang="en-US" sz="9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792480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1875" b="1" noProof="1">
                <a:solidFill>
                  <a:srgbClr val="1E2422"/>
                </a:solidFill>
                <a:latin typeface="MiSans" charset="-122"/>
                <a:ea typeface="MiSans" charset="-122"/>
              </a:rPr>
              <a:t>质量基本达标：核心流程完整稳定，缺陷全部关闭</a:t>
            </a:r>
            <a:endParaRPr lang="en-US" sz="1875" noProof="1"/>
          </a:p>
        </p:txBody>
      </p:sp>
      <p:sp>
        <p:nvSpPr>
          <p:cNvPr id="4" name="title-rule"/>
          <p:cNvSpPr/>
          <p:nvPr/>
        </p:nvSpPr>
        <p:spPr>
          <a:xfrm>
            <a:off x="609600" y="1066800"/>
            <a:ext cx="7924800" cy="9525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5" name="verdict-icon"/>
          <p:cNvSpPr/>
          <p:nvPr/>
        </p:nvSpPr>
        <p:spPr>
          <a:xfrm>
            <a:off x="609600" y="1295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2F5D50"/>
          </a:solidFill>
          <a:ln>
            <a:noFill/>
          </a:ln>
        </p:spPr>
      </p:sp>
      <p:sp>
        <p:nvSpPr>
          <p:cNvPr id="6" name="verdict"/>
          <p:cNvSpPr txBox="1"/>
          <p:nvPr/>
        </p:nvSpPr>
        <p:spPr>
          <a:xfrm>
            <a:off x="1143000" y="1276350"/>
            <a:ext cx="73914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p>
            <a:pPr algn="l">
              <a:lnSpc>
                <a:spcPct val="150000"/>
              </a:lnSpc>
            </a:pPr>
            <a:r>
              <a:rPr lang="en-US" sz="1050" b="1" noProof="1">
                <a:solidFill>
                  <a:srgbClr val="1E2422"/>
                </a:solidFill>
                <a:latin typeface="MiSans" charset="-122"/>
                <a:ea typeface="MiSans" charset="-122"/>
              </a:rPr>
              <a:t>本次测试通过。</a:t>
            </a:r>
            <a:r>
              <a:rPr lang="en-US" sz="1050" noProof="1">
                <a:solidFill>
                  <a:srgbClr val="1E2422"/>
                </a:solidFill>
                <a:latin typeface="MiSans" charset="-122"/>
                <a:ea typeface="MiSans" charset="-122"/>
              </a:rPr>
              <a:t>出题、答题、报告生成、用户体系等核心业务流程功能完整、运行稳定；修复后系统已具备部署条件（V1.2）。</a:t>
            </a:r>
            <a:endParaRPr lang="en-US" sz="1050" noProof="1"/>
          </a:p>
        </p:txBody>
      </p:sp>
      <p:sp>
        <p:nvSpPr>
          <p:cNvPr id="7" name="stat1"/>
          <p:cNvSpPr txBox="1"/>
          <p:nvPr/>
        </p:nvSpPr>
        <p:spPr>
          <a:xfrm>
            <a:off x="609600" y="1962150"/>
            <a:ext cx="24765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1950" b="1" noProof="1">
                <a:solidFill>
                  <a:srgbClr val="2F5D50"/>
                </a:solidFill>
                <a:latin typeface="MiSans" charset="-122"/>
                <a:ea typeface="MiSans" charset="-122"/>
              </a:rPr>
              <a:t>28 / 30</a:t>
            </a:r>
            <a:endParaRPr lang="en-US" sz="1950" noProof="1"/>
          </a:p>
        </p:txBody>
      </p:sp>
      <p:sp>
        <p:nvSpPr>
          <p:cNvPr id="8" name="stat1-label"/>
          <p:cNvSpPr txBox="1"/>
          <p:nvPr/>
        </p:nvSpPr>
        <p:spPr>
          <a:xfrm>
            <a:off x="609600" y="2324100"/>
            <a:ext cx="24765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p>
            <a:pPr>
              <a:lnSpc>
                <a:spcPct val="140000"/>
              </a:lnSpc>
            </a:pPr>
            <a:r>
              <a:rPr lang="en-US" sz="790" noProof="1">
                <a:solidFill>
                  <a:srgbClr val="5F6B66"/>
                </a:solidFill>
                <a:latin typeface="MiSans" charset="-122"/>
                <a:ea typeface="MiSans" charset="-122"/>
              </a:rPr>
              <a:t>自动化用例通过数通过率 93.3%</a:t>
            </a:r>
            <a:endParaRPr lang="en-US" sz="790" noProof="1"/>
          </a:p>
        </p:txBody>
      </p:sp>
      <p:sp>
        <p:nvSpPr>
          <p:cNvPr id="9" name="stat-div1"/>
          <p:cNvSpPr/>
          <p:nvPr/>
        </p:nvSpPr>
        <p:spPr>
          <a:xfrm>
            <a:off x="3238500" y="2019300"/>
            <a:ext cx="9525" cy="5715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10" name="stat2"/>
          <p:cNvSpPr txBox="1"/>
          <p:nvPr/>
        </p:nvSpPr>
        <p:spPr>
          <a:xfrm>
            <a:off x="3467100" y="1962150"/>
            <a:ext cx="24765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1950" b="1" noProof="1">
                <a:solidFill>
                  <a:srgbClr val="C4661F"/>
                </a:solidFill>
                <a:latin typeface="MiSans" charset="-122"/>
                <a:ea typeface="MiSans" charset="-122"/>
              </a:rPr>
              <a:t>4 项全部关闭</a:t>
            </a:r>
            <a:endParaRPr lang="en-US" sz="1950" noProof="1"/>
          </a:p>
        </p:txBody>
      </p:sp>
      <p:sp>
        <p:nvSpPr>
          <p:cNvPr id="11" name="stat2-label"/>
          <p:cNvSpPr txBox="1"/>
          <p:nvPr/>
        </p:nvSpPr>
        <p:spPr>
          <a:xfrm>
            <a:off x="3467100" y="2324100"/>
            <a:ext cx="24765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p>
            <a:pPr>
              <a:lnSpc>
                <a:spcPct val="140000"/>
              </a:lnSpc>
            </a:pPr>
            <a:r>
              <a:rPr lang="en-US" sz="790" noProof="1">
                <a:solidFill>
                  <a:srgbClr val="5F6B66"/>
                </a:solidFill>
                <a:latin typeface="MiSans" charset="-122"/>
                <a:ea typeface="MiSans" charset="-122"/>
              </a:rPr>
              <a:t>缺陷（2 高 2 中）当日定位修复回归验证通过，无遗留</a:t>
            </a:r>
            <a:endParaRPr lang="en-US" sz="790" noProof="1"/>
          </a:p>
        </p:txBody>
      </p:sp>
      <p:sp>
        <p:nvSpPr>
          <p:cNvPr id="12" name="stat-div2"/>
          <p:cNvSpPr/>
          <p:nvPr/>
        </p:nvSpPr>
        <p:spPr>
          <a:xfrm>
            <a:off x="6096000" y="2019300"/>
            <a:ext cx="9525" cy="5715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13" name="stat3"/>
          <p:cNvSpPr txBox="1"/>
          <p:nvPr/>
        </p:nvSpPr>
        <p:spPr>
          <a:xfrm>
            <a:off x="6324600" y="1962150"/>
            <a:ext cx="24765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1950" b="1" noProof="1">
                <a:solidFill>
                  <a:srgbClr val="2F5D50"/>
                </a:solidFill>
                <a:latin typeface="MiSans" charset="-122"/>
                <a:ea typeface="MiSans" charset="-122"/>
              </a:rPr>
              <a:t>2 + 2</a:t>
            </a:r>
            <a:endParaRPr lang="en-US" sz="1950" noProof="1"/>
          </a:p>
        </p:txBody>
      </p:sp>
      <p:sp>
        <p:nvSpPr>
          <p:cNvPr id="14" name="stat3-label"/>
          <p:cNvSpPr txBox="1"/>
          <p:nvPr/>
        </p:nvSpPr>
        <p:spPr>
          <a:xfrm>
            <a:off x="6324600" y="2324100"/>
            <a:ext cx="24765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p>
            <a:pPr>
              <a:lnSpc>
                <a:spcPct val="140000"/>
              </a:lnSpc>
            </a:pPr>
            <a:r>
              <a:rPr lang="en-US" sz="790" noProof="1">
                <a:solidFill>
                  <a:srgbClr val="5F6B66"/>
                </a:solidFill>
                <a:latin typeface="MiSans" charset="-122"/>
                <a:ea typeface="MiSans" charset="-122"/>
              </a:rPr>
              <a:t>缺陷分布：登录 / 用户信息 2 项核心业务（出题、答题）2 项</a:t>
            </a:r>
            <a:endParaRPr lang="en-US" sz="790" noProof="1"/>
          </a:p>
        </p:txBody>
      </p:sp>
      <p:sp>
        <p:nvSpPr>
          <p:cNvPr id="15" name="mid-rule"/>
          <p:cNvSpPr/>
          <p:nvPr/>
        </p:nvSpPr>
        <p:spPr>
          <a:xfrm>
            <a:off x="609600" y="2857500"/>
            <a:ext cx="7924800" cy="9525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16" name="next-head"/>
          <p:cNvSpPr txBox="1"/>
          <p:nvPr/>
        </p:nvSpPr>
        <p:spPr>
          <a:xfrm>
            <a:off x="609600" y="3028950"/>
            <a:ext cx="28575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975" b="1" noProof="1">
                <a:solidFill>
                  <a:srgbClr val="2F5D50"/>
                </a:solidFill>
                <a:latin typeface="MiSans" charset="-122"/>
                <a:ea typeface="MiSans" charset="-122"/>
              </a:rPr>
              <a:t>后续迭代建议</a:t>
            </a:r>
            <a:endParaRPr lang="en-US" sz="975" noProof="1"/>
          </a:p>
        </p:txBody>
      </p:sp>
      <p:sp>
        <p:nvSpPr>
          <p:cNvPr id="17" name="next1-num"/>
          <p:cNvSpPr/>
          <p:nvPr/>
        </p:nvSpPr>
        <p:spPr>
          <a:xfrm>
            <a:off x="609600" y="3333750"/>
            <a:ext cx="247650" cy="247650"/>
          </a:xfrm>
          <a:prstGeom prst="ellipse">
            <a:avLst/>
          </a:prstGeom>
          <a:noFill/>
          <a:ln w="19050">
            <a:solidFill>
              <a:srgbClr val="C4661F"/>
            </a:solidFill>
          </a:ln>
        </p:spPr>
      </p:sp>
      <p:sp>
        <p:nvSpPr>
          <p:cNvPr id="18" name="next1-numtext"/>
          <p:cNvSpPr txBox="1"/>
          <p:nvPr/>
        </p:nvSpPr>
        <p:spPr>
          <a:xfrm>
            <a:off x="609600" y="333375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p>
            <a:pPr algn="ctr">
              <a:lnSpc>
                <a:spcPct val="120000"/>
              </a:lnSpc>
            </a:pPr>
            <a:r>
              <a:rPr lang="en-US" sz="975" b="1" noProof="1">
                <a:solidFill>
                  <a:srgbClr val="C4661F"/>
                </a:solidFill>
                <a:latin typeface="MiSans" charset="-122"/>
                <a:ea typeface="MiSans" charset="-122"/>
              </a:rPr>
              <a:t>1</a:t>
            </a:r>
            <a:endParaRPr lang="en-US" sz="975" noProof="1"/>
          </a:p>
        </p:txBody>
      </p:sp>
      <p:sp>
        <p:nvSpPr>
          <p:cNvPr id="19" name="next1"/>
          <p:cNvSpPr txBox="1"/>
          <p:nvPr/>
        </p:nvSpPr>
        <p:spPr>
          <a:xfrm>
            <a:off x="990600" y="3314700"/>
            <a:ext cx="75438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p>
            <a:pPr algn="l">
              <a:lnSpc>
                <a:spcPct val="145000"/>
              </a:lnSpc>
            </a:pPr>
            <a:r>
              <a:rPr lang="en-US" sz="940" noProof="1">
                <a:solidFill>
                  <a:srgbClr val="1E2422"/>
                </a:solidFill>
                <a:latin typeface="MiSans" charset="-122"/>
                <a:ea typeface="MiSans" charset="-122"/>
              </a:rPr>
              <a:t>为被动退出路径（杀进程 / 闪退）增加</a:t>
            </a:r>
            <a:r>
              <a:rPr lang="en-US" sz="940" b="1" noProof="1">
                <a:solidFill>
                  <a:srgbClr val="1E2422"/>
                </a:solidFill>
                <a:latin typeface="MiSans" charset="-122"/>
                <a:ea typeface="MiSans" charset="-122"/>
              </a:rPr>
              <a:t>定时清理任务</a:t>
            </a:r>
            <a:r>
              <a:rPr lang="en-US" sz="940" noProof="1">
                <a:solidFill>
                  <a:srgbClr val="1E2422"/>
                </a:solidFill>
                <a:latin typeface="MiSans" charset="-122"/>
                <a:ea typeface="MiSans" charset="-122"/>
              </a:rPr>
              <a:t>，避免"0 题 / 0% 正确率"的无效出题记录在库中累积</a:t>
            </a:r>
            <a:endParaRPr lang="en-US" sz="940" noProof="1"/>
          </a:p>
        </p:txBody>
      </p:sp>
      <p:sp>
        <p:nvSpPr>
          <p:cNvPr id="20" name="next2-num"/>
          <p:cNvSpPr/>
          <p:nvPr/>
        </p:nvSpPr>
        <p:spPr>
          <a:xfrm>
            <a:off x="609600" y="3790950"/>
            <a:ext cx="247650" cy="247650"/>
          </a:xfrm>
          <a:prstGeom prst="ellipse">
            <a:avLst/>
          </a:prstGeom>
          <a:noFill/>
          <a:ln w="19050">
            <a:solidFill>
              <a:srgbClr val="C4661F"/>
            </a:solidFill>
          </a:ln>
        </p:spPr>
      </p:sp>
      <p:sp>
        <p:nvSpPr>
          <p:cNvPr id="21" name="next2-numtext"/>
          <p:cNvSpPr txBox="1"/>
          <p:nvPr/>
        </p:nvSpPr>
        <p:spPr>
          <a:xfrm>
            <a:off x="609600" y="379095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p>
            <a:pPr algn="ctr">
              <a:lnSpc>
                <a:spcPct val="120000"/>
              </a:lnSpc>
            </a:pPr>
            <a:r>
              <a:rPr lang="en-US" sz="975" b="1" noProof="1">
                <a:solidFill>
                  <a:srgbClr val="C4661F"/>
                </a:solidFill>
                <a:latin typeface="MiSans" charset="-122"/>
                <a:ea typeface="MiSans" charset="-122"/>
              </a:rPr>
              <a:t>2</a:t>
            </a:r>
            <a:endParaRPr lang="en-US" sz="975" noProof="1"/>
          </a:p>
        </p:txBody>
      </p:sp>
      <p:sp>
        <p:nvSpPr>
          <p:cNvPr id="22" name="next2"/>
          <p:cNvSpPr txBox="1"/>
          <p:nvPr/>
        </p:nvSpPr>
        <p:spPr>
          <a:xfrm>
            <a:off x="990600" y="3771900"/>
            <a:ext cx="75438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p>
            <a:pPr algn="l">
              <a:lnSpc>
                <a:spcPct val="145000"/>
              </a:lnSpc>
            </a:pPr>
            <a:r>
              <a:rPr lang="en-US" sz="940" noProof="1">
                <a:solidFill>
                  <a:srgbClr val="1E2422"/>
                </a:solidFill>
                <a:latin typeface="MiSans" charset="-122"/>
                <a:ea typeface="MiSans" charset="-122"/>
              </a:rPr>
              <a:t>对出题、生图等大模型接口建立</a:t>
            </a:r>
            <a:r>
              <a:rPr lang="en-US" sz="940" b="1" noProof="1">
                <a:solidFill>
                  <a:srgbClr val="1E2422"/>
                </a:solidFill>
                <a:latin typeface="MiSans" charset="-122"/>
                <a:ea typeface="MiSans" charset="-122"/>
              </a:rPr>
              <a:t>用量监控告警</a:t>
            </a:r>
            <a:r>
              <a:rPr lang="en-US" sz="940" noProof="1">
                <a:solidFill>
                  <a:srgbClr val="1E2422"/>
                </a:solidFill>
                <a:latin typeface="MiSans" charset="-122"/>
                <a:ea typeface="MiSans" charset="-122"/>
              </a:rPr>
              <a:t>，限额被触达或 API 费用异常波动时及时发现</a:t>
            </a:r>
            <a:endParaRPr lang="en-US" sz="940" noProof="1"/>
          </a:p>
        </p:txBody>
      </p:sp>
      <p:sp>
        <p:nvSpPr>
          <p:cNvPr id="23" name="end-rule"/>
          <p:cNvSpPr/>
          <p:nvPr/>
        </p:nvSpPr>
        <p:spPr>
          <a:xfrm>
            <a:off x="609600" y="4305300"/>
            <a:ext cx="914400" cy="28575"/>
          </a:xfrm>
          <a:prstGeom prst="rect">
            <a:avLst/>
          </a:prstGeom>
          <a:solidFill>
            <a:srgbClr val="C4661F"/>
          </a:solidFill>
          <a:ln>
            <a:noFill/>
          </a:ln>
        </p:spPr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PA" val="v3.0.1"/>
</p:tagLst>
</file>

<file path=ppt/tags/tag6.xml><?xml version="1.0" encoding="utf-8"?>
<p:tagLst xmlns:p="http://schemas.openxmlformats.org/presentationml/2006/main">
  <p:tag name="AS_NET" val="4.0.30319.42000"/>
  <p:tag name="AS_OS" val="Microsoft Windows NT 6.1.7601 Service Pack 1"/>
  <p:tag name="AS_RELEASE_DATE" val="2022.11.14"/>
  <p:tag name="AS_TITLE" val="Aspose.Slides for .NET 4.0 Client Profile"/>
  <p:tag name="AS_VERSION" val="22.11"/>
  <p:tag name="COMMONDATA" val="eyJoZGlkIjoiMGU2ZjNlMTA1ZDAzOTM1NTk4ZDgzNjMxOTgwNTE2YWQifQ=="/>
  <p:tag name="ISLIDE.GUIDESSETTING" val="{&quot;Id&quot;:&quot;GuidesStyle_Narrow&quot;,&quot;Name&quot;:&quot;较窄&quot;,&quot;Kind&quot;:&quot;System&quot;,&quot;OldGuidesSetting&quot;:{&quot;HeaderHeight&quot;:10.0,&quot;FooterHeight&quot;:5.0,&quot;SideMargin&quot;:2.5,&quot;TopMargin&quot;:0.0,&quot;BottomMargin&quot;:0.0,&quot;IntervalMargin&quot;:1.0}}"/>
  <p:tag name="commondata" val="eyJjb3VudCI6MSwiaGRpZCI6IjRkNDE1NWJhMjI0ZmVkM2E5NzQyYmQyMTJmZTU1MjM2IiwidXNlckNvdW50IjoxfQ=="/>
  <p:tag name="resource_record_key" val="{&quot;13&quot;:[4364974]}"/>
</p:tagLst>
</file>

<file path=ppt/theme/theme1.xml><?xml version="1.0" encoding="utf-8"?>
<a:theme xmlns:a="http://schemas.openxmlformats.org/drawingml/2006/main" name="第一PPT，www.1ppt.com">
  <a:themeElements>
    <a:clrScheme name="北欧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262626"/>
      </a:accent1>
      <a:accent2>
        <a:srgbClr val="3F3F3F"/>
      </a:accent2>
      <a:accent3>
        <a:srgbClr val="3F3F3F"/>
      </a:accent3>
      <a:accent4>
        <a:srgbClr val="595959"/>
      </a:accent4>
      <a:accent5>
        <a:srgbClr val="5F5F5F"/>
      </a:accent5>
      <a:accent6>
        <a:srgbClr val="4D4D4D"/>
      </a:accent6>
      <a:hlink>
        <a:srgbClr val="000000"/>
      </a:hlink>
      <a:folHlink>
        <a:srgbClr val="919191"/>
      </a:folHlink>
    </a:clrScheme>
    <a:fontScheme name="1思源黑体">
      <a:majorFont>
        <a:latin typeface="Arial"/>
        <a:ea typeface="思源黑体 CN Heavy"/>
        <a:cs typeface="Arial"/>
      </a:majorFont>
      <a:minorFont>
        <a:latin typeface="思源黑体 CN Normal"/>
        <a:ea typeface="思源黑体 CN Normal"/>
        <a:cs typeface="Arial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第一PPT，www.1ppt.com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思源黑体 CN Normal"/>
        <a:ea typeface="思源黑体 CN Normal"/>
        <a:cs typeface="Arial"/>
        <a:font script="Jpan" typeface="ＭＳ Ｐゴシック"/>
        <a:font script="Hang" typeface="맑은 고딕"/>
        <a:font script="Hans" typeface="思源黑体 CN Norm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Normal"/>
        <a:ea typeface="思源黑体 CN Normal"/>
        <a:cs typeface="Arial"/>
        <a:font script="Jpan" typeface="ＭＳ Ｐゴシック"/>
        <a:font script="Hang" typeface="맑은 고딕"/>
        <a:font script="Hans" typeface="思源黑体 CN Norm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思源黑体 CN Normal"/>
        <a:ea typeface="思源黑体 CN Normal"/>
        <a:cs typeface="Arial"/>
        <a:font script="Jpan" typeface="ＭＳ Ｐゴシック"/>
        <a:font script="Hang" typeface="맑은 고딕"/>
        <a:font script="Hans" typeface="思源黑体 CN Norm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Normal"/>
        <a:ea typeface="思源黑体 CN Normal"/>
        <a:cs typeface="Arial"/>
        <a:font script="Jpan" typeface="ＭＳ Ｐゴシック"/>
        <a:font script="Hang" typeface="맑은 고딕"/>
        <a:font script="Hans" typeface="思源黑体 CN Norm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</Template>
  <TotalTime>0</TotalTime>
  <Words>4498</Words>
  <Application>WPS 演示</Application>
  <PresentationFormat>全屏显示(16:9)</PresentationFormat>
  <Paragraphs>282</Paragraphs>
  <Slides>10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时尚中黑简体</vt:lpstr>
      <vt:lpstr>黑体</vt:lpstr>
      <vt:lpstr>Wingdings</vt:lpstr>
      <vt:lpstr>Arial</vt:lpstr>
      <vt:lpstr>Calibri</vt:lpstr>
      <vt:lpstr>思源宋体 CN Heavy</vt:lpstr>
      <vt:lpstr>Noto Sans SC</vt:lpstr>
      <vt:lpstr>思源黑体 CN Normal</vt:lpstr>
      <vt:lpstr>Arial Unicode MS</vt:lpstr>
      <vt:lpstr>MiSans</vt:lpstr>
      <vt:lpstr>JetBrains Mono</vt:lpstr>
      <vt:lpstr>Segoe Print</vt:lpstr>
      <vt:lpstr>Times New Roman</vt:lpstr>
      <vt:lpstr>第一PPT，www.1ppt.com</vt:lpstr>
      <vt:lpstr>第一PPT，www.1ppt.com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  <Manager>第一PPT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极简商务</dc:title>
  <dc:creator>第一PPT</dc:creator>
  <cp:keywords>www.1ppt.com</cp:keywords>
  <dc:description>www.1ppt.com</dc:description>
  <cp:lastModifiedBy>于军雷</cp:lastModifiedBy>
  <cp:revision>38</cp:revision>
  <dcterms:created xsi:type="dcterms:W3CDTF">2022-08-30T12:58:00Z</dcterms:created>
  <dcterms:modified xsi:type="dcterms:W3CDTF">2026-09-14T15:46:14Z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3B58EDE5E9514908AB30219335FF3168</vt:lpwstr>
  </property>
  <property fmtid="{D5CDD505-2E9C-101B-9397-08002B2CF9AE}" pid="3" name="KSOProductBuildVer">
    <vt:lpwstr>2052-12.1.0.18276</vt:lpwstr>
  </property>
  <property fmtid="{D5CDD505-2E9C-101B-9397-08002B2CF9AE}" pid="4" name="KSOTemplateUUID">
    <vt:lpwstr>v1.0_mb_6d2iZvVijsLHPjusqeWHrA==</vt:lpwstr>
  </property>
</Properties>
</file>
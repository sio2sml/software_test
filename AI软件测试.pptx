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</p:sldMasterIdLst>
  <p:notesMasterIdLst>
    <p:notesMasterId r:id="rId5"/>
  </p:notesMasterIdLst>
  <p:handoutMasterIdLst>
    <p:handoutMasterId r:id="rId16"/>
  </p:handoutMasterIdLst>
  <p:sldIdLst>
    <p:sldId id="551" r:id="rId4"/>
    <p:sldId id="591" r:id="rId6"/>
    <p:sldId id="592" r:id="rId7"/>
    <p:sldId id="595" r:id="rId8"/>
    <p:sldId id="596" r:id="rId9"/>
    <p:sldId id="598" r:id="rId10"/>
    <p:sldId id="574" r:id="rId11"/>
    <p:sldId id="605" r:id="rId12"/>
    <p:sldId id="606" r:id="rId13"/>
    <p:sldId id="607" r:id="rId14"/>
    <p:sldId id="608" r:id="rId15"/>
  </p:sldIdLst>
  <p:sldSz cx="9144000" cy="5143500" type="screen16x9"/>
  <p:notesSz cx="6858000" cy="91440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632" userDrawn="1">
          <p15:clr>
            <a:srgbClr val="A4A3A4"/>
          </p15:clr>
        </p15:guide>
        <p15:guide id="4" orient="horz" pos="366" userDrawn="1">
          <p15:clr>
            <a:srgbClr val="A4A3A4"/>
          </p15:clr>
        </p15:guide>
        <p15:guide id="5" orient="horz" pos="912" userDrawn="1">
          <p15:clr>
            <a:srgbClr val="A4A3A4"/>
          </p15:clr>
        </p15:guide>
        <p15:guide id="6" orient="horz" pos="2796" userDrawn="1">
          <p15:clr>
            <a:srgbClr val="A4A3A4"/>
          </p15:clr>
        </p15:guide>
        <p15:guide id="7" pos="290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483810881" name="WPS_1679281038" initials="W" lastIdx="1" clrIdx="2"/>
  <p:cmAuthor id="1" name="WPS" initials="W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546" autoAdjust="0"/>
  </p:normalViewPr>
  <p:slideViewPr>
    <p:cSldViewPr snapToGrid="0" showGuides="1">
      <p:cViewPr>
        <p:scale>
          <a:sx n="120" d="100"/>
          <a:sy n="120" d="100"/>
        </p:scale>
        <p:origin x="-1380" y="-654"/>
      </p:cViewPr>
      <p:guideLst>
        <p:guide pos="5632"/>
        <p:guide orient="horz" pos="366"/>
        <p:guide orient="horz" pos="912"/>
        <p:guide orient="horz" pos="2796"/>
        <p:guide pos="290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6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count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E4E5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 noProof="1">
                    <a:solidFill>
                      <a:srgbClr val="66707A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{"微信登录","异步任务","计分服务","闯关历史","RAG 出题","基础能力","出题接口","复盘报告","用户档案","RAG 知识库"}</c:f>
              <c:strCache>
                <c:ptCount val="10"/>
                <c:pt idx="0">
                  <c:v>微信登录</c:v>
                </c:pt>
                <c:pt idx="1">
                  <c:v>异步任务</c:v>
                </c:pt>
                <c:pt idx="2">
                  <c:v>计分服务</c:v>
                </c:pt>
                <c:pt idx="3">
                  <c:v>闯关历史</c:v>
                </c:pt>
                <c:pt idx="4">
                  <c:v>RAG 出题</c:v>
                </c:pt>
                <c:pt idx="5">
                  <c:v>基础能力</c:v>
                </c:pt>
                <c:pt idx="6">
                  <c:v>出题接口</c:v>
                </c:pt>
                <c:pt idx="7">
                  <c:v>复盘报告</c:v>
                </c:pt>
                <c:pt idx="8">
                  <c:v>用户档案</c:v>
                </c:pt>
                <c:pt idx="9">
                  <c:v>RAG 知识库</c:v>
                </c:pt>
              </c:strCache>
            </c:strRef>
          </c:cat>
          <c:val>
            <c:numRef>
              <c:f>{2,2,2,3,3,4,5,5,6,8}</c:f>
              <c:numCache>
                <c:formatCode>General</c:formatCode>
                <c:ptCount val="10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5</c:v>
                </c:pt>
                <c:pt idx="8">
                  <c:v>6</c:v>
                </c:pt>
                <c:pt idx="9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2"/>
        <c:overlap val="0"/>
        <c:axId val="1"/>
        <c:axId val="2"/>
      </c:barChart>
      <c:catAx>
        <c:axId val="1"/>
        <c:scaling>
          <c:orientation val="minMax"/>
        </c:scaling>
        <c:delete val="0"/>
        <c:axPos val="l"/>
        <c:majorGridlines>
          <c:spPr>
            <a:ln w="6350" cap="flat" cmpd="sng" algn="ctr">
              <a:noFill/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D9D5CB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50" b="0" i="0" u="none" strike="noStrike" kern="1200" baseline="0" noProof="1">
                <a:solidFill>
                  <a:srgbClr val="23283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8"/>
          <c:min val="0"/>
        </c:scaling>
        <c:delete val="0"/>
        <c:axPos val="b"/>
        <c:majorGridlines>
          <c:spPr>
            <a:ln w="12700" cap="flat" cmpd="sng" algn="ctr">
              <a:solidFill>
                <a:srgbClr val="E5E1D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6350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 noProof="1">
                <a:solidFill>
                  <a:srgbClr val="66707A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1"/>
        <c:crosses val="autoZero"/>
        <c:crossBetween val="between"/>
        <c:majorUnit val="1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4"/>
          <p:cNvSpPr>
            <a:spLocks noGrp="1"/>
          </p:cNvSpPr>
          <p:nvPr>
            <p:ph type="pic" sz="quarter" idx="11"/>
          </p:nvPr>
        </p:nvSpPr>
        <p:spPr>
          <a:xfrm>
            <a:off x="228601" y="1168430"/>
            <a:ext cx="1741601" cy="1615496"/>
          </a:xfrm>
          <a:prstGeom prst="roundRect">
            <a:avLst>
              <a:gd name="adj" fmla="val 4027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3" name="图片占位符 4"/>
          <p:cNvSpPr>
            <a:spLocks noGrp="1"/>
          </p:cNvSpPr>
          <p:nvPr>
            <p:ph type="pic" sz="quarter" idx="12"/>
          </p:nvPr>
        </p:nvSpPr>
        <p:spPr>
          <a:xfrm>
            <a:off x="2076255" y="1168430"/>
            <a:ext cx="1741601" cy="1615496"/>
          </a:xfrm>
          <a:prstGeom prst="roundRect">
            <a:avLst>
              <a:gd name="adj" fmla="val 4027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4" name="图片占位符 4"/>
          <p:cNvSpPr>
            <a:spLocks noGrp="1"/>
          </p:cNvSpPr>
          <p:nvPr>
            <p:ph type="pic" sz="quarter" idx="13"/>
          </p:nvPr>
        </p:nvSpPr>
        <p:spPr>
          <a:xfrm>
            <a:off x="3952189" y="1168430"/>
            <a:ext cx="1741601" cy="1615496"/>
          </a:xfrm>
          <a:prstGeom prst="roundRect">
            <a:avLst>
              <a:gd name="adj" fmla="val 4027"/>
            </a:avLst>
          </a:prstGeom>
        </p:spPr>
        <p:txBody>
          <a:bodyPr/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5" name="矩形: 圆角 4"/>
          <p:cNvSpPr/>
          <p:nvPr userDrawn="1"/>
        </p:nvSpPr>
        <p:spPr>
          <a:xfrm>
            <a:off x="5825765" y="1167978"/>
            <a:ext cx="3089635" cy="1616400"/>
          </a:xfrm>
          <a:prstGeom prst="roundRect">
            <a:avLst>
              <a:gd name="adj" fmla="val 6753"/>
            </a:avLst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98F44667-F811-4D20-B32B-68DB41B896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zh-CN" altLang="en-US" smtClean="0"/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  <a:endParaRPr lang="en-US" altLang="zh-CN" sz="100">
              <a:solidFill>
                <a:schemeClr val="tx1">
                  <a:alpha val="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Wingdings" panose="05000000000000000000"/>
              </a:defRPr>
            </a:lvl9pPr>
          </a:lstStyle>
          <a:p>
            <a:r>
              <a:rPr lang="zh-CN" altLang="en-US" dirty="0">
                <a:ea typeface="时尚中黑简体" panose="01010104010101010101" pitchFamily="2" charset="-122"/>
              </a:rPr>
              <a:t>单击此处编辑母版标题样式</a:t>
            </a:r>
            <a:endParaRPr lang="zh-CN" altLang="en-US" dirty="0">
              <a:ea typeface="时尚中黑简体" panose="01010104010101010101" pitchFamily="2" charset="-122"/>
            </a:endParaRP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单击此处编辑母版文本样式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4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2"/>
          <a:stretch>
            <a:fillRect/>
          </a:stretch>
        </p:blipFill>
        <p:spPr>
          <a:xfrm>
            <a:off x="-1" y="0"/>
            <a:ext cx="7764905" cy="5143500"/>
          </a:xfrm>
          <a:prstGeom prst="rect">
            <a:avLst/>
          </a:prstGeom>
        </p:spPr>
      </p:pic>
    </p:spTree>
  </p:cSld>
  <p:clrMapOvr>
    <a:masterClrMapping/>
  </p:clrMapOvr>
  <p:transition/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955F040-ED43-464F-96F2-927121FE6FD0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95CE31C-667C-455E-B312-3B73BAEC6163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ransition/>
  <p:hf sldNum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pitchFamily="34" charset="-122"/>
          <a:ea typeface="时尚中黑简体" panose="01010104010101010101" pitchFamily="2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ransition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indent="-213995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等腰三角形 8"/>
          <p:cNvSpPr/>
          <p:nvPr/>
        </p:nvSpPr>
        <p:spPr>
          <a:xfrm rot="14383128">
            <a:off x="2243950" y="1283523"/>
            <a:ext cx="3967980" cy="3567441"/>
          </a:xfrm>
          <a:custGeom>
            <a:avLst/>
            <a:gdLst>
              <a:gd name="connsiteX0" fmla="*/ 117942 w 6369851"/>
              <a:gd name="connsiteY0" fmla="*/ 4429376 h 5726860"/>
              <a:gd name="connsiteX1" fmla="*/ 2437539 w 6369851"/>
              <a:gd name="connsiteY1" fmla="*/ 430070 h 5726860"/>
              <a:gd name="connsiteX2" fmla="*/ 3932313 w 6369851"/>
              <a:gd name="connsiteY2" fmla="*/ 430070 h 5726860"/>
              <a:gd name="connsiteX3" fmla="*/ 6251910 w 6369851"/>
              <a:gd name="connsiteY3" fmla="*/ 4429376 h 5726860"/>
              <a:gd name="connsiteX4" fmla="*/ 5504523 w 6369851"/>
              <a:gd name="connsiteY4" fmla="*/ 5726860 h 5726860"/>
              <a:gd name="connsiteX5" fmla="*/ 865329 w 6369851"/>
              <a:gd name="connsiteY5" fmla="*/ 5726860 h 5726860"/>
              <a:gd name="connsiteX6" fmla="*/ 117942 w 6369851"/>
              <a:gd name="connsiteY6" fmla="*/ 4429376 h 57268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69851" h="5726860">
                <a:moveTo>
                  <a:pt x="117942" y="4429376"/>
                </a:moveTo>
                <a:lnTo>
                  <a:pt x="2437539" y="430070"/>
                </a:lnTo>
                <a:cubicBezTo>
                  <a:pt x="2770126" y="-143356"/>
                  <a:pt x="3599725" y="-143356"/>
                  <a:pt x="3932313" y="430070"/>
                </a:cubicBezTo>
                <a:lnTo>
                  <a:pt x="6251910" y="4429376"/>
                </a:lnTo>
                <a:cubicBezTo>
                  <a:pt x="6586039" y="5005459"/>
                  <a:pt x="6170491" y="5726860"/>
                  <a:pt x="5504523" y="5726860"/>
                </a:cubicBezTo>
                <a:lnTo>
                  <a:pt x="865329" y="5726860"/>
                </a:lnTo>
                <a:cubicBezTo>
                  <a:pt x="199361" y="5726860"/>
                  <a:pt x="-216186" y="5005459"/>
                  <a:pt x="117942" y="4429376"/>
                </a:cubicBezTo>
              </a:path>
            </a:pathLst>
          </a:custGeom>
          <a:gradFill>
            <a:gsLst>
              <a:gs pos="0">
                <a:srgbClr val="FAFAFA"/>
              </a:gs>
              <a:gs pos="100000">
                <a:schemeClr val="bg1">
                  <a:lumMod val="85000"/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" name="PA_e7d195523061f1c0" descr="e7d195523061f1c0cef09ac28eaae964ec9988a5cce77c8b8C1E4685C6E6B40CD7615480512384A61EE159C6FE0045D14B61E85D0A95589D558B81FFC809322ACC20DC2254D928200A3EA0841B8B1814961BE795024DFDEF45878460D5EEC04B3DB4C246007153409DEDE37CA726A66AF19B77CE744E11CADCFB09B3408DEC1F688348922E38CCEE" hidden="1"/>
          <p:cNvSpPr txBox="1"/>
          <p:nvPr>
            <p:custDataLst>
              <p:tags r:id="rId1"/>
            </p:custDataLst>
          </p:nvPr>
        </p:nvSpPr>
        <p:spPr>
          <a:xfrm>
            <a:off x="-309166" y="1352550"/>
            <a:ext cx="326390" cy="762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pPr defTabSz="914400"/>
            <a:r>
              <a:rPr lang="en-US" altLang="zh-CN" sz="100">
                <a:solidFill>
                  <a:srgbClr val="ADB9CA"/>
                </a:solidFill>
                <a:latin typeface="Calibri" panose="020F0502020204030204"/>
                <a:ea typeface="微软雅黑" panose="020B0503020204020204" pitchFamily="34" charset="-122"/>
                <a:cs typeface="+mn-ea"/>
                <a:sym typeface="+mn-lt"/>
              </a:rPr>
              <a:t>e7d195523061f1c0cef09ac28eaae964ec9988a5cce77c8b8C1E4685C6E6B40CD7615480512384A61EE159C6FE0045D14B61E85D0A95589D558B81FFC809322ACC20DC2254D928200A3EA0841B8B1814961BE795024DFDEF45878460D5EEC04B3DB4C246007153409DEDE37CA726A66AF19B77CE744E11CADCFB09B3408DEC1F688348922E38CCEE</a:t>
            </a:r>
            <a:endParaRPr lang="zh-CN" altLang="en-US" sz="100">
              <a:solidFill>
                <a:srgbClr val="ADB9CA"/>
              </a:solidFill>
              <a:latin typeface="Calibri" panose="020F050202020403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-903615" y="-1040909"/>
            <a:ext cx="2476500" cy="2476500"/>
          </a:xfrm>
          <a:prstGeom prst="ellipse">
            <a:avLst/>
          </a:prstGeom>
          <a:gradFill>
            <a:gsLst>
              <a:gs pos="0">
                <a:srgbClr val="FAFAFA"/>
              </a:gs>
              <a:gs pos="100000">
                <a:schemeClr val="bg1">
                  <a:lumMod val="85000"/>
                  <a:alpha val="50000"/>
                </a:schemeClr>
              </a:gs>
            </a:gsLst>
            <a:lin ang="5400000" scaled="1"/>
          </a:gradFill>
          <a:ln>
            <a:noFill/>
          </a:ln>
          <a:effectLst>
            <a:outerShdw blurRad="254000" dist="635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9" name="椭圆 18"/>
          <p:cNvSpPr/>
          <p:nvPr/>
        </p:nvSpPr>
        <p:spPr>
          <a:xfrm>
            <a:off x="7794740" y="3555021"/>
            <a:ext cx="2476500" cy="2476500"/>
          </a:xfrm>
          <a:prstGeom prst="ellipse">
            <a:avLst/>
          </a:prstGeom>
          <a:gradFill>
            <a:gsLst>
              <a:gs pos="0">
                <a:srgbClr val="FAFAFA"/>
              </a:gs>
              <a:gs pos="100000">
                <a:schemeClr val="bg1">
                  <a:lumMod val="85000"/>
                  <a:alpha val="50000"/>
                </a:schemeClr>
              </a:gs>
            </a:gsLst>
            <a:lin ang="5400000" scaled="1"/>
          </a:gradFill>
          <a:ln>
            <a:noFill/>
          </a:ln>
          <a:effectLst>
            <a:outerShdw blurRad="254000" dist="127000" dir="13500000" algn="b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1" name="deco-ring"/>
          <p:cNvSpPr/>
          <p:nvPr/>
        </p:nvSpPr>
        <p:spPr>
          <a:xfrm>
            <a:off x="6096000" y="952500"/>
            <a:ext cx="2286000" cy="2286000"/>
          </a:xfrm>
          <a:prstGeom prst="ellipse">
            <a:avLst/>
          </a:prstGeom>
          <a:noFill/>
          <a:ln w="12700">
            <a:solidFill>
              <a:srgbClr val="D9D2C4"/>
            </a:solidFill>
          </a:ln>
        </p:spPr>
      </p:sp>
      <p:sp>
        <p:nvSpPr>
          <p:cNvPr id="22" name="deco-ring2"/>
          <p:cNvSpPr/>
          <p:nvPr/>
        </p:nvSpPr>
        <p:spPr>
          <a:xfrm>
            <a:off x="6438900" y="1295400"/>
            <a:ext cx="1600200" cy="1600200"/>
          </a:xfrm>
          <a:prstGeom prst="ellipse">
            <a:avLst/>
          </a:prstGeom>
          <a:noFill/>
          <a:ln w="12700">
            <a:solidFill>
              <a:srgbClr val="2F5D50"/>
            </a:solidFill>
          </a:ln>
        </p:spPr>
      </p:sp>
      <p:sp>
        <p:nvSpPr>
          <p:cNvPr id="23" name="deco-icon"/>
          <p:cNvSpPr/>
          <p:nvPr/>
        </p:nvSpPr>
        <p:spPr>
          <a:xfrm>
            <a:off x="6896100" y="175260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256" y="0"/>
                </a:moveTo>
                <a:cubicBezTo>
                  <a:pt x="280" y="0"/>
                  <a:pt x="300" y="13"/>
                  <a:pt x="311" y="32"/>
                </a:cubicBezTo>
                <a:lnTo>
                  <a:pt x="320" y="32"/>
                </a:lnTo>
                <a:cubicBezTo>
                  <a:pt x="355" y="32"/>
                  <a:pt x="384" y="61"/>
                  <a:pt x="384" y="96"/>
                </a:cubicBezTo>
                <a:lnTo>
                  <a:pt x="384" y="448"/>
                </a:lnTo>
                <a:cubicBezTo>
                  <a:pt x="384" y="483"/>
                  <a:pt x="355" y="512"/>
                  <a:pt x="320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73" y="32"/>
                </a:lnTo>
                <a:cubicBezTo>
                  <a:pt x="84" y="13"/>
                  <a:pt x="104" y="0"/>
                  <a:pt x="128" y="0"/>
                </a:cubicBezTo>
                <a:lnTo>
                  <a:pt x="256" y="0"/>
                </a:lnTo>
                <a:close/>
                <a:moveTo>
                  <a:pt x="283" y="213"/>
                </a:moveTo>
                <a:cubicBezTo>
                  <a:pt x="272" y="205"/>
                  <a:pt x="257" y="207"/>
                  <a:pt x="249" y="218"/>
                </a:cubicBezTo>
                <a:lnTo>
                  <a:pt x="164" y="336"/>
                </a:lnTo>
                <a:lnTo>
                  <a:pt x="137" y="308"/>
                </a:lnTo>
                <a:cubicBezTo>
                  <a:pt x="128" y="299"/>
                  <a:pt x="113" y="298"/>
                  <a:pt x="103" y="308"/>
                </a:cubicBezTo>
                <a:cubicBezTo>
                  <a:pt x="94" y="317"/>
                  <a:pt x="94" y="332"/>
                  <a:pt x="103" y="342"/>
                </a:cubicBezTo>
                <a:lnTo>
                  <a:pt x="149" y="390"/>
                </a:lnTo>
                <a:cubicBezTo>
                  <a:pt x="154" y="395"/>
                  <a:pt x="161" y="397"/>
                  <a:pt x="168" y="397"/>
                </a:cubicBezTo>
                <a:cubicBezTo>
                  <a:pt x="175" y="396"/>
                  <a:pt x="182" y="393"/>
                  <a:pt x="186" y="387"/>
                </a:cubicBezTo>
                <a:lnTo>
                  <a:pt x="288" y="246"/>
                </a:lnTo>
                <a:cubicBezTo>
                  <a:pt x="296" y="235"/>
                  <a:pt x="294" y="220"/>
                  <a:pt x="283" y="213"/>
                </a:cubicBezTo>
                <a:close/>
                <a:moveTo>
                  <a:pt x="136" y="64"/>
                </a:moveTo>
                <a:cubicBezTo>
                  <a:pt x="123" y="64"/>
                  <a:pt x="112" y="75"/>
                  <a:pt x="112" y="88"/>
                </a:cubicBezTo>
                <a:cubicBezTo>
                  <a:pt x="112" y="101"/>
                  <a:pt x="123" y="112"/>
                  <a:pt x="136" y="112"/>
                </a:cubicBezTo>
                <a:lnTo>
                  <a:pt x="248" y="112"/>
                </a:lnTo>
                <a:cubicBezTo>
                  <a:pt x="261" y="112"/>
                  <a:pt x="272" y="101"/>
                  <a:pt x="272" y="88"/>
                </a:cubicBezTo>
                <a:cubicBezTo>
                  <a:pt x="272" y="75"/>
                  <a:pt x="261" y="64"/>
                  <a:pt x="248" y="64"/>
                </a:cubicBezTo>
                <a:lnTo>
                  <a:pt x="136" y="64"/>
                </a:lnTo>
                <a:close/>
              </a:path>
            </a:pathLst>
          </a:custGeom>
          <a:solidFill>
            <a:srgbClr val="2F5D50"/>
          </a:solidFill>
          <a:ln>
            <a:noFill/>
          </a:ln>
        </p:spPr>
      </p:sp>
      <p:sp>
        <p:nvSpPr>
          <p:cNvPr id="24" name="kicker"/>
          <p:cNvSpPr txBox="1"/>
          <p:nvPr/>
        </p:nvSpPr>
        <p:spPr>
          <a:xfrm>
            <a:off x="609600" y="112395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00" b="1" kern="0" spc="300" noProof="1">
                <a:solidFill>
                  <a:srgbClr val="C4661F"/>
                </a:solidFill>
                <a:latin typeface="MiSans" charset="-122"/>
                <a:ea typeface="MiSans" charset="-122"/>
              </a:rPr>
              <a:t>软件测试课程项目 · 成果展示</a:t>
            </a:r>
            <a:endParaRPr lang="en-US" sz="900" noProof="1"/>
          </a:p>
        </p:txBody>
      </p:sp>
      <p:sp>
        <p:nvSpPr>
          <p:cNvPr id="25" name="title"/>
          <p:cNvSpPr txBox="1"/>
          <p:nvPr/>
        </p:nvSpPr>
        <p:spPr>
          <a:xfrm>
            <a:off x="609600" y="1590675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 algn="l">
              <a:lnSpc>
                <a:spcPct val="120000"/>
              </a:lnSpc>
            </a:pPr>
            <a:r>
              <a:rPr lang="en-US" sz="3150" b="1">
                <a:solidFill>
                  <a:srgbClr val="232830"/>
                </a:solidFill>
                <a:latin typeface="Sarasa UI SC" panose="02000500000000000000" charset="-122"/>
                <a:ea typeface="Sarasa UI SC" panose="02000500000000000000" charset="-122"/>
                <a:sym typeface="+mn-ea"/>
              </a:rPr>
              <a:t>AI 辅助软件测试实践</a:t>
            </a:r>
            <a:endParaRPr lang="en-US" sz="3150" noProof="1"/>
          </a:p>
        </p:txBody>
      </p:sp>
      <p:sp>
        <p:nvSpPr>
          <p:cNvPr id="27" name="accent-rule"/>
          <p:cNvSpPr/>
          <p:nvPr/>
        </p:nvSpPr>
        <p:spPr>
          <a:xfrm>
            <a:off x="609600" y="2628900"/>
            <a:ext cx="914400" cy="28575"/>
          </a:xfrm>
          <a:prstGeom prst="rect">
            <a:avLst/>
          </a:prstGeom>
          <a:solidFill>
            <a:srgbClr val="C4661F"/>
          </a:solidFill>
          <a:ln>
            <a:noFill/>
          </a:ln>
        </p:spPr>
      </p:sp>
      <p:sp>
        <p:nvSpPr>
          <p:cNvPr id="28" name="meta"/>
          <p:cNvSpPr txBox="1"/>
          <p:nvPr/>
        </p:nvSpPr>
        <p:spPr>
          <a:xfrm>
            <a:off x="609600" y="28194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noProof="1">
                <a:solidFill>
                  <a:srgbClr val="5F6B66"/>
                </a:solidFill>
                <a:latin typeface="MiSans" charset="-122"/>
                <a:ea typeface="MiSans" charset="-122"/>
              </a:rPr>
              <a:t>测试执行：沙铭亮 · 于军雷　｜　测试周期：2026.09.14 – 09.22　｜　版本：V1.2 → V1.3</a:t>
            </a:r>
            <a:endParaRPr lang="en-US" sz="975" noProof="1"/>
          </a:p>
        </p:txBody>
      </p:sp>
      <p:sp>
        <p:nvSpPr>
          <p:cNvPr id="29" name="links"/>
          <p:cNvSpPr txBox="1"/>
          <p:nvPr/>
        </p:nvSpPr>
        <p:spPr>
          <a:xfrm>
            <a:off x="609600" y="3124200"/>
            <a:ext cx="66675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90" noProof="1">
                <a:solidFill>
                  <a:srgbClr val="5F6B66"/>
                </a:solidFill>
                <a:latin typeface="JetBrains Mono" panose="02000009000000000000"/>
                <a:ea typeface="JetBrains Mono" panose="02000009000000000000"/>
              </a:rPr>
              <a:t>github.com/SiO2sml/software_test</a:t>
            </a:r>
            <a:endParaRPr lang="en-US" sz="790" noProof="1"/>
          </a:p>
        </p:txBody>
      </p:sp>
      <p:sp>
        <p:nvSpPr>
          <p:cNvPr id="30" name="bottom-hair"/>
          <p:cNvSpPr/>
          <p:nvPr/>
        </p:nvSpPr>
        <p:spPr>
          <a:xfrm>
            <a:off x="609600" y="432435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sp>
        <p:nvSpPr>
          <p:cNvPr id="31" name="bottom-note"/>
          <p:cNvSpPr txBox="1"/>
          <p:nvPr/>
        </p:nvSpPr>
        <p:spPr>
          <a:xfrm>
            <a:off x="609600" y="4457700"/>
            <a:ext cx="7924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45000"/>
              </a:lnSpc>
            </a:pPr>
            <a:r>
              <a:rPr lang="en-US" sz="790" noProof="1">
                <a:solidFill>
                  <a:srgbClr val="5F6B66"/>
                </a:solidFill>
                <a:latin typeface="MiSans" charset="-122"/>
                <a:ea typeface="MiSans" charset="-122"/>
              </a:rPr>
              <a:t>被测对象：基于大语言模型的微信闯关学习小程序（前端 Taro 4 · 后端 FastAPI · MySQL 8.0）</a:t>
            </a:r>
            <a:endParaRPr lang="en-US" sz="790" noProof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ag"/>
          <p:cNvSpPr txBox="1"/>
          <p:nvPr/>
        </p:nvSpPr>
        <p:spPr>
          <a:xfrm>
            <a:off x="609600" y="49530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825" b="1" kern="0" spc="200" noProof="1">
                <a:solidFill>
                  <a:srgbClr val="C65A1E"/>
                </a:solidFill>
                <a:latin typeface="MiSans" charset="-122"/>
                <a:ea typeface="MiSans" charset="-122"/>
              </a:rPr>
              <a:t>CONTENTS</a:t>
            </a:r>
            <a:endParaRPr lang="en-US" sz="825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704850"/>
            <a:ext cx="28575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2250" b="1" noProof="1">
                <a:solidFill>
                  <a:srgbClr val="232830"/>
                </a:solidFill>
                <a:latin typeface="Sarasa UI SC" panose="02000500000000000000" charset="-122"/>
                <a:ea typeface="Sarasa UI SC" panose="02000500000000000000" charset="-122"/>
              </a:rPr>
              <a:t>目录</a:t>
            </a:r>
            <a:endParaRPr lang="en-US" sz="2250" noProof="1"/>
          </a:p>
        </p:txBody>
      </p:sp>
      <p:sp>
        <p:nvSpPr>
          <p:cNvPr id="4" name="bar"/>
          <p:cNvSpPr/>
          <p:nvPr/>
        </p:nvSpPr>
        <p:spPr>
          <a:xfrm>
            <a:off x="609600" y="1181100"/>
            <a:ext cx="342900" cy="28575"/>
          </a:xfrm>
          <a:prstGeom prst="rect">
            <a:avLst/>
          </a:prstGeom>
          <a:solidFill>
            <a:srgbClr val="C65A1E"/>
          </a:solidFill>
          <a:ln>
            <a:noFill/>
          </a:ln>
        </p:spPr>
      </p:sp>
      <p:sp>
        <p:nvSpPr>
          <p:cNvPr id="5" name="n1"/>
          <p:cNvSpPr txBox="1"/>
          <p:nvPr/>
        </p:nvSpPr>
        <p:spPr>
          <a:xfrm>
            <a:off x="609600" y="1504950"/>
            <a:ext cx="5334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C65A1E"/>
                </a:solidFill>
                <a:latin typeface="JetBrains Mono" panose="02000009000000000000"/>
                <a:ea typeface="JetBrains Mono" panose="02000009000000000000"/>
              </a:rPr>
              <a:t>01</a:t>
            </a:r>
            <a:endParaRPr lang="en-US" sz="1500" noProof="1"/>
          </a:p>
        </p:txBody>
      </p:sp>
      <p:sp>
        <p:nvSpPr>
          <p:cNvPr id="6" name="t1"/>
          <p:cNvSpPr txBox="1"/>
          <p:nvPr/>
        </p:nvSpPr>
        <p:spPr>
          <a:xfrm>
            <a:off x="1295400" y="146685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被测对象与核心功能</a:t>
            </a:r>
            <a:endParaRPr lang="en-US" sz="1200" noProof="1"/>
          </a:p>
        </p:txBody>
      </p:sp>
      <p:sp>
        <p:nvSpPr>
          <p:cNvPr id="7" name="d1"/>
          <p:cNvSpPr txBox="1"/>
          <p:nvPr/>
        </p:nvSpPr>
        <p:spPr>
          <a:xfrm>
            <a:off x="1295400" y="1733550"/>
            <a:ext cx="609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9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AI 闯关学习软件的核心功能、用户旅程、系统架构与测试边界</a:t>
            </a:r>
            <a:endParaRPr lang="en-US" sz="790" noProof="1"/>
          </a:p>
        </p:txBody>
      </p:sp>
      <p:sp>
        <p:nvSpPr>
          <p:cNvPr id="8" name="l1"/>
          <p:cNvSpPr/>
          <p:nvPr/>
        </p:nvSpPr>
        <p:spPr>
          <a:xfrm>
            <a:off x="609600" y="2019300"/>
            <a:ext cx="79248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  <p:sp>
        <p:nvSpPr>
          <p:cNvPr id="9" name="n2"/>
          <p:cNvSpPr txBox="1"/>
          <p:nvPr/>
        </p:nvSpPr>
        <p:spPr>
          <a:xfrm>
            <a:off x="609600" y="2171700"/>
            <a:ext cx="5334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C65A1E"/>
                </a:solidFill>
                <a:latin typeface="JetBrains Mono" panose="02000009000000000000"/>
                <a:ea typeface="JetBrains Mono" panose="02000009000000000000"/>
              </a:rPr>
              <a:t>02</a:t>
            </a:r>
            <a:endParaRPr lang="en-US" sz="1500" noProof="1"/>
          </a:p>
        </p:txBody>
      </p:sp>
      <p:sp>
        <p:nvSpPr>
          <p:cNvPr id="10" name="t2"/>
          <p:cNvSpPr txBox="1"/>
          <p:nvPr/>
        </p:nvSpPr>
        <p:spPr>
          <a:xfrm>
            <a:off x="1295400" y="21336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主要测试策略</a:t>
            </a:r>
            <a:endParaRPr lang="en-US" sz="1200" noProof="1"/>
          </a:p>
        </p:txBody>
      </p:sp>
      <p:sp>
        <p:nvSpPr>
          <p:cNvPr id="11" name="d2"/>
          <p:cNvSpPr txBox="1"/>
          <p:nvPr/>
        </p:nvSpPr>
        <p:spPr>
          <a:xfrm>
            <a:off x="1295400" y="2400300"/>
            <a:ext cx="609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9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接口分组、四类用例设计方法与全隔离的执行环境</a:t>
            </a:r>
            <a:endParaRPr lang="en-US" sz="790" noProof="1"/>
          </a:p>
        </p:txBody>
      </p:sp>
      <p:sp>
        <p:nvSpPr>
          <p:cNvPr id="12" name="l2"/>
          <p:cNvSpPr/>
          <p:nvPr/>
        </p:nvSpPr>
        <p:spPr>
          <a:xfrm>
            <a:off x="609600" y="2686050"/>
            <a:ext cx="79248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  <p:sp>
        <p:nvSpPr>
          <p:cNvPr id="13" name="n3"/>
          <p:cNvSpPr txBox="1"/>
          <p:nvPr/>
        </p:nvSpPr>
        <p:spPr>
          <a:xfrm>
            <a:off x="609600" y="2838450"/>
            <a:ext cx="5334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C65A1E"/>
                </a:solidFill>
                <a:latin typeface="JetBrains Mono" panose="02000009000000000000"/>
                <a:ea typeface="JetBrains Mono" panose="02000009000000000000"/>
              </a:rPr>
              <a:t>03</a:t>
            </a:r>
            <a:endParaRPr lang="en-US" sz="1500" noProof="1"/>
          </a:p>
        </p:txBody>
      </p:sp>
      <p:sp>
        <p:nvSpPr>
          <p:cNvPr id="14" name="t3"/>
          <p:cNvSpPr txBox="1"/>
          <p:nvPr/>
        </p:nvSpPr>
        <p:spPr>
          <a:xfrm>
            <a:off x="1295400" y="280035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AI 融合方案</a:t>
            </a:r>
            <a:endParaRPr lang="en-US" sz="1200" noProof="1"/>
          </a:p>
        </p:txBody>
      </p:sp>
      <p:sp>
        <p:nvSpPr>
          <p:cNvPr id="15" name="d3"/>
          <p:cNvSpPr txBox="1"/>
          <p:nvPr/>
        </p:nvSpPr>
        <p:spPr>
          <a:xfrm>
            <a:off x="1295400" y="3067050"/>
            <a:ext cx="609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9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Codex 编码智能体在测试全流程中的嵌入点与人工把关机制</a:t>
            </a:r>
            <a:endParaRPr lang="en-US" sz="790" noProof="1"/>
          </a:p>
        </p:txBody>
      </p:sp>
      <p:sp>
        <p:nvSpPr>
          <p:cNvPr id="16" name="l3"/>
          <p:cNvSpPr/>
          <p:nvPr/>
        </p:nvSpPr>
        <p:spPr>
          <a:xfrm>
            <a:off x="609600" y="3352800"/>
            <a:ext cx="79248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  <p:sp>
        <p:nvSpPr>
          <p:cNvPr id="17" name="n4"/>
          <p:cNvSpPr txBox="1"/>
          <p:nvPr/>
        </p:nvSpPr>
        <p:spPr>
          <a:xfrm>
            <a:off x="609600" y="3505200"/>
            <a:ext cx="5334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C65A1E"/>
                </a:solidFill>
                <a:latin typeface="JetBrains Mono" panose="02000009000000000000"/>
                <a:ea typeface="JetBrains Mono" panose="02000009000000000000"/>
              </a:rPr>
              <a:t>04</a:t>
            </a:r>
            <a:endParaRPr lang="en-US" sz="1500" noProof="1"/>
          </a:p>
        </p:txBody>
      </p:sp>
      <p:sp>
        <p:nvSpPr>
          <p:cNvPr id="18" name="t4"/>
          <p:cNvSpPr txBox="1"/>
          <p:nvPr/>
        </p:nvSpPr>
        <p:spPr>
          <a:xfrm>
            <a:off x="1295400" y="34671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AI 实践过程与成果</a:t>
            </a:r>
            <a:endParaRPr lang="en-US" sz="1200" noProof="1"/>
          </a:p>
        </p:txBody>
      </p:sp>
      <p:sp>
        <p:nvSpPr>
          <p:cNvPr id="19" name="d4"/>
          <p:cNvSpPr txBox="1"/>
          <p:nvPr/>
        </p:nvSpPr>
        <p:spPr>
          <a:xfrm>
            <a:off x="1295400" y="3733800"/>
            <a:ext cx="609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9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六步实践流程、40 条用例全通过、3 项缺陷的发现与修复</a:t>
            </a:r>
            <a:endParaRPr lang="en-US" sz="790" noProof="1"/>
          </a:p>
        </p:txBody>
      </p:sp>
      <p:sp>
        <p:nvSpPr>
          <p:cNvPr id="20" name="l4"/>
          <p:cNvSpPr/>
          <p:nvPr/>
        </p:nvSpPr>
        <p:spPr>
          <a:xfrm>
            <a:off x="609600" y="4019550"/>
            <a:ext cx="79248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  <p:sp>
        <p:nvSpPr>
          <p:cNvPr id="21" name="n5"/>
          <p:cNvSpPr txBox="1"/>
          <p:nvPr/>
        </p:nvSpPr>
        <p:spPr>
          <a:xfrm>
            <a:off x="609600" y="4171950"/>
            <a:ext cx="5334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C65A1E"/>
                </a:solidFill>
                <a:latin typeface="JetBrains Mono" panose="02000009000000000000"/>
                <a:ea typeface="JetBrains Mono" panose="02000009000000000000"/>
              </a:rPr>
              <a:t>05</a:t>
            </a:r>
            <a:endParaRPr lang="en-US" sz="1500" noProof="1"/>
          </a:p>
        </p:txBody>
      </p:sp>
      <p:sp>
        <p:nvSpPr>
          <p:cNvPr id="22" name="t5"/>
          <p:cNvSpPr txBox="1"/>
          <p:nvPr/>
        </p:nvSpPr>
        <p:spPr>
          <a:xfrm>
            <a:off x="1295400" y="413385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AI 反思与结论</a:t>
            </a:r>
            <a:endParaRPr lang="en-US" sz="1200" noProof="1"/>
          </a:p>
        </p:txBody>
      </p:sp>
      <p:sp>
        <p:nvSpPr>
          <p:cNvPr id="23" name="d5"/>
          <p:cNvSpPr txBox="1"/>
          <p:nvPr/>
        </p:nvSpPr>
        <p:spPr>
          <a:xfrm>
            <a:off x="1295400" y="4400550"/>
            <a:ext cx="609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9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AI 的贡献与边界、人的决策、测试结论与成员分工</a:t>
            </a:r>
            <a:endParaRPr lang="en-US" sz="790" noProof="1"/>
          </a:p>
        </p:txBody>
      </p:sp>
      <p:sp>
        <p:nvSpPr>
          <p:cNvPr id="24" name="l5"/>
          <p:cNvSpPr/>
          <p:nvPr/>
        </p:nvSpPr>
        <p:spPr>
          <a:xfrm>
            <a:off x="609600" y="4686300"/>
            <a:ext cx="79248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  <p:sp>
        <p:nvSpPr>
          <p:cNvPr id="25" name="foot-line"/>
          <p:cNvSpPr/>
          <p:nvPr/>
        </p:nvSpPr>
        <p:spPr>
          <a:xfrm>
            <a:off x="609600" y="4838700"/>
            <a:ext cx="79248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ag"/>
          <p:cNvSpPr txBox="1"/>
          <p:nvPr/>
        </p:nvSpPr>
        <p:spPr>
          <a:xfrm>
            <a:off x="609600" y="323850"/>
            <a:ext cx="2857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825" b="1" kern="0" spc="200" noProof="1">
                <a:solidFill>
                  <a:srgbClr val="C65A1E"/>
                </a:solidFill>
                <a:latin typeface="MiSans" charset="-122"/>
                <a:ea typeface="MiSans" charset="-122"/>
              </a:rPr>
              <a:t>01 · 被测对象</a:t>
            </a:r>
            <a:endParaRPr lang="en-US" sz="825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14350"/>
            <a:ext cx="7924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232830"/>
                </a:solidFill>
                <a:latin typeface="Sarasa UI SC" panose="02000500000000000000" charset="-122"/>
                <a:ea typeface="Sarasa UI SC" panose="02000500000000000000" charset="-122"/>
              </a:rPr>
              <a:t>AI 闯关学习软件：面向学生的 AI 辅助闯关学习工具</a:t>
            </a:r>
            <a:endParaRPr lang="en-US" noProof="1"/>
          </a:p>
        </p:txBody>
      </p:sp>
      <p:sp>
        <p:nvSpPr>
          <p:cNvPr id="4" name="bar"/>
          <p:cNvSpPr/>
          <p:nvPr/>
        </p:nvSpPr>
        <p:spPr>
          <a:xfrm>
            <a:off x="609600" y="933450"/>
            <a:ext cx="342900" cy="28575"/>
          </a:xfrm>
          <a:prstGeom prst="rect">
            <a:avLst/>
          </a:prstGeom>
          <a:solidFill>
            <a:srgbClr val="C65A1E"/>
          </a:solidFill>
          <a:ln>
            <a:noFill/>
          </a:ln>
        </p:spPr>
      </p:sp>
      <p:sp>
        <p:nvSpPr>
          <p:cNvPr id="5" name="intro"/>
          <p:cNvSpPr txBox="1"/>
          <p:nvPr/>
        </p:nvSpPr>
        <p:spPr>
          <a:xfrm>
            <a:off x="609600" y="1104900"/>
            <a:ext cx="7924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5000"/>
              </a:lnSpc>
            </a:pPr>
            <a:r>
              <a:rPr lang="en-US" sz="90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用户在前端选择学习主题后，系统调用大语言模型生成结构化练习题并自动判分，支持 RAG 知识库出题、AI 复盘报告与经验值成长体系；采用「可选登录」设计，游客可完整体验核心学习流程。</a:t>
            </a:r>
            <a:endParaRPr lang="en-US" sz="900" noProof="1"/>
          </a:p>
        </p:txBody>
      </p:sp>
      <p:sp>
        <p:nvSpPr>
          <p:cNvPr id="6" name="journey-label"/>
          <p:cNvSpPr txBox="1"/>
          <p:nvPr/>
        </p:nvSpPr>
        <p:spPr>
          <a:xfrm>
            <a:off x="609600" y="160020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1E4E5F"/>
                </a:solidFill>
                <a:latin typeface="MiSans" charset="-122"/>
                <a:ea typeface="MiSans" charset="-122"/>
              </a:rPr>
              <a:t>核心用户旅程</a:t>
            </a:r>
            <a:endParaRPr lang="en-US" sz="975" noProof="1"/>
          </a:p>
        </p:txBody>
      </p:sp>
      <p:sp>
        <p:nvSpPr>
          <p:cNvPr id="7" name="node1"/>
          <p:cNvSpPr/>
          <p:nvPr/>
        </p:nvSpPr>
        <p:spPr>
          <a:xfrm>
            <a:off x="609600" y="1847850"/>
            <a:ext cx="1409700" cy="590550"/>
          </a:xfrm>
          <a:prstGeom prst="rect">
            <a:avLst/>
          </a:prstGeom>
          <a:solidFill>
            <a:srgbClr val="EFEEE7"/>
          </a:solidFill>
          <a:ln>
            <a:noFill/>
          </a:ln>
        </p:spPr>
      </p:sp>
      <p:sp>
        <p:nvSpPr>
          <p:cNvPr id="8" name="node1-t"/>
          <p:cNvSpPr txBox="1"/>
          <p:nvPr/>
        </p:nvSpPr>
        <p:spPr>
          <a:xfrm>
            <a:off x="609600" y="1924050"/>
            <a:ext cx="14097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p>
            <a:pPr algn="ctr">
              <a:lnSpc>
                <a:spcPct val="130000"/>
              </a:lnSpc>
            </a:pPr>
            <a:r>
              <a:rPr lang="en-US" sz="675" noProof="1">
                <a:solidFill>
                  <a:srgbClr val="C65A1E"/>
                </a:solidFill>
                <a:latin typeface="JetBrains Mono" panose="02000009000000000000"/>
                <a:ea typeface="JetBrains Mono" panose="02000009000000000000"/>
              </a:rPr>
              <a:t>01</a:t>
            </a:r>
            <a:endParaRPr lang="en-US" sz="1200" noProof="1"/>
          </a:p>
          <a:p>
            <a:pPr algn="ctr">
              <a:lnSpc>
                <a:spcPct val="130000"/>
              </a:lnSpc>
            </a:pPr>
            <a:r>
              <a:rPr lang="en-US" sz="90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微信登录</a:t>
            </a:r>
            <a:endParaRPr lang="en-US" sz="1200" noProof="1"/>
          </a:p>
          <a:p>
            <a:pPr algn="ctr">
              <a:lnSpc>
                <a:spcPct val="130000"/>
              </a:lnSpc>
            </a:pPr>
            <a:r>
              <a:rPr lang="en-US" sz="67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可选 · JWT 鉴权</a:t>
            </a:r>
            <a:endParaRPr lang="en-US" sz="1200" noProof="1"/>
          </a:p>
        </p:txBody>
      </p:sp>
      <p:sp>
        <p:nvSpPr>
          <p:cNvPr id="9" name="arrow1"/>
          <p:cNvSpPr/>
          <p:nvPr/>
        </p:nvSpPr>
        <p:spPr>
          <a:xfrm>
            <a:off x="2038350" y="2095500"/>
            <a:ext cx="171450" cy="9525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 cap="rnd">
            <a:solidFill>
              <a:srgbClr val="66707A"/>
            </a:solidFill>
            <a:round/>
            <a:tailEnd type="arrow"/>
          </a:ln>
        </p:spPr>
      </p:sp>
      <p:sp>
        <p:nvSpPr>
          <p:cNvPr id="10" name="node2"/>
          <p:cNvSpPr/>
          <p:nvPr/>
        </p:nvSpPr>
        <p:spPr>
          <a:xfrm>
            <a:off x="2238375" y="1847850"/>
            <a:ext cx="1409700" cy="590550"/>
          </a:xfrm>
          <a:prstGeom prst="rect">
            <a:avLst/>
          </a:prstGeom>
          <a:solidFill>
            <a:srgbClr val="EFEEE7"/>
          </a:solidFill>
          <a:ln>
            <a:noFill/>
          </a:ln>
        </p:spPr>
      </p:sp>
      <p:sp>
        <p:nvSpPr>
          <p:cNvPr id="11" name="node2-t"/>
          <p:cNvSpPr txBox="1"/>
          <p:nvPr/>
        </p:nvSpPr>
        <p:spPr>
          <a:xfrm>
            <a:off x="2238375" y="1924050"/>
            <a:ext cx="14097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p>
            <a:pPr algn="ctr">
              <a:lnSpc>
                <a:spcPct val="130000"/>
              </a:lnSpc>
            </a:pPr>
            <a:r>
              <a:rPr lang="en-US" sz="675" noProof="1">
                <a:solidFill>
                  <a:srgbClr val="C65A1E"/>
                </a:solidFill>
                <a:latin typeface="JetBrains Mono" panose="02000009000000000000"/>
                <a:ea typeface="JetBrains Mono" panose="02000009000000000000"/>
              </a:rPr>
              <a:t>02</a:t>
            </a:r>
            <a:endParaRPr lang="en-US" sz="1200" noProof="1"/>
          </a:p>
          <a:p>
            <a:pPr algn="ctr">
              <a:lnSpc>
                <a:spcPct val="130000"/>
              </a:lnSpc>
            </a:pPr>
            <a:r>
              <a:rPr lang="en-US" sz="90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选择学习主题</a:t>
            </a:r>
            <a:endParaRPr lang="en-US" sz="1200" noProof="1"/>
          </a:p>
          <a:p>
            <a:pPr algn="ctr">
              <a:lnSpc>
                <a:spcPct val="130000"/>
              </a:lnSpc>
            </a:pPr>
            <a:r>
              <a:rPr lang="en-US" sz="67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支持知识库文档</a:t>
            </a:r>
            <a:endParaRPr lang="en-US" sz="1200" noProof="1"/>
          </a:p>
        </p:txBody>
      </p:sp>
      <p:sp>
        <p:nvSpPr>
          <p:cNvPr id="12" name="arrow2"/>
          <p:cNvSpPr/>
          <p:nvPr/>
        </p:nvSpPr>
        <p:spPr>
          <a:xfrm>
            <a:off x="3667125" y="2095500"/>
            <a:ext cx="171450" cy="9525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 cap="rnd">
            <a:solidFill>
              <a:srgbClr val="66707A"/>
            </a:solidFill>
            <a:round/>
            <a:tailEnd type="arrow"/>
          </a:ln>
        </p:spPr>
      </p:sp>
      <p:sp>
        <p:nvSpPr>
          <p:cNvPr id="13" name="node3"/>
          <p:cNvSpPr/>
          <p:nvPr/>
        </p:nvSpPr>
        <p:spPr>
          <a:xfrm>
            <a:off x="3867150" y="1847850"/>
            <a:ext cx="1409700" cy="590550"/>
          </a:xfrm>
          <a:prstGeom prst="rect">
            <a:avLst/>
          </a:prstGeom>
          <a:solidFill>
            <a:srgbClr val="EFEEE7"/>
          </a:solidFill>
          <a:ln>
            <a:noFill/>
          </a:ln>
        </p:spPr>
      </p:sp>
      <p:sp>
        <p:nvSpPr>
          <p:cNvPr id="14" name="node3-t"/>
          <p:cNvSpPr txBox="1"/>
          <p:nvPr/>
        </p:nvSpPr>
        <p:spPr>
          <a:xfrm>
            <a:off x="3867150" y="1924050"/>
            <a:ext cx="14097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p>
            <a:pPr algn="ctr">
              <a:lnSpc>
                <a:spcPct val="130000"/>
              </a:lnSpc>
            </a:pPr>
            <a:r>
              <a:rPr lang="en-US" sz="675" noProof="1">
                <a:solidFill>
                  <a:srgbClr val="C65A1E"/>
                </a:solidFill>
                <a:latin typeface="JetBrains Mono" panose="02000009000000000000"/>
                <a:ea typeface="JetBrains Mono" panose="02000009000000000000"/>
              </a:rPr>
              <a:t>03</a:t>
            </a:r>
            <a:endParaRPr lang="en-US" sz="1200" noProof="1"/>
          </a:p>
          <a:p>
            <a:pPr algn="ctr">
              <a:lnSpc>
                <a:spcPct val="130000"/>
              </a:lnSpc>
            </a:pPr>
            <a:r>
              <a:rPr lang="en-US" sz="90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AI 生成练习题</a:t>
            </a:r>
            <a:endParaRPr lang="en-US" sz="1200" noProof="1"/>
          </a:p>
          <a:p>
            <a:pPr algn="ctr">
              <a:lnSpc>
                <a:spcPct val="130000"/>
              </a:lnSpc>
            </a:pPr>
            <a:r>
              <a:rPr lang="en-US" sz="67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LLM · 异步任务</a:t>
            </a:r>
            <a:endParaRPr lang="en-US" sz="1200" noProof="1"/>
          </a:p>
        </p:txBody>
      </p:sp>
      <p:sp>
        <p:nvSpPr>
          <p:cNvPr id="15" name="arrow3"/>
          <p:cNvSpPr/>
          <p:nvPr/>
        </p:nvSpPr>
        <p:spPr>
          <a:xfrm>
            <a:off x="5295900" y="2095500"/>
            <a:ext cx="171450" cy="9525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 cap="rnd">
            <a:solidFill>
              <a:srgbClr val="66707A"/>
            </a:solidFill>
            <a:round/>
            <a:tailEnd type="arrow"/>
          </a:ln>
        </p:spPr>
      </p:sp>
      <p:sp>
        <p:nvSpPr>
          <p:cNvPr id="16" name="node4"/>
          <p:cNvSpPr/>
          <p:nvPr/>
        </p:nvSpPr>
        <p:spPr>
          <a:xfrm>
            <a:off x="5495925" y="1847850"/>
            <a:ext cx="1409700" cy="590550"/>
          </a:xfrm>
          <a:prstGeom prst="rect">
            <a:avLst/>
          </a:prstGeom>
          <a:solidFill>
            <a:srgbClr val="EFEEE7"/>
          </a:solidFill>
          <a:ln>
            <a:noFill/>
          </a:ln>
        </p:spPr>
      </p:sp>
      <p:sp>
        <p:nvSpPr>
          <p:cNvPr id="17" name="node4-t"/>
          <p:cNvSpPr txBox="1"/>
          <p:nvPr/>
        </p:nvSpPr>
        <p:spPr>
          <a:xfrm>
            <a:off x="5495925" y="1924050"/>
            <a:ext cx="14097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p>
            <a:pPr algn="ctr">
              <a:lnSpc>
                <a:spcPct val="130000"/>
              </a:lnSpc>
            </a:pPr>
            <a:r>
              <a:rPr lang="en-US" sz="675" noProof="1">
                <a:solidFill>
                  <a:srgbClr val="C65A1E"/>
                </a:solidFill>
                <a:latin typeface="JetBrains Mono" panose="02000009000000000000"/>
                <a:ea typeface="JetBrains Mono" panose="02000009000000000000"/>
              </a:rPr>
              <a:t>04</a:t>
            </a:r>
            <a:endParaRPr lang="en-US" sz="1200" noProof="1"/>
          </a:p>
          <a:p>
            <a:pPr algn="ctr">
              <a:lnSpc>
                <a:spcPct val="130000"/>
              </a:lnSpc>
            </a:pPr>
            <a:r>
              <a:rPr lang="en-US" sz="90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答题与判分</a:t>
            </a:r>
            <a:endParaRPr lang="en-US" sz="1200" noProof="1"/>
          </a:p>
          <a:p>
            <a:pPr algn="ctr">
              <a:lnSpc>
                <a:spcPct val="130000"/>
              </a:lnSpc>
            </a:pPr>
            <a:r>
              <a:rPr lang="en-US" sz="67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服务端正误判分</a:t>
            </a:r>
            <a:endParaRPr lang="en-US" sz="1200" noProof="1"/>
          </a:p>
        </p:txBody>
      </p:sp>
      <p:sp>
        <p:nvSpPr>
          <p:cNvPr id="18" name="arrow4"/>
          <p:cNvSpPr/>
          <p:nvPr/>
        </p:nvSpPr>
        <p:spPr>
          <a:xfrm>
            <a:off x="6924675" y="2095500"/>
            <a:ext cx="171450" cy="9525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 cap="rnd">
            <a:solidFill>
              <a:srgbClr val="66707A"/>
            </a:solidFill>
            <a:round/>
            <a:tailEnd type="arrow"/>
          </a:ln>
        </p:spPr>
      </p:sp>
      <p:sp>
        <p:nvSpPr>
          <p:cNvPr id="19" name="node5"/>
          <p:cNvSpPr/>
          <p:nvPr/>
        </p:nvSpPr>
        <p:spPr>
          <a:xfrm>
            <a:off x="7124700" y="1847850"/>
            <a:ext cx="1409700" cy="590550"/>
          </a:xfrm>
          <a:prstGeom prst="rect">
            <a:avLst/>
          </a:prstGeom>
          <a:solidFill>
            <a:srgbClr val="EFEEE7"/>
          </a:solidFill>
          <a:ln>
            <a:noFill/>
          </a:ln>
        </p:spPr>
      </p:sp>
      <p:sp>
        <p:nvSpPr>
          <p:cNvPr id="20" name="node5-t"/>
          <p:cNvSpPr txBox="1"/>
          <p:nvPr/>
        </p:nvSpPr>
        <p:spPr>
          <a:xfrm>
            <a:off x="7124700" y="1924050"/>
            <a:ext cx="1409700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p>
            <a:pPr algn="ctr">
              <a:lnSpc>
                <a:spcPct val="130000"/>
              </a:lnSpc>
            </a:pPr>
            <a:r>
              <a:rPr lang="en-US" sz="675" noProof="1">
                <a:solidFill>
                  <a:srgbClr val="C65A1E"/>
                </a:solidFill>
                <a:latin typeface="JetBrains Mono" panose="02000009000000000000"/>
                <a:ea typeface="JetBrains Mono" panose="02000009000000000000"/>
              </a:rPr>
              <a:t>05</a:t>
            </a:r>
            <a:endParaRPr lang="en-US" sz="1200" noProof="1"/>
          </a:p>
          <a:p>
            <a:pPr algn="ctr">
              <a:lnSpc>
                <a:spcPct val="130000"/>
              </a:lnSpc>
            </a:pPr>
            <a:r>
              <a:rPr lang="en-US" sz="90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AI 复盘报告</a:t>
            </a:r>
            <a:endParaRPr lang="en-US" sz="1200" noProof="1"/>
          </a:p>
          <a:p>
            <a:pPr algn="ctr">
              <a:lnSpc>
                <a:spcPct val="130000"/>
              </a:lnSpc>
            </a:pPr>
            <a:r>
              <a:rPr lang="en-US" sz="67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经验值结算</a:t>
            </a:r>
            <a:endParaRPr lang="en-US" sz="1200" noProof="1"/>
          </a:p>
        </p:txBody>
      </p:sp>
      <p:sp>
        <p:nvSpPr>
          <p:cNvPr id="21" name="journey-note"/>
          <p:cNvSpPr txBox="1"/>
          <p:nvPr/>
        </p:nvSpPr>
        <p:spPr>
          <a:xfrm>
            <a:off x="609600" y="2552700"/>
            <a:ext cx="7924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5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四大被测模块覆盖「登录 → 出题 → 答题 → 复盘」完整用户旅程，包含全部对外安全边界</a:t>
            </a:r>
            <a:endParaRPr lang="en-US" sz="750" noProof="1"/>
          </a:p>
        </p:txBody>
      </p:sp>
      <p:sp>
        <p:nvSpPr>
          <p:cNvPr id="22" name="mod-label"/>
          <p:cNvSpPr txBox="1"/>
          <p:nvPr/>
        </p:nvSpPr>
        <p:spPr>
          <a:xfrm>
            <a:off x="609600" y="2800350"/>
            <a:ext cx="2286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1E4E5F"/>
                </a:solidFill>
                <a:latin typeface="MiSans" charset="-122"/>
                <a:ea typeface="MiSans" charset="-122"/>
              </a:rPr>
              <a:t>四大核心功能模块（被测范围）</a:t>
            </a:r>
            <a:endParaRPr lang="en-US" sz="975" noProof="1"/>
          </a:p>
        </p:txBody>
      </p:sp>
      <p:graphicFrame>
        <p:nvGraphicFramePr>
          <p:cNvPr id="23" name="mod-table"/>
          <p:cNvGraphicFramePr>
            <a:graphicFrameLocks noGrp="1"/>
          </p:cNvGraphicFramePr>
          <p:nvPr/>
        </p:nvGraphicFramePr>
        <p:xfrm>
          <a:off x="609600" y="3028950"/>
          <a:ext cx="7924800" cy="1638300"/>
        </p:xfrm>
        <a:graphic>
          <a:graphicData uri="http://schemas.openxmlformats.org/drawingml/2006/table">
            <a:tbl>
              <a:tblPr/>
              <a:tblGrid>
                <a:gridCol w="1426210"/>
                <a:gridCol w="2932430"/>
                <a:gridCol w="3566160"/>
              </a:tblGrid>
              <a:tr h="262255"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9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功能模块</a:t>
                      </a:r>
                      <a:endParaRPr lang="en-US" sz="79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1E4E5F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9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核心文件</a:t>
                      </a:r>
                      <a:endParaRPr lang="en-US" sz="79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1E4E5F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9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承担职责</a:t>
                      </a:r>
                      <a:endParaRPr lang="en-US" sz="79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1E4E5F"/>
                    </a:solidFill>
                  </a:tcPr>
                </a:tc>
              </a:tr>
              <a:tr h="344170"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90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出题与计分</a:t>
                      </a:r>
                      <a:endParaRPr lang="en-US" sz="790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675" noProof="1">
                          <a:solidFill>
                            <a:srgbClr val="232830"/>
                          </a:solidFill>
                          <a:latin typeface="JetBrains Mono" panose="02000009000000000000"/>
                          <a:ea typeface="JetBrains Mono" panose="02000009000000000000"/>
                        </a:rPr>
                        <a:t>quiz_service.py · quiz_repository.py · scoring_service.py</a:t>
                      </a:r>
                      <a:endParaRPr lang="en-US" sz="675" noProof="1">
                        <a:solidFill>
                          <a:srgbClr val="232830"/>
                        </a:solidFill>
                        <a:latin typeface="JetBrains Mono" panose="02000009000000000000"/>
                        <a:ea typeface="JetBrains Mono" panose="0200000900000000000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90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出题请求校验、LLM 调用、异步任务与正误判分</a:t>
                      </a:r>
                      <a:endParaRPr lang="en-US" sz="790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90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RAG 知识库</a:t>
                      </a:r>
                      <a:endParaRPr lang="en-US" sz="790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675" noProof="1">
                          <a:solidFill>
                            <a:srgbClr val="232830"/>
                          </a:solidFill>
                          <a:latin typeface="JetBrains Mono" panose="02000009000000000000"/>
                          <a:ea typeface="JetBrains Mono" panose="02000009000000000000"/>
                        </a:rPr>
                        <a:t>knowledge_service.py · rag_service.py</a:t>
                      </a:r>
                      <a:endParaRPr lang="en-US" sz="675" noProof="1">
                        <a:solidFill>
                          <a:srgbClr val="232830"/>
                        </a:solidFill>
                        <a:latin typeface="JetBrains Mono" panose="02000009000000000000"/>
                        <a:ea typeface="JetBrains Mono" panose="0200000900000000000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90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文档上传、向量化与检索增强出题</a:t>
                      </a:r>
                      <a:endParaRPr lang="en-US" sz="790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EFEEE7"/>
                    </a:solidFill>
                  </a:tcPr>
                </a:tc>
              </a:tr>
              <a:tr h="344805"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90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复盘报告</a:t>
                      </a:r>
                      <a:endParaRPr lang="en-US" sz="790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675" noProof="1">
                          <a:solidFill>
                            <a:srgbClr val="232830"/>
                          </a:solidFill>
                          <a:latin typeface="JetBrains Mono" panose="02000009000000000000"/>
                          <a:ea typeface="JetBrains Mono" panose="02000009000000000000"/>
                        </a:rPr>
                        <a:t>report_service.py</a:t>
                      </a:r>
                      <a:endParaRPr lang="en-US" sz="675" noProof="1">
                        <a:solidFill>
                          <a:srgbClr val="232830"/>
                        </a:solidFill>
                        <a:latin typeface="JetBrains Mono" panose="02000009000000000000"/>
                        <a:ea typeface="JetBrains Mono" panose="0200000900000000000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90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基于答题记录生成 AI 学习报告</a:t>
                      </a:r>
                      <a:endParaRPr lang="en-US" sz="790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3535"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90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用户模块</a:t>
                      </a:r>
                      <a:endParaRPr lang="en-US" sz="790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675" noProof="1">
                          <a:solidFill>
                            <a:srgbClr val="232830"/>
                          </a:solidFill>
                          <a:latin typeface="JetBrains Mono" panose="02000009000000000000"/>
                          <a:ea typeface="JetBrains Mono" panose="02000009000000000000"/>
                        </a:rPr>
                        <a:t>user_service.py · user.py</a:t>
                      </a:r>
                      <a:endParaRPr lang="en-US" sz="675" noProof="1">
                        <a:solidFill>
                          <a:srgbClr val="232830"/>
                        </a:solidFill>
                        <a:latin typeface="JetBrains Mono" panose="02000009000000000000"/>
                        <a:ea typeface="JetBrains Mono" panose="0200000900000000000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90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微信登录、JWT 鉴权与用户档案维护</a:t>
                      </a:r>
                      <a:endParaRPr lang="en-US" sz="790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EFEEE7"/>
                    </a:solidFill>
                  </a:tcPr>
                </a:tc>
              </a:tr>
            </a:tbl>
          </a:graphicData>
        </a:graphic>
      </p:graphicFrame>
      <p:sp>
        <p:nvSpPr>
          <p:cNvPr id="24" name="foot-line"/>
          <p:cNvSpPr/>
          <p:nvPr/>
        </p:nvSpPr>
        <p:spPr>
          <a:xfrm>
            <a:off x="609600" y="4838700"/>
            <a:ext cx="79248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ag"/>
          <p:cNvSpPr txBox="1"/>
          <p:nvPr/>
        </p:nvSpPr>
        <p:spPr>
          <a:xfrm>
            <a:off x="609600" y="323850"/>
            <a:ext cx="2857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825" b="1" kern="0" spc="200" noProof="1">
                <a:solidFill>
                  <a:srgbClr val="C65A1E"/>
                </a:solidFill>
                <a:latin typeface="MiSans" charset="-122"/>
                <a:ea typeface="MiSans" charset="-122"/>
              </a:rPr>
              <a:t>01 · 被测对象</a:t>
            </a:r>
            <a:endParaRPr lang="en-US" sz="825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14350"/>
            <a:ext cx="7924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232830"/>
                </a:solidFill>
                <a:latin typeface="Sarasa UI SC" panose="02000500000000000000" charset="-122"/>
                <a:ea typeface="Sarasa UI SC" panose="02000500000000000000" charset="-122"/>
              </a:rPr>
              <a:t>系统架构与测试边界：后端四大模块为被测核心</a:t>
            </a:r>
            <a:endParaRPr lang="en-US" noProof="1"/>
          </a:p>
        </p:txBody>
      </p:sp>
      <p:sp>
        <p:nvSpPr>
          <p:cNvPr id="4" name="bar"/>
          <p:cNvSpPr/>
          <p:nvPr/>
        </p:nvSpPr>
        <p:spPr>
          <a:xfrm>
            <a:off x="609600" y="933450"/>
            <a:ext cx="342900" cy="28575"/>
          </a:xfrm>
          <a:prstGeom prst="rect">
            <a:avLst/>
          </a:prstGeom>
          <a:solidFill>
            <a:srgbClr val="C65A1E"/>
          </a:solidFill>
          <a:ln>
            <a:noFill/>
          </a:ln>
        </p:spPr>
      </p:sp>
      <p:sp>
        <p:nvSpPr>
          <p:cNvPr id="5" name="fe-box"/>
          <p:cNvSpPr/>
          <p:nvPr/>
        </p:nvSpPr>
        <p:spPr>
          <a:xfrm>
            <a:off x="609600" y="1447800"/>
            <a:ext cx="1714500" cy="11811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E5F"/>
            </a:solidFill>
          </a:ln>
        </p:spPr>
      </p:sp>
      <p:sp>
        <p:nvSpPr>
          <p:cNvPr id="6" name="fe-text"/>
          <p:cNvSpPr txBox="1"/>
          <p:nvPr/>
        </p:nvSpPr>
        <p:spPr>
          <a:xfrm>
            <a:off x="723900" y="1543050"/>
            <a:ext cx="14859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0000"/>
              </a:lnSpc>
            </a:pPr>
            <a:r>
              <a:rPr lang="en-US" sz="79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微信小程序前端</a:t>
            </a:r>
            <a:endParaRPr lang="en-US" sz="790" noProof="1"/>
          </a:p>
          <a:p>
            <a:pPr>
              <a:lnSpc>
                <a:spcPct val="150000"/>
              </a:lnSpc>
            </a:pPr>
            <a:r>
              <a:rPr lang="en-US" sz="71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Taro 4 + React</a:t>
            </a:r>
            <a:endParaRPr lang="en-US" sz="790" noProof="1"/>
          </a:p>
          <a:p>
            <a:pPr>
              <a:lnSpc>
                <a:spcPct val="150000"/>
              </a:lnSpc>
            </a:pPr>
            <a:r>
              <a:rPr lang="en-US" sz="71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TypeScript</a:t>
            </a:r>
            <a:endParaRPr lang="en-US" sz="790" noProof="1"/>
          </a:p>
          <a:p>
            <a:pPr>
              <a:lnSpc>
                <a:spcPct val="150000"/>
              </a:lnSpc>
            </a:pPr>
            <a:r>
              <a:rPr lang="en-US" sz="71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微信开发者工具调试</a:t>
            </a:r>
            <a:endParaRPr lang="en-US" sz="790" noProof="1"/>
          </a:p>
        </p:txBody>
      </p:sp>
      <p:sp>
        <p:nvSpPr>
          <p:cNvPr id="7" name="fe-label"/>
          <p:cNvSpPr txBox="1"/>
          <p:nvPr/>
        </p:nvSpPr>
        <p:spPr>
          <a:xfrm>
            <a:off x="609600" y="1257300"/>
            <a:ext cx="1714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50" b="1" noProof="1">
                <a:solidFill>
                  <a:srgbClr val="66707A"/>
                </a:solidFill>
                <a:latin typeface="MiSans" charset="-122"/>
                <a:ea typeface="MiSans" charset="-122"/>
              </a:rPr>
              <a:t>客户端</a:t>
            </a:r>
            <a:endParaRPr lang="en-US" sz="750" noProof="1"/>
          </a:p>
        </p:txBody>
      </p:sp>
      <p:sp>
        <p:nvSpPr>
          <p:cNvPr id="8" name="fe-arrow"/>
          <p:cNvSpPr/>
          <p:nvPr/>
        </p:nvSpPr>
        <p:spPr>
          <a:xfrm>
            <a:off x="2343150" y="1981200"/>
            <a:ext cx="590550" cy="9525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 cap="rnd">
            <a:solidFill>
              <a:srgbClr val="232830"/>
            </a:solidFill>
            <a:round/>
            <a:tailEnd type="arrow"/>
          </a:ln>
        </p:spPr>
      </p:sp>
      <p:sp>
        <p:nvSpPr>
          <p:cNvPr id="9" name="fe-arrow-label"/>
          <p:cNvSpPr txBox="1"/>
          <p:nvPr/>
        </p:nvSpPr>
        <p:spPr>
          <a:xfrm>
            <a:off x="2286000" y="1809750"/>
            <a:ext cx="70485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p>
            <a:pPr algn="ctr">
              <a:lnSpc>
                <a:spcPct val="120000"/>
              </a:lnSpc>
            </a:pPr>
            <a:r>
              <a:rPr lang="en-US" sz="67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HTTP · JWT</a:t>
            </a:r>
            <a:endParaRPr lang="en-US" sz="675" noProof="1"/>
          </a:p>
        </p:txBody>
      </p:sp>
      <p:sp>
        <p:nvSpPr>
          <p:cNvPr id="10" name="env-label"/>
          <p:cNvSpPr txBox="1"/>
          <p:nvPr/>
        </p:nvSpPr>
        <p:spPr>
          <a:xfrm>
            <a:off x="609600" y="2857500"/>
            <a:ext cx="17145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50" b="1" noProof="1">
                <a:solidFill>
                  <a:srgbClr val="66707A"/>
                </a:solidFill>
                <a:latin typeface="MiSans" charset="-122"/>
                <a:ea typeface="MiSans" charset="-122"/>
              </a:rPr>
              <a:t>运行环境</a:t>
            </a:r>
            <a:endParaRPr lang="en-US" sz="750" noProof="1"/>
          </a:p>
        </p:txBody>
      </p:sp>
      <p:sp>
        <p:nvSpPr>
          <p:cNvPr id="11" name="env-text"/>
          <p:cNvSpPr txBox="1"/>
          <p:nvPr/>
        </p:nvSpPr>
        <p:spPr>
          <a:xfrm>
            <a:off x="609600" y="3028950"/>
            <a:ext cx="1714500" cy="1047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5000"/>
              </a:lnSpc>
            </a:pPr>
            <a:r>
              <a:rPr lang="en-US" sz="71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CPU AMD Ryzen 7 8745H</a:t>
            </a:r>
            <a:endParaRPr lang="en-US" sz="715" noProof="1"/>
          </a:p>
          <a:p>
            <a:pPr>
              <a:lnSpc>
                <a:spcPct val="155000"/>
              </a:lnSpc>
            </a:pPr>
            <a:r>
              <a:rPr lang="en-US" sz="71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内存 24GB · Windows 11</a:t>
            </a:r>
            <a:endParaRPr lang="en-US" sz="715" noProof="1"/>
          </a:p>
          <a:p>
            <a:pPr>
              <a:lnSpc>
                <a:spcPct val="155000"/>
              </a:lnSpc>
            </a:pPr>
            <a:r>
              <a:rPr lang="en-US" sz="71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后端 Python 3.11 虚拟环境</a:t>
            </a:r>
            <a:endParaRPr lang="en-US" sz="715" noProof="1"/>
          </a:p>
          <a:p>
            <a:pPr>
              <a:lnSpc>
                <a:spcPct val="155000"/>
              </a:lnSpc>
            </a:pPr>
            <a:r>
              <a:rPr lang="en-US" sz="71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开发平台 VSCode</a:t>
            </a:r>
            <a:endParaRPr lang="en-US" sz="715" noProof="1"/>
          </a:p>
          <a:p>
            <a:pPr>
              <a:lnSpc>
                <a:spcPct val="155000"/>
              </a:lnSpc>
            </a:pPr>
            <a:r>
              <a:rPr lang="en-US" sz="71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测试代码 pytest 一键运行</a:t>
            </a:r>
            <a:endParaRPr lang="en-US" sz="715" noProof="1"/>
          </a:p>
        </p:txBody>
      </p:sp>
      <p:sp>
        <p:nvSpPr>
          <p:cNvPr id="12" name="be-boundary"/>
          <p:cNvSpPr/>
          <p:nvPr/>
        </p:nvSpPr>
        <p:spPr>
          <a:xfrm>
            <a:off x="2971800" y="1257300"/>
            <a:ext cx="3086100" cy="2590800"/>
          </a:xfrm>
          <a:prstGeom prst="rect">
            <a:avLst/>
          </a:prstGeom>
          <a:noFill/>
          <a:ln w="19050">
            <a:solidFill>
              <a:srgbClr val="C65A1E"/>
            </a:solidFill>
            <a:prstDash val="dash"/>
          </a:ln>
        </p:spPr>
      </p:sp>
      <p:sp>
        <p:nvSpPr>
          <p:cNvPr id="13" name="be-label"/>
          <p:cNvSpPr txBox="1"/>
          <p:nvPr/>
        </p:nvSpPr>
        <p:spPr>
          <a:xfrm>
            <a:off x="2971800" y="1066800"/>
            <a:ext cx="30861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50" b="1" noProof="1">
                <a:solidFill>
                  <a:srgbClr val="C65A1E"/>
                </a:solidFill>
                <a:latin typeface="MiSans" charset="-122"/>
                <a:ea typeface="MiSans" charset="-122"/>
              </a:rPr>
              <a:t>测试边界 · FastAPI 后端（Python 3.11）</a:t>
            </a:r>
            <a:endParaRPr lang="en-US" sz="750" noProof="1"/>
          </a:p>
        </p:txBody>
      </p:sp>
      <p:sp>
        <p:nvSpPr>
          <p:cNvPr id="14" name="m1"/>
          <p:cNvSpPr/>
          <p:nvPr/>
        </p:nvSpPr>
        <p:spPr>
          <a:xfrm>
            <a:off x="3124200" y="1352550"/>
            <a:ext cx="2781300" cy="533400"/>
          </a:xfrm>
          <a:prstGeom prst="rect">
            <a:avLst/>
          </a:prstGeom>
          <a:solidFill>
            <a:srgbClr val="EFEEE7"/>
          </a:solidFill>
          <a:ln>
            <a:noFill/>
          </a:ln>
        </p:spPr>
      </p:sp>
      <p:sp>
        <p:nvSpPr>
          <p:cNvPr id="15" name="m1-t"/>
          <p:cNvSpPr txBox="1"/>
          <p:nvPr/>
        </p:nvSpPr>
        <p:spPr>
          <a:xfrm>
            <a:off x="3238500" y="1428750"/>
            <a:ext cx="25527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35000"/>
              </a:lnSpc>
            </a:pPr>
            <a:r>
              <a:rPr lang="en-US" sz="825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出题与计分模块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640" noProof="1">
                <a:solidFill>
                  <a:srgbClr val="66707A"/>
                </a:solidFill>
                <a:latin typeface="JetBrains Mono" panose="02000009000000000000"/>
                <a:ea typeface="JetBrains Mono" panose="02000009000000000000"/>
              </a:rPr>
              <a:t>quiz_service · quiz_repository · scoring_service</a:t>
            </a:r>
            <a:endParaRPr lang="en-US" sz="1200" noProof="1"/>
          </a:p>
        </p:txBody>
      </p:sp>
      <p:sp>
        <p:nvSpPr>
          <p:cNvPr id="16" name="m2"/>
          <p:cNvSpPr/>
          <p:nvPr/>
        </p:nvSpPr>
        <p:spPr>
          <a:xfrm>
            <a:off x="3124200" y="1962150"/>
            <a:ext cx="2781300" cy="533400"/>
          </a:xfrm>
          <a:prstGeom prst="rect">
            <a:avLst/>
          </a:prstGeom>
          <a:solidFill>
            <a:srgbClr val="EFEEE7"/>
          </a:solidFill>
          <a:ln>
            <a:noFill/>
          </a:ln>
        </p:spPr>
      </p:sp>
      <p:sp>
        <p:nvSpPr>
          <p:cNvPr id="17" name="m2-t"/>
          <p:cNvSpPr txBox="1"/>
          <p:nvPr/>
        </p:nvSpPr>
        <p:spPr>
          <a:xfrm>
            <a:off x="3238500" y="2038350"/>
            <a:ext cx="25527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35000"/>
              </a:lnSpc>
            </a:pPr>
            <a:r>
              <a:rPr lang="en-US" sz="825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RAG 知识库模块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640" noProof="1">
                <a:solidFill>
                  <a:srgbClr val="66707A"/>
                </a:solidFill>
                <a:latin typeface="JetBrains Mono" panose="02000009000000000000"/>
                <a:ea typeface="JetBrains Mono" panose="02000009000000000000"/>
              </a:rPr>
              <a:t>knowledge_service · rag_service</a:t>
            </a:r>
            <a:endParaRPr lang="en-US" sz="1200" noProof="1"/>
          </a:p>
        </p:txBody>
      </p:sp>
      <p:sp>
        <p:nvSpPr>
          <p:cNvPr id="18" name="m3"/>
          <p:cNvSpPr/>
          <p:nvPr/>
        </p:nvSpPr>
        <p:spPr>
          <a:xfrm>
            <a:off x="3124200" y="2571750"/>
            <a:ext cx="2781300" cy="533400"/>
          </a:xfrm>
          <a:prstGeom prst="rect">
            <a:avLst/>
          </a:prstGeom>
          <a:solidFill>
            <a:srgbClr val="EFEEE7"/>
          </a:solidFill>
          <a:ln>
            <a:noFill/>
          </a:ln>
        </p:spPr>
      </p:sp>
      <p:sp>
        <p:nvSpPr>
          <p:cNvPr id="19" name="m3-t"/>
          <p:cNvSpPr txBox="1"/>
          <p:nvPr/>
        </p:nvSpPr>
        <p:spPr>
          <a:xfrm>
            <a:off x="3238500" y="2647950"/>
            <a:ext cx="25527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35000"/>
              </a:lnSpc>
            </a:pPr>
            <a:r>
              <a:rPr lang="en-US" sz="825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复盘报告模块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640" noProof="1">
                <a:solidFill>
                  <a:srgbClr val="66707A"/>
                </a:solidFill>
                <a:latin typeface="JetBrains Mono" panose="02000009000000000000"/>
                <a:ea typeface="JetBrains Mono" panose="02000009000000000000"/>
              </a:rPr>
              <a:t>report_service</a:t>
            </a:r>
            <a:endParaRPr lang="en-US" sz="1200" noProof="1"/>
          </a:p>
        </p:txBody>
      </p:sp>
      <p:sp>
        <p:nvSpPr>
          <p:cNvPr id="20" name="m4"/>
          <p:cNvSpPr/>
          <p:nvPr/>
        </p:nvSpPr>
        <p:spPr>
          <a:xfrm>
            <a:off x="3124200" y="3181350"/>
            <a:ext cx="2781300" cy="533400"/>
          </a:xfrm>
          <a:prstGeom prst="rect">
            <a:avLst/>
          </a:prstGeom>
          <a:solidFill>
            <a:srgbClr val="EFEEE7"/>
          </a:solidFill>
          <a:ln>
            <a:noFill/>
          </a:ln>
        </p:spPr>
      </p:sp>
      <p:sp>
        <p:nvSpPr>
          <p:cNvPr id="21" name="m4-t"/>
          <p:cNvSpPr txBox="1"/>
          <p:nvPr/>
        </p:nvSpPr>
        <p:spPr>
          <a:xfrm>
            <a:off x="3238500" y="3257550"/>
            <a:ext cx="25527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35000"/>
              </a:lnSpc>
            </a:pPr>
            <a:r>
              <a:rPr lang="en-US" sz="825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用户模块（登录 · 鉴权 · 档案）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640" noProof="1">
                <a:solidFill>
                  <a:srgbClr val="66707A"/>
                </a:solidFill>
                <a:latin typeface="JetBrains Mono" panose="02000009000000000000"/>
                <a:ea typeface="JetBrains Mono" panose="02000009000000000000"/>
              </a:rPr>
              <a:t>user_service · user</a:t>
            </a:r>
            <a:endParaRPr lang="en-US" sz="1200" noProof="1"/>
          </a:p>
        </p:txBody>
      </p:sp>
      <p:sp>
        <p:nvSpPr>
          <p:cNvPr id="22" name="db-arrow"/>
          <p:cNvSpPr/>
          <p:nvPr/>
        </p:nvSpPr>
        <p:spPr>
          <a:xfrm>
            <a:off x="4457700" y="386715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0"/>
                </a:moveTo>
                <a:lnTo>
                  <a:pt x="1" y="1"/>
                </a:lnTo>
              </a:path>
            </a:pathLst>
          </a:custGeom>
          <a:noFill/>
          <a:ln w="12700" cap="rnd">
            <a:solidFill>
              <a:srgbClr val="66707A"/>
            </a:solidFill>
            <a:prstDash val="dash"/>
            <a:round/>
            <a:tailEnd type="arrow"/>
          </a:ln>
        </p:spPr>
      </p:sp>
      <p:sp>
        <p:nvSpPr>
          <p:cNvPr id="23" name="db-box"/>
          <p:cNvSpPr/>
          <p:nvPr/>
        </p:nvSpPr>
        <p:spPr>
          <a:xfrm>
            <a:off x="2971800" y="4038600"/>
            <a:ext cx="30861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</a:ln>
        </p:spPr>
      </p:sp>
      <p:sp>
        <p:nvSpPr>
          <p:cNvPr id="24" name="db-text"/>
          <p:cNvSpPr txBox="1"/>
          <p:nvPr/>
        </p:nvSpPr>
        <p:spPr>
          <a:xfrm>
            <a:off x="3086100" y="4095750"/>
            <a:ext cx="2857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0000"/>
              </a:lnSpc>
            </a:pPr>
            <a:r>
              <a:rPr lang="en-US" sz="75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数据存储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67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MySQL 8.0 业务数据 · Chroma 知识库向量</a:t>
            </a:r>
            <a:endParaRPr lang="en-US" sz="1200" noProof="1"/>
          </a:p>
        </p:txBody>
      </p:sp>
      <p:sp>
        <p:nvSpPr>
          <p:cNvPr id="25" name="svc-label"/>
          <p:cNvSpPr txBox="1"/>
          <p:nvPr/>
        </p:nvSpPr>
        <p:spPr>
          <a:xfrm>
            <a:off x="6667500" y="1066800"/>
            <a:ext cx="1866900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50" b="1" noProof="1">
                <a:solidFill>
                  <a:srgbClr val="66707A"/>
                </a:solidFill>
                <a:latin typeface="MiSans" charset="-122"/>
                <a:ea typeface="MiSans" charset="-122"/>
              </a:rPr>
              <a:t>第三方服务（测试中隔离）</a:t>
            </a:r>
            <a:endParaRPr lang="en-US" sz="750" noProof="1"/>
          </a:p>
        </p:txBody>
      </p:sp>
      <p:sp>
        <p:nvSpPr>
          <p:cNvPr id="26" name="svc1-arrow"/>
          <p:cNvSpPr/>
          <p:nvPr/>
        </p:nvSpPr>
        <p:spPr>
          <a:xfrm>
            <a:off x="6076950" y="1447800"/>
            <a:ext cx="571500" cy="9525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2700" cap="rnd">
            <a:solidFill>
              <a:srgbClr val="66707A"/>
            </a:solidFill>
            <a:prstDash val="dash"/>
            <a:round/>
            <a:tailEnd type="arrow"/>
          </a:ln>
        </p:spPr>
      </p:sp>
      <p:sp>
        <p:nvSpPr>
          <p:cNvPr id="27" name="svc1"/>
          <p:cNvSpPr/>
          <p:nvPr/>
        </p:nvSpPr>
        <p:spPr>
          <a:xfrm>
            <a:off x="6667500" y="1257300"/>
            <a:ext cx="18669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</a:ln>
        </p:spPr>
      </p:sp>
      <p:sp>
        <p:nvSpPr>
          <p:cNvPr id="28" name="svc1-t"/>
          <p:cNvSpPr txBox="1"/>
          <p:nvPr/>
        </p:nvSpPr>
        <p:spPr>
          <a:xfrm>
            <a:off x="6781800" y="1314450"/>
            <a:ext cx="16383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0000"/>
              </a:lnSpc>
            </a:pPr>
            <a:r>
              <a:rPr lang="en-US" sz="75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DeepSeek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67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AI 出题 / 复盘报告</a:t>
            </a:r>
            <a:endParaRPr lang="en-US" sz="1200" noProof="1"/>
          </a:p>
        </p:txBody>
      </p:sp>
      <p:sp>
        <p:nvSpPr>
          <p:cNvPr id="29" name="svc2-arrow"/>
          <p:cNvSpPr/>
          <p:nvPr/>
        </p:nvSpPr>
        <p:spPr>
          <a:xfrm>
            <a:off x="6076950" y="2057400"/>
            <a:ext cx="571500" cy="9525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2700" cap="rnd">
            <a:solidFill>
              <a:srgbClr val="66707A"/>
            </a:solidFill>
            <a:prstDash val="dash"/>
            <a:round/>
            <a:tailEnd type="arrow"/>
          </a:ln>
        </p:spPr>
      </p:sp>
      <p:sp>
        <p:nvSpPr>
          <p:cNvPr id="30" name="svc2"/>
          <p:cNvSpPr/>
          <p:nvPr/>
        </p:nvSpPr>
        <p:spPr>
          <a:xfrm>
            <a:off x="6667500" y="1866900"/>
            <a:ext cx="18669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</a:ln>
        </p:spPr>
      </p:sp>
      <p:sp>
        <p:nvSpPr>
          <p:cNvPr id="31" name="svc2-t"/>
          <p:cNvSpPr txBox="1"/>
          <p:nvPr/>
        </p:nvSpPr>
        <p:spPr>
          <a:xfrm>
            <a:off x="6781800" y="1924050"/>
            <a:ext cx="16383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0000"/>
              </a:lnSpc>
            </a:pPr>
            <a:r>
              <a:rPr lang="en-US" sz="75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阿里云百炼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67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Embedding / 生图</a:t>
            </a:r>
            <a:endParaRPr lang="en-US" sz="1200" noProof="1"/>
          </a:p>
        </p:txBody>
      </p:sp>
      <p:sp>
        <p:nvSpPr>
          <p:cNvPr id="32" name="svc3-arrow"/>
          <p:cNvSpPr/>
          <p:nvPr/>
        </p:nvSpPr>
        <p:spPr>
          <a:xfrm>
            <a:off x="6076950" y="2667000"/>
            <a:ext cx="571500" cy="9525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2700" cap="rnd">
            <a:solidFill>
              <a:srgbClr val="66707A"/>
            </a:solidFill>
            <a:prstDash val="dash"/>
            <a:round/>
            <a:tailEnd type="arrow"/>
          </a:ln>
        </p:spPr>
      </p:sp>
      <p:sp>
        <p:nvSpPr>
          <p:cNvPr id="33" name="svc3"/>
          <p:cNvSpPr/>
          <p:nvPr/>
        </p:nvSpPr>
        <p:spPr>
          <a:xfrm>
            <a:off x="6667500" y="2476500"/>
            <a:ext cx="18669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</a:ln>
        </p:spPr>
      </p:sp>
      <p:sp>
        <p:nvSpPr>
          <p:cNvPr id="34" name="svc3-t"/>
          <p:cNvSpPr txBox="1"/>
          <p:nvPr/>
        </p:nvSpPr>
        <p:spPr>
          <a:xfrm>
            <a:off x="6781800" y="2533650"/>
            <a:ext cx="16383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0000"/>
              </a:lnSpc>
            </a:pPr>
            <a:r>
              <a:rPr lang="en-US" sz="75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Tavily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67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联网搜索（可选）</a:t>
            </a:r>
            <a:endParaRPr lang="en-US" sz="1200" noProof="1"/>
          </a:p>
        </p:txBody>
      </p:sp>
      <p:sp>
        <p:nvSpPr>
          <p:cNvPr id="35" name="svc4-arrow"/>
          <p:cNvSpPr/>
          <p:nvPr/>
        </p:nvSpPr>
        <p:spPr>
          <a:xfrm>
            <a:off x="6076950" y="3276600"/>
            <a:ext cx="571500" cy="9525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2700" cap="rnd">
            <a:solidFill>
              <a:srgbClr val="66707A"/>
            </a:solidFill>
            <a:prstDash val="dash"/>
            <a:round/>
            <a:tailEnd type="arrow"/>
          </a:ln>
        </p:spPr>
      </p:sp>
      <p:sp>
        <p:nvSpPr>
          <p:cNvPr id="36" name="svc4"/>
          <p:cNvSpPr/>
          <p:nvPr/>
        </p:nvSpPr>
        <p:spPr>
          <a:xfrm>
            <a:off x="6667500" y="3086100"/>
            <a:ext cx="18669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</a:ln>
        </p:spPr>
      </p:sp>
      <p:sp>
        <p:nvSpPr>
          <p:cNvPr id="37" name="svc4-t"/>
          <p:cNvSpPr txBox="1"/>
          <p:nvPr/>
        </p:nvSpPr>
        <p:spPr>
          <a:xfrm>
            <a:off x="6781800" y="3143250"/>
            <a:ext cx="16383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0000"/>
              </a:lnSpc>
            </a:pPr>
            <a:r>
              <a:rPr lang="en-US" sz="75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腾讯云 COS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67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配图存储（可选）</a:t>
            </a:r>
            <a:endParaRPr lang="en-US" sz="1200" noProof="1"/>
          </a:p>
        </p:txBody>
      </p:sp>
      <p:sp>
        <p:nvSpPr>
          <p:cNvPr id="38" name="note"/>
          <p:cNvSpPr txBox="1"/>
          <p:nvPr/>
        </p:nvSpPr>
        <p:spPr>
          <a:xfrm>
            <a:off x="609600" y="4572000"/>
            <a:ext cx="7924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5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测试不连接真实 MySQL 与外部服务：数据库及 LLM、Tavily、DashScope、Chroma、COS 均经 monkeypatch 替换，JWT 由用例内直接生成</a:t>
            </a:r>
            <a:endParaRPr lang="en-US" sz="750" noProof="1"/>
          </a:p>
        </p:txBody>
      </p:sp>
      <p:sp>
        <p:nvSpPr>
          <p:cNvPr id="39" name="foot-line"/>
          <p:cNvSpPr/>
          <p:nvPr/>
        </p:nvSpPr>
        <p:spPr>
          <a:xfrm>
            <a:off x="609600" y="4838700"/>
            <a:ext cx="79248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ag"/>
          <p:cNvSpPr txBox="1"/>
          <p:nvPr/>
        </p:nvSpPr>
        <p:spPr>
          <a:xfrm>
            <a:off x="609600" y="323850"/>
            <a:ext cx="2857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825" b="1" kern="0" spc="200" noProof="1">
                <a:solidFill>
                  <a:srgbClr val="C65A1E"/>
                </a:solidFill>
                <a:latin typeface="MiSans" charset="-122"/>
                <a:ea typeface="MiSans" charset="-122"/>
              </a:rPr>
              <a:t>02 · 测试策略</a:t>
            </a:r>
            <a:endParaRPr lang="en-US" sz="825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14350"/>
            <a:ext cx="7924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232830"/>
                </a:solidFill>
                <a:latin typeface="Sarasa UI SC" panose="02000500000000000000" charset="-122"/>
                <a:ea typeface="Sarasa UI SC" panose="02000500000000000000" charset="-122"/>
              </a:rPr>
              <a:t>以接口为分组单元：四类设计方法 × 全隔离执行环境</a:t>
            </a:r>
            <a:endParaRPr lang="en-US" noProof="1"/>
          </a:p>
        </p:txBody>
      </p:sp>
      <p:sp>
        <p:nvSpPr>
          <p:cNvPr id="4" name="bar"/>
          <p:cNvSpPr/>
          <p:nvPr/>
        </p:nvSpPr>
        <p:spPr>
          <a:xfrm>
            <a:off x="609600" y="933450"/>
            <a:ext cx="342900" cy="28575"/>
          </a:xfrm>
          <a:prstGeom prst="rect">
            <a:avLst/>
          </a:prstGeom>
          <a:solidFill>
            <a:srgbClr val="C65A1E"/>
          </a:solidFill>
          <a:ln>
            <a:noFill/>
          </a:ln>
        </p:spPr>
      </p:sp>
      <p:sp>
        <p:nvSpPr>
          <p:cNvPr id="5" name="left-label"/>
          <p:cNvSpPr txBox="1"/>
          <p:nvPr/>
        </p:nvSpPr>
        <p:spPr>
          <a:xfrm>
            <a:off x="609600" y="11239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1E4E5F"/>
                </a:solidFill>
                <a:latin typeface="MiSans" charset="-122"/>
                <a:ea typeface="MiSans" charset="-122"/>
              </a:rPr>
              <a:t>用例设计</a:t>
            </a:r>
            <a:endParaRPr lang="en-US" sz="975" noProof="1"/>
          </a:p>
        </p:txBody>
      </p:sp>
      <p:sp>
        <p:nvSpPr>
          <p:cNvPr id="6" name="left-scope"/>
          <p:cNvSpPr txBox="1"/>
          <p:nvPr/>
        </p:nvSpPr>
        <p:spPr>
          <a:xfrm>
            <a:off x="609600" y="1333500"/>
            <a:ext cx="3810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5000"/>
              </a:lnSpc>
            </a:pPr>
            <a:r>
              <a:rPr lang="en-US" sz="75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八类接口入口：健康检查 · 出题 · 异步任务 · RAG 知识库 · 复盘报告 · 用户档案 · 闯关历史 · 微信登录</a:t>
            </a:r>
            <a:endParaRPr lang="en-US" sz="750" noProof="1"/>
          </a:p>
        </p:txBody>
      </p:sp>
      <p:sp>
        <p:nvSpPr>
          <p:cNvPr id="7" name="m1-name"/>
          <p:cNvSpPr txBox="1"/>
          <p:nvPr/>
        </p:nvSpPr>
        <p:spPr>
          <a:xfrm>
            <a:off x="609600" y="173355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0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等价类划分</a:t>
            </a:r>
            <a:endParaRPr lang="en-US" sz="900" noProof="1"/>
          </a:p>
        </p:txBody>
      </p:sp>
      <p:sp>
        <p:nvSpPr>
          <p:cNvPr id="8" name="m1-desc"/>
          <p:cNvSpPr txBox="1"/>
          <p:nvPr/>
        </p:nvSpPr>
        <p:spPr>
          <a:xfrm>
            <a:off x="609600" y="192405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9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有效 / 无效输入分类覆盖，如 11 个敏感词全部拦截</a:t>
            </a:r>
            <a:endParaRPr lang="en-US" sz="790" noProof="1"/>
          </a:p>
        </p:txBody>
      </p:sp>
      <p:sp>
        <p:nvSpPr>
          <p:cNvPr id="9" name="m1-line"/>
          <p:cNvSpPr/>
          <p:nvPr/>
        </p:nvSpPr>
        <p:spPr>
          <a:xfrm>
            <a:off x="609600" y="2190750"/>
            <a:ext cx="38100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  <p:sp>
        <p:nvSpPr>
          <p:cNvPr id="10" name="m2-name"/>
          <p:cNvSpPr txBox="1"/>
          <p:nvPr/>
        </p:nvSpPr>
        <p:spPr>
          <a:xfrm>
            <a:off x="609600" y="23241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0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边界值分析</a:t>
            </a:r>
            <a:endParaRPr lang="en-US" sz="900" noProof="1"/>
          </a:p>
        </p:txBody>
      </p:sp>
      <p:sp>
        <p:nvSpPr>
          <p:cNvPr id="11" name="m2-desc"/>
          <p:cNvSpPr txBox="1"/>
          <p:nvPr/>
        </p:nvSpPr>
        <p:spPr>
          <a:xfrm>
            <a:off x="609600" y="25146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9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题目数量 2 / 3 / 10 / 11、空字符串等临界输入</a:t>
            </a:r>
            <a:endParaRPr lang="en-US" sz="790" noProof="1"/>
          </a:p>
        </p:txBody>
      </p:sp>
      <p:sp>
        <p:nvSpPr>
          <p:cNvPr id="12" name="m2-line"/>
          <p:cNvSpPr/>
          <p:nvPr/>
        </p:nvSpPr>
        <p:spPr>
          <a:xfrm>
            <a:off x="609600" y="2781300"/>
            <a:ext cx="38100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  <p:sp>
        <p:nvSpPr>
          <p:cNvPr id="13" name="m3-name"/>
          <p:cNvSpPr txBox="1"/>
          <p:nvPr/>
        </p:nvSpPr>
        <p:spPr>
          <a:xfrm>
            <a:off x="609600" y="291465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0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鉴权矩阵</a:t>
            </a:r>
            <a:endParaRPr lang="en-US" sz="900" noProof="1"/>
          </a:p>
        </p:txBody>
      </p:sp>
      <p:sp>
        <p:nvSpPr>
          <p:cNvPr id="14" name="m3-desc"/>
          <p:cNvSpPr txBox="1"/>
          <p:nvPr/>
        </p:nvSpPr>
        <p:spPr>
          <a:xfrm>
            <a:off x="609600" y="310515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9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游客 / 登录态 / 越权凭证等访问组合逐一验证</a:t>
            </a:r>
            <a:endParaRPr lang="en-US" sz="790" noProof="1"/>
          </a:p>
        </p:txBody>
      </p:sp>
      <p:sp>
        <p:nvSpPr>
          <p:cNvPr id="15" name="m3-line"/>
          <p:cNvSpPr/>
          <p:nvPr/>
        </p:nvSpPr>
        <p:spPr>
          <a:xfrm>
            <a:off x="609600" y="3371850"/>
            <a:ext cx="38100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  <p:sp>
        <p:nvSpPr>
          <p:cNvPr id="16" name="m4-name"/>
          <p:cNvSpPr txBox="1"/>
          <p:nvPr/>
        </p:nvSpPr>
        <p:spPr>
          <a:xfrm>
            <a:off x="609600" y="35052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0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稳定错误码校验</a:t>
            </a:r>
            <a:endParaRPr lang="en-US" sz="900" noProof="1"/>
          </a:p>
        </p:txBody>
      </p:sp>
      <p:sp>
        <p:nvSpPr>
          <p:cNvPr id="17" name="m4-desc"/>
          <p:cNvSpPr txBox="1"/>
          <p:nvPr/>
        </p:nvSpPr>
        <p:spPr>
          <a:xfrm>
            <a:off x="609600" y="3695700"/>
            <a:ext cx="381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9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HTTP 422 / 400 / 500 与业务 code（4000 / 4001 / 5001）精确匹配</a:t>
            </a:r>
            <a:endParaRPr lang="en-US" sz="790" noProof="1"/>
          </a:p>
        </p:txBody>
      </p:sp>
      <p:sp>
        <p:nvSpPr>
          <p:cNvPr id="18" name="m4-line"/>
          <p:cNvSpPr/>
          <p:nvPr/>
        </p:nvSpPr>
        <p:spPr>
          <a:xfrm>
            <a:off x="609600" y="3962400"/>
            <a:ext cx="38100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  <p:sp>
        <p:nvSpPr>
          <p:cNvPr id="19" name="mid-line"/>
          <p:cNvSpPr/>
          <p:nvPr/>
        </p:nvSpPr>
        <p:spPr>
          <a:xfrm>
            <a:off x="4686300" y="1123950"/>
            <a:ext cx="9525" cy="3543300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  <p:sp>
        <p:nvSpPr>
          <p:cNvPr id="20" name="right-label"/>
          <p:cNvSpPr txBox="1"/>
          <p:nvPr/>
        </p:nvSpPr>
        <p:spPr>
          <a:xfrm>
            <a:off x="4991100" y="11239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1E4E5F"/>
                </a:solidFill>
                <a:latin typeface="MiSans" charset="-122"/>
                <a:ea typeface="MiSans" charset="-122"/>
              </a:rPr>
              <a:t>执行与隔离</a:t>
            </a:r>
            <a:endParaRPr lang="en-US" sz="975" noProof="1"/>
          </a:p>
        </p:txBody>
      </p:sp>
      <p:sp>
        <p:nvSpPr>
          <p:cNvPr id="21" name="right-body"/>
          <p:cNvSpPr txBox="1"/>
          <p:nvPr/>
        </p:nvSpPr>
        <p:spPr>
          <a:xfrm>
            <a:off x="4991100" y="1352550"/>
            <a:ext cx="35433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65000"/>
              </a:lnSpc>
            </a:pPr>
            <a:r>
              <a:rPr lang="en-US" sz="79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· FastAPI TestClient 进程内直接调用应用，无需启动真实服务</a:t>
            </a:r>
            <a:endParaRPr lang="en-US" sz="790" noProof="1"/>
          </a:p>
          <a:p>
            <a:pPr>
              <a:lnSpc>
                <a:spcPct val="165000"/>
              </a:lnSpc>
            </a:pPr>
            <a:r>
              <a:rPr lang="en-US" sz="79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· monkeypatch 隔离 MySQL、LLM、Tavily、DashScope、Chroma、COS 全部外部依赖</a:t>
            </a:r>
            <a:endParaRPr lang="en-US" sz="790" noProof="1"/>
          </a:p>
          <a:p>
            <a:pPr>
              <a:lnSpc>
                <a:spcPct val="165000"/>
              </a:lnSpc>
            </a:pPr>
            <a:r>
              <a:rPr lang="en-US" sz="79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· JWT 由用例内 create_token 直接生成，无需账户、密码或 API 密钥</a:t>
            </a:r>
            <a:endParaRPr lang="en-US" sz="790" noProof="1"/>
          </a:p>
          <a:p>
            <a:pPr>
              <a:lnSpc>
                <a:spcPct val="165000"/>
              </a:lnSpc>
            </a:pPr>
            <a:r>
              <a:rPr lang="en-US" sz="79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· 无网络、无数据库环境下可重复运行</a:t>
            </a:r>
            <a:endParaRPr lang="en-US" sz="790" noProof="1"/>
          </a:p>
        </p:txBody>
      </p:sp>
      <p:sp>
        <p:nvSpPr>
          <p:cNvPr id="22" name="code-panel"/>
          <p:cNvSpPr/>
          <p:nvPr/>
        </p:nvSpPr>
        <p:spPr>
          <a:xfrm>
            <a:off x="4991100" y="2724150"/>
            <a:ext cx="3543300" cy="533400"/>
          </a:xfrm>
          <a:prstGeom prst="rect">
            <a:avLst/>
          </a:prstGeom>
          <a:solidFill>
            <a:srgbClr val="2B3038"/>
          </a:solidFill>
          <a:ln>
            <a:noFill/>
          </a:ln>
        </p:spPr>
      </p:sp>
      <p:sp>
        <p:nvSpPr>
          <p:cNvPr id="23" name="code-text"/>
          <p:cNvSpPr txBox="1"/>
          <p:nvPr/>
        </p:nvSpPr>
        <p:spPr>
          <a:xfrm>
            <a:off x="5143500" y="2819400"/>
            <a:ext cx="3276600" cy="361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0000"/>
              </a:lnSpc>
            </a:pPr>
            <a:r>
              <a:rPr lang="en-US" sz="750" noProof="1">
                <a:solidFill>
                  <a:srgbClr val="8A939E"/>
                </a:solidFill>
                <a:latin typeface="JetBrains Mono" panose="02000009000000000000"/>
                <a:ea typeface="JetBrains Mono" panose="02000009000000000000"/>
              </a:rPr>
              <a:t>$ </a:t>
            </a:r>
            <a:r>
              <a:rPr lang="en-US" sz="790" noProof="1">
                <a:solidFill>
                  <a:srgbClr val="E8EAF0"/>
                </a:solidFill>
                <a:latin typeface="JetBrains Mono" panose="02000009000000000000"/>
                <a:ea typeface="JetBrains Mono" panose="02000009000000000000"/>
              </a:rPr>
              <a:t>python -m pytest custom_tests -q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790" noProof="1">
                <a:solidFill>
                  <a:srgbClr val="6FA87E"/>
                </a:solidFill>
                <a:latin typeface="JetBrains Mono" panose="02000009000000000000"/>
                <a:ea typeface="JetBrains Mono" panose="02000009000000000000"/>
              </a:rPr>
              <a:t>40 passed</a:t>
            </a:r>
            <a:r>
              <a:rPr lang="en-US" sz="750" noProof="1">
                <a:solidFill>
                  <a:srgbClr val="8A939E"/>
                </a:solidFill>
                <a:latin typeface="JetBrains Mono" panose="02000009000000000000"/>
                <a:ea typeface="JetBrains Mono" panose="02000009000000000000"/>
              </a:rPr>
              <a:t>　# 一键运行，全量执行仅数秒</a:t>
            </a:r>
            <a:endParaRPr lang="en-US" sz="1200" noProof="1"/>
          </a:p>
        </p:txBody>
      </p:sp>
      <p:sp>
        <p:nvSpPr>
          <p:cNvPr id="24" name="cmp-label"/>
          <p:cNvSpPr txBox="1"/>
          <p:nvPr/>
        </p:nvSpPr>
        <p:spPr>
          <a:xfrm>
            <a:off x="4991100" y="34861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0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与手工功能测试对比</a:t>
            </a:r>
            <a:endParaRPr lang="en-US" sz="900" noProof="1"/>
          </a:p>
        </p:txBody>
      </p:sp>
      <p:sp>
        <p:nvSpPr>
          <p:cNvPr id="25" name="cmp-body"/>
          <p:cNvSpPr txBox="1"/>
          <p:nvPr/>
        </p:nvSpPr>
        <p:spPr>
          <a:xfrm>
            <a:off x="4991100" y="3695700"/>
            <a:ext cx="35433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5000"/>
              </a:lnSpc>
            </a:pPr>
            <a:r>
              <a:rPr lang="en-US" sz="79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AI 辅助生成的脚本具备可回归性：缺陷修复后重跑全量用例即可确认无回归，而手工方式需逐条重复操作；隔离方案使测试不再依赖真实外部服务和测试数据准备。</a:t>
            </a:r>
            <a:endParaRPr lang="en-US" sz="790" noProof="1"/>
          </a:p>
        </p:txBody>
      </p:sp>
      <p:sp>
        <p:nvSpPr>
          <p:cNvPr id="26" name="foot-line"/>
          <p:cNvSpPr/>
          <p:nvPr/>
        </p:nvSpPr>
        <p:spPr>
          <a:xfrm>
            <a:off x="609600" y="4838700"/>
            <a:ext cx="79248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ag"/>
          <p:cNvSpPr txBox="1"/>
          <p:nvPr/>
        </p:nvSpPr>
        <p:spPr>
          <a:xfrm>
            <a:off x="609600" y="323850"/>
            <a:ext cx="2857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825" b="1" kern="0" spc="200" noProof="1">
                <a:solidFill>
                  <a:srgbClr val="C65A1E"/>
                </a:solidFill>
                <a:latin typeface="MiSans" charset="-122"/>
                <a:ea typeface="MiSans" charset="-122"/>
              </a:rPr>
              <a:t>03 · AI 融合方案</a:t>
            </a:r>
            <a:endParaRPr lang="en-US" sz="825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14350"/>
            <a:ext cx="7924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232830"/>
                </a:solidFill>
                <a:latin typeface="Sarasa UI SC" panose="02000500000000000000" charset="-122"/>
                <a:ea typeface="Sarasa UI SC" panose="02000500000000000000" charset="-122"/>
              </a:rPr>
              <a:t>Codex 编码智能体嵌入测试全流程，人工把关关键决策</a:t>
            </a:r>
            <a:endParaRPr lang="en-US" noProof="1"/>
          </a:p>
        </p:txBody>
      </p:sp>
      <p:sp>
        <p:nvSpPr>
          <p:cNvPr id="4" name="bar"/>
          <p:cNvSpPr/>
          <p:nvPr/>
        </p:nvSpPr>
        <p:spPr>
          <a:xfrm>
            <a:off x="609600" y="933450"/>
            <a:ext cx="342900" cy="28575"/>
          </a:xfrm>
          <a:prstGeom prst="rect">
            <a:avLst/>
          </a:prstGeom>
          <a:solidFill>
            <a:srgbClr val="C65A1E"/>
          </a:solidFill>
          <a:ln>
            <a:noFill/>
          </a:ln>
        </p:spPr>
      </p:sp>
      <p:sp>
        <p:nvSpPr>
          <p:cNvPr id="5" name="tool-line"/>
          <p:cNvSpPr txBox="1"/>
          <p:nvPr/>
        </p:nvSpPr>
        <p:spPr>
          <a:xfrm>
            <a:off x="609600" y="1085850"/>
            <a:ext cx="79248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9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AI 工具：Codex 编码智能体（2026 年 9 月版本）　·　输入：接口定义与后端分层代码</a:t>
            </a:r>
            <a:endParaRPr lang="en-US" sz="790" noProof="1"/>
          </a:p>
        </p:txBody>
      </p:sp>
      <p:sp>
        <p:nvSpPr>
          <p:cNvPr id="6" name="st1-sq"/>
          <p:cNvSpPr/>
          <p:nvPr/>
        </p:nvSpPr>
        <p:spPr>
          <a:xfrm>
            <a:off x="609600" y="1390650"/>
            <a:ext cx="228600" cy="228600"/>
          </a:xfrm>
          <a:prstGeom prst="rect">
            <a:avLst/>
          </a:prstGeom>
          <a:solidFill>
            <a:srgbClr val="1E4E5F"/>
          </a:solidFill>
          <a:ln>
            <a:noFill/>
          </a:ln>
        </p:spPr>
      </p:sp>
      <p:sp>
        <p:nvSpPr>
          <p:cNvPr id="7" name="st1-no"/>
          <p:cNvSpPr txBox="1"/>
          <p:nvPr/>
        </p:nvSpPr>
        <p:spPr>
          <a:xfrm>
            <a:off x="609600" y="1419225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p>
            <a:pPr algn="ctr">
              <a:lnSpc>
                <a:spcPct val="120000"/>
              </a:lnSpc>
            </a:pPr>
            <a:r>
              <a:rPr lang="en-US" sz="825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1</a:t>
            </a:r>
            <a:endParaRPr lang="en-US" sz="825" noProof="1"/>
          </a:p>
        </p:txBody>
      </p:sp>
      <p:sp>
        <p:nvSpPr>
          <p:cNvPr id="8" name="st1-title"/>
          <p:cNvSpPr txBox="1"/>
          <p:nvPr/>
        </p:nvSpPr>
        <p:spPr>
          <a:xfrm>
            <a:off x="914400" y="1409700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4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用例清单生成</a:t>
            </a:r>
            <a:endParaRPr lang="en-US" sz="940" noProof="1"/>
          </a:p>
        </p:txBody>
      </p:sp>
      <p:sp>
        <p:nvSpPr>
          <p:cNvPr id="9" name="st1-desc"/>
          <p:cNvSpPr txBox="1"/>
          <p:nvPr/>
        </p:nvSpPr>
        <p:spPr>
          <a:xfrm>
            <a:off x="609600" y="1733550"/>
            <a:ext cx="183832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0000"/>
              </a:lnSpc>
            </a:pPr>
            <a:r>
              <a:rPr lang="en-US" sz="75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按等价类、边界值与鉴权场景生成 40 条接口级用例清单</a:t>
            </a:r>
            <a:endParaRPr lang="en-US" sz="750" noProof="1"/>
          </a:p>
        </p:txBody>
      </p:sp>
      <p:sp>
        <p:nvSpPr>
          <p:cNvPr id="10" name="st-arrow1"/>
          <p:cNvSpPr/>
          <p:nvPr/>
        </p:nvSpPr>
        <p:spPr>
          <a:xfrm>
            <a:off x="2476500" y="1447800"/>
            <a:ext cx="133350" cy="9525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 cap="rnd">
            <a:solidFill>
              <a:srgbClr val="66707A"/>
            </a:solidFill>
            <a:round/>
            <a:tailEnd type="arrow"/>
          </a:ln>
        </p:spPr>
      </p:sp>
      <p:sp>
        <p:nvSpPr>
          <p:cNvPr id="11" name="st2-sq"/>
          <p:cNvSpPr/>
          <p:nvPr/>
        </p:nvSpPr>
        <p:spPr>
          <a:xfrm>
            <a:off x="2638425" y="1390650"/>
            <a:ext cx="228600" cy="228600"/>
          </a:xfrm>
          <a:prstGeom prst="rect">
            <a:avLst/>
          </a:prstGeom>
          <a:solidFill>
            <a:srgbClr val="1E4E5F"/>
          </a:solidFill>
          <a:ln>
            <a:noFill/>
          </a:ln>
        </p:spPr>
      </p:sp>
      <p:sp>
        <p:nvSpPr>
          <p:cNvPr id="12" name="st2-no"/>
          <p:cNvSpPr txBox="1"/>
          <p:nvPr/>
        </p:nvSpPr>
        <p:spPr>
          <a:xfrm>
            <a:off x="2638425" y="1419225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p>
            <a:pPr algn="ctr">
              <a:lnSpc>
                <a:spcPct val="120000"/>
              </a:lnSpc>
            </a:pPr>
            <a:r>
              <a:rPr lang="en-US" sz="825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2</a:t>
            </a:r>
            <a:endParaRPr lang="en-US" sz="825" noProof="1"/>
          </a:p>
        </p:txBody>
      </p:sp>
      <p:sp>
        <p:nvSpPr>
          <p:cNvPr id="13" name="st2-title"/>
          <p:cNvSpPr txBox="1"/>
          <p:nvPr/>
        </p:nvSpPr>
        <p:spPr>
          <a:xfrm>
            <a:off x="2943225" y="1409700"/>
            <a:ext cx="16002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4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自动化脚本编写</a:t>
            </a:r>
            <a:endParaRPr lang="en-US" sz="940" noProof="1"/>
          </a:p>
        </p:txBody>
      </p:sp>
      <p:sp>
        <p:nvSpPr>
          <p:cNvPr id="14" name="st2-desc"/>
          <p:cNvSpPr txBox="1"/>
          <p:nvPr/>
        </p:nvSpPr>
        <p:spPr>
          <a:xfrm>
            <a:off x="2638425" y="1733550"/>
            <a:ext cx="183832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0000"/>
              </a:lnSpc>
            </a:pPr>
            <a:r>
              <a:rPr lang="en-US" sz="75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产出完整 pytest 工程：TestClient 封装与 monkeypatch 隔离方案</a:t>
            </a:r>
            <a:endParaRPr lang="en-US" sz="750" noProof="1"/>
          </a:p>
        </p:txBody>
      </p:sp>
      <p:sp>
        <p:nvSpPr>
          <p:cNvPr id="15" name="st-arrow2"/>
          <p:cNvSpPr/>
          <p:nvPr/>
        </p:nvSpPr>
        <p:spPr>
          <a:xfrm>
            <a:off x="4505325" y="1447800"/>
            <a:ext cx="133350" cy="9525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 cap="rnd">
            <a:solidFill>
              <a:srgbClr val="66707A"/>
            </a:solidFill>
            <a:round/>
            <a:tailEnd type="arrow"/>
          </a:ln>
        </p:spPr>
      </p:sp>
      <p:sp>
        <p:nvSpPr>
          <p:cNvPr id="16" name="st3-sq"/>
          <p:cNvSpPr/>
          <p:nvPr/>
        </p:nvSpPr>
        <p:spPr>
          <a:xfrm>
            <a:off x="4667250" y="1390650"/>
            <a:ext cx="228600" cy="228600"/>
          </a:xfrm>
          <a:prstGeom prst="rect">
            <a:avLst/>
          </a:prstGeom>
          <a:solidFill>
            <a:srgbClr val="1E4E5F"/>
          </a:solidFill>
          <a:ln>
            <a:noFill/>
          </a:ln>
        </p:spPr>
      </p:sp>
      <p:sp>
        <p:nvSpPr>
          <p:cNvPr id="17" name="st3-no"/>
          <p:cNvSpPr txBox="1"/>
          <p:nvPr/>
        </p:nvSpPr>
        <p:spPr>
          <a:xfrm>
            <a:off x="4667250" y="1419225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p>
            <a:pPr algn="ctr">
              <a:lnSpc>
                <a:spcPct val="120000"/>
              </a:lnSpc>
            </a:pPr>
            <a:r>
              <a:rPr lang="en-US" sz="825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3</a:t>
            </a:r>
            <a:endParaRPr lang="en-US" sz="825" noProof="1"/>
          </a:p>
        </p:txBody>
      </p:sp>
      <p:sp>
        <p:nvSpPr>
          <p:cNvPr id="18" name="st3-title"/>
          <p:cNvSpPr txBox="1"/>
          <p:nvPr/>
        </p:nvSpPr>
        <p:spPr>
          <a:xfrm>
            <a:off x="4972050" y="1409700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4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缺陷根因定位</a:t>
            </a:r>
            <a:endParaRPr lang="en-US" sz="940" noProof="1"/>
          </a:p>
        </p:txBody>
      </p:sp>
      <p:sp>
        <p:nvSpPr>
          <p:cNvPr id="19" name="st3-desc"/>
          <p:cNvSpPr txBox="1"/>
          <p:nvPr/>
        </p:nvSpPr>
        <p:spPr>
          <a:xfrm>
            <a:off x="4667250" y="1733550"/>
            <a:ext cx="183832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0000"/>
              </a:lnSpc>
            </a:pPr>
            <a:r>
              <a:rPr lang="en-US" sz="75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定位至代码级根因，如 Pydantic 请求模型缺少长度下限校验</a:t>
            </a:r>
            <a:endParaRPr lang="en-US" sz="750" noProof="1"/>
          </a:p>
        </p:txBody>
      </p:sp>
      <p:sp>
        <p:nvSpPr>
          <p:cNvPr id="20" name="st-arrow3"/>
          <p:cNvSpPr/>
          <p:nvPr/>
        </p:nvSpPr>
        <p:spPr>
          <a:xfrm>
            <a:off x="6534150" y="1447800"/>
            <a:ext cx="133350" cy="9525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0" y="1"/>
                </a:moveTo>
                <a:lnTo>
                  <a:pt x="1" y="1"/>
                </a:lnTo>
              </a:path>
            </a:pathLst>
          </a:custGeom>
          <a:noFill/>
          <a:ln w="19050" cap="rnd">
            <a:solidFill>
              <a:srgbClr val="66707A"/>
            </a:solidFill>
            <a:round/>
            <a:tailEnd type="arrow"/>
          </a:ln>
        </p:spPr>
      </p:sp>
      <p:sp>
        <p:nvSpPr>
          <p:cNvPr id="21" name="st4-sq"/>
          <p:cNvSpPr/>
          <p:nvPr/>
        </p:nvSpPr>
        <p:spPr>
          <a:xfrm>
            <a:off x="6696075" y="1390650"/>
            <a:ext cx="228600" cy="228600"/>
          </a:xfrm>
          <a:prstGeom prst="rect">
            <a:avLst/>
          </a:prstGeom>
          <a:solidFill>
            <a:srgbClr val="1E4E5F"/>
          </a:solidFill>
          <a:ln>
            <a:noFill/>
          </a:ln>
        </p:spPr>
      </p:sp>
      <p:sp>
        <p:nvSpPr>
          <p:cNvPr id="22" name="st4-no"/>
          <p:cNvSpPr txBox="1"/>
          <p:nvPr/>
        </p:nvSpPr>
        <p:spPr>
          <a:xfrm>
            <a:off x="6696075" y="1419225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p>
            <a:pPr algn="ctr">
              <a:lnSpc>
                <a:spcPct val="120000"/>
              </a:lnSpc>
            </a:pPr>
            <a:r>
              <a:rPr lang="en-US" sz="825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4</a:t>
            </a:r>
            <a:endParaRPr lang="en-US" sz="825" noProof="1"/>
          </a:p>
        </p:txBody>
      </p:sp>
      <p:sp>
        <p:nvSpPr>
          <p:cNvPr id="23" name="st4-title"/>
          <p:cNvSpPr txBox="1"/>
          <p:nvPr/>
        </p:nvSpPr>
        <p:spPr>
          <a:xfrm>
            <a:off x="7000875" y="1409700"/>
            <a:ext cx="153352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4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修复与回归验证</a:t>
            </a:r>
            <a:endParaRPr lang="en-US" sz="940" noProof="1"/>
          </a:p>
        </p:txBody>
      </p:sp>
      <p:sp>
        <p:nvSpPr>
          <p:cNvPr id="24" name="st4-desc"/>
          <p:cNvSpPr txBox="1"/>
          <p:nvPr/>
        </p:nvSpPr>
        <p:spPr>
          <a:xfrm>
            <a:off x="6696075" y="1733550"/>
            <a:ext cx="183832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0000"/>
              </a:lnSpc>
            </a:pPr>
            <a:r>
              <a:rPr lang="en-US" sz="75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实施最小改动修复，重跑全量用例确认无回归</a:t>
            </a:r>
            <a:endParaRPr lang="en-US" sz="750" noProof="1"/>
          </a:p>
        </p:txBody>
      </p:sp>
      <p:sp>
        <p:nvSpPr>
          <p:cNvPr id="25" name="ck1-line"/>
          <p:cNvSpPr/>
          <p:nvPr/>
        </p:nvSpPr>
        <p:spPr>
          <a:xfrm>
            <a:off x="1524000" y="2228850"/>
            <a:ext cx="19050" cy="32385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0"/>
                </a:moveTo>
                <a:lnTo>
                  <a:pt x="1" y="1"/>
                </a:lnTo>
              </a:path>
            </a:pathLst>
          </a:custGeom>
          <a:noFill/>
          <a:ln w="12700" cap="rnd">
            <a:solidFill>
              <a:srgbClr val="D9D5CB"/>
            </a:solidFill>
            <a:prstDash val="dash"/>
            <a:round/>
          </a:ln>
        </p:spPr>
      </p:sp>
      <p:sp>
        <p:nvSpPr>
          <p:cNvPr id="26" name="ck2-line"/>
          <p:cNvSpPr/>
          <p:nvPr/>
        </p:nvSpPr>
        <p:spPr>
          <a:xfrm>
            <a:off x="3552825" y="2228850"/>
            <a:ext cx="19050" cy="32385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0"/>
                </a:moveTo>
                <a:lnTo>
                  <a:pt x="1" y="1"/>
                </a:lnTo>
              </a:path>
            </a:pathLst>
          </a:custGeom>
          <a:noFill/>
          <a:ln w="12700" cap="rnd">
            <a:solidFill>
              <a:srgbClr val="D9D5CB"/>
            </a:solidFill>
            <a:prstDash val="dash"/>
            <a:round/>
          </a:ln>
        </p:spPr>
      </p:sp>
      <p:sp>
        <p:nvSpPr>
          <p:cNvPr id="27" name="ck3-line"/>
          <p:cNvSpPr/>
          <p:nvPr/>
        </p:nvSpPr>
        <p:spPr>
          <a:xfrm>
            <a:off x="5581650" y="2228850"/>
            <a:ext cx="19050" cy="32385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0"/>
                </a:moveTo>
                <a:lnTo>
                  <a:pt x="1" y="1"/>
                </a:lnTo>
              </a:path>
            </a:pathLst>
          </a:custGeom>
          <a:noFill/>
          <a:ln w="12700" cap="rnd">
            <a:solidFill>
              <a:srgbClr val="D9D5CB"/>
            </a:solidFill>
            <a:prstDash val="dash"/>
            <a:round/>
          </a:ln>
        </p:spPr>
      </p:sp>
      <p:sp>
        <p:nvSpPr>
          <p:cNvPr id="28" name="ck4-line"/>
          <p:cNvSpPr/>
          <p:nvPr/>
        </p:nvSpPr>
        <p:spPr>
          <a:xfrm>
            <a:off x="7610475" y="2228850"/>
            <a:ext cx="19050" cy="323850"/>
          </a:xfrm>
          <a:custGeom>
            <a:avLst/>
            <a:gdLst/>
            <a:ahLst/>
            <a:cxnLst/>
            <a:rect l="l" t="t" r="r" b="b"/>
            <a:pathLst>
              <a:path w="1" h="1">
                <a:moveTo>
                  <a:pt x="1" y="0"/>
                </a:moveTo>
                <a:lnTo>
                  <a:pt x="1" y="1"/>
                </a:lnTo>
              </a:path>
            </a:pathLst>
          </a:custGeom>
          <a:noFill/>
          <a:ln w="12700" cap="rnd">
            <a:solidFill>
              <a:srgbClr val="D9D5CB"/>
            </a:solidFill>
            <a:prstDash val="dash"/>
            <a:round/>
          </a:ln>
        </p:spPr>
      </p:sp>
      <p:sp>
        <p:nvSpPr>
          <p:cNvPr id="29" name="ck-label"/>
          <p:cNvSpPr txBox="1"/>
          <p:nvPr/>
        </p:nvSpPr>
        <p:spPr>
          <a:xfrm>
            <a:off x="609600" y="2362200"/>
            <a:ext cx="85725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825" b="1" noProof="1">
                <a:solidFill>
                  <a:srgbClr val="C65A1E"/>
                </a:solidFill>
                <a:latin typeface="MiSans" charset="-122"/>
                <a:ea typeface="MiSans" charset="-122"/>
              </a:rPr>
              <a:t>人工把关</a:t>
            </a:r>
            <a:endParaRPr lang="en-US" sz="825" noProof="1"/>
          </a:p>
        </p:txBody>
      </p:sp>
      <p:sp>
        <p:nvSpPr>
          <p:cNvPr id="30" name="ck1"/>
          <p:cNvSpPr txBox="1"/>
          <p:nvPr/>
        </p:nvSpPr>
        <p:spPr>
          <a:xfrm>
            <a:off x="609600" y="2590800"/>
            <a:ext cx="18383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5000"/>
              </a:lnSpc>
            </a:pPr>
            <a:r>
              <a:rPr lang="en-US" sz="75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审核用例清单的模块覆盖度与边界完整性</a:t>
            </a:r>
            <a:endParaRPr lang="en-US" sz="750" noProof="1"/>
          </a:p>
        </p:txBody>
      </p:sp>
      <p:sp>
        <p:nvSpPr>
          <p:cNvPr id="31" name="ck2"/>
          <p:cNvSpPr txBox="1"/>
          <p:nvPr/>
        </p:nvSpPr>
        <p:spPr>
          <a:xfrm>
            <a:off x="2638425" y="2590800"/>
            <a:ext cx="18383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5000"/>
              </a:lnSpc>
            </a:pPr>
            <a:r>
              <a:rPr lang="en-US" sz="75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复查脚本的可运行性与隔离方案有效性</a:t>
            </a:r>
            <a:endParaRPr lang="en-US" sz="750" noProof="1"/>
          </a:p>
        </p:txBody>
      </p:sp>
      <p:sp>
        <p:nvSpPr>
          <p:cNvPr id="32" name="ck3"/>
          <p:cNvSpPr txBox="1"/>
          <p:nvPr/>
        </p:nvSpPr>
        <p:spPr>
          <a:xfrm>
            <a:off x="4667250" y="2590800"/>
            <a:ext cx="18383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5000"/>
              </a:lnSpc>
            </a:pPr>
            <a:r>
              <a:rPr lang="en-US" sz="75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缺陷定级，确认「真实缺陷」与修复语义</a:t>
            </a:r>
            <a:endParaRPr lang="en-US" sz="750" noProof="1"/>
          </a:p>
        </p:txBody>
      </p:sp>
      <p:sp>
        <p:nvSpPr>
          <p:cNvPr id="33" name="ck4"/>
          <p:cNvSpPr txBox="1"/>
          <p:nvPr/>
        </p:nvSpPr>
        <p:spPr>
          <a:xfrm>
            <a:off x="6696075" y="2590800"/>
            <a:ext cx="18383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5000"/>
              </a:lnSpc>
            </a:pPr>
            <a:r>
              <a:rPr lang="en-US" sz="75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制定回归验收标准：缺陷用例通过且全量无回归</a:t>
            </a:r>
            <a:endParaRPr lang="en-US" sz="750" noProof="1"/>
          </a:p>
        </p:txBody>
      </p:sp>
      <p:sp>
        <p:nvSpPr>
          <p:cNvPr id="34" name="div-line"/>
          <p:cNvSpPr/>
          <p:nvPr/>
        </p:nvSpPr>
        <p:spPr>
          <a:xfrm>
            <a:off x="609600" y="3143250"/>
            <a:ext cx="79248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  <p:sp>
        <p:nvSpPr>
          <p:cNvPr id="35" name="out-label"/>
          <p:cNvSpPr txBox="1"/>
          <p:nvPr/>
        </p:nvSpPr>
        <p:spPr>
          <a:xfrm>
            <a:off x="609600" y="333375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1E4E5F"/>
                </a:solidFill>
                <a:latin typeface="MiSans" charset="-122"/>
                <a:ea typeface="MiSans" charset="-122"/>
              </a:rPr>
              <a:t>AI 直接产出的可运行交付物</a:t>
            </a:r>
            <a:endParaRPr lang="en-US" sz="975" noProof="1"/>
          </a:p>
        </p:txBody>
      </p:sp>
      <p:sp>
        <p:nvSpPr>
          <p:cNvPr id="36" name="out1-icon"/>
          <p:cNvSpPr/>
          <p:nvPr/>
        </p:nvSpPr>
        <p:spPr>
          <a:xfrm>
            <a:off x="609600" y="36385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96"/>
                </a:moveTo>
                <a:lnTo>
                  <a:pt x="64" y="160"/>
                </a:lnTo>
                <a:lnTo>
                  <a:pt x="128" y="160"/>
                </a:lnTo>
                <a:lnTo>
                  <a:pt x="128" y="96"/>
                </a:lnTo>
                <a:lnTo>
                  <a:pt x="64" y="96"/>
                </a:lnTo>
                <a:close/>
                <a:moveTo>
                  <a:pt x="384" y="96"/>
                </a:moveTo>
                <a:lnTo>
                  <a:pt x="192" y="96"/>
                </a:lnTo>
                <a:lnTo>
                  <a:pt x="192" y="160"/>
                </a:lnTo>
                <a:lnTo>
                  <a:pt x="384" y="160"/>
                </a:lnTo>
                <a:lnTo>
                  <a:pt x="384" y="96"/>
                </a:lnTo>
                <a:close/>
                <a:moveTo>
                  <a:pt x="64" y="224"/>
                </a:moveTo>
                <a:lnTo>
                  <a:pt x="64" y="288"/>
                </a:lnTo>
                <a:lnTo>
                  <a:pt x="128" y="288"/>
                </a:lnTo>
                <a:lnTo>
                  <a:pt x="128" y="224"/>
                </a:lnTo>
                <a:lnTo>
                  <a:pt x="64" y="224"/>
                </a:lnTo>
                <a:close/>
                <a:moveTo>
                  <a:pt x="384" y="224"/>
                </a:moveTo>
                <a:lnTo>
                  <a:pt x="192" y="224"/>
                </a:lnTo>
                <a:lnTo>
                  <a:pt x="192" y="288"/>
                </a:lnTo>
                <a:lnTo>
                  <a:pt x="384" y="288"/>
                </a:lnTo>
                <a:lnTo>
                  <a:pt x="384" y="224"/>
                </a:lnTo>
                <a:close/>
                <a:moveTo>
                  <a:pt x="64" y="352"/>
                </a:moveTo>
                <a:lnTo>
                  <a:pt x="64" y="416"/>
                </a:lnTo>
                <a:lnTo>
                  <a:pt x="128" y="416"/>
                </a:lnTo>
                <a:lnTo>
                  <a:pt x="128" y="352"/>
                </a:lnTo>
                <a:lnTo>
                  <a:pt x="64" y="352"/>
                </a:lnTo>
                <a:close/>
                <a:moveTo>
                  <a:pt x="384" y="352"/>
                </a:moveTo>
                <a:lnTo>
                  <a:pt x="192" y="352"/>
                </a:lnTo>
                <a:lnTo>
                  <a:pt x="192" y="416"/>
                </a:lnTo>
                <a:lnTo>
                  <a:pt x="384" y="416"/>
                </a:lnTo>
                <a:lnTo>
                  <a:pt x="384" y="352"/>
                </a:lnTo>
                <a:close/>
              </a:path>
            </a:pathLst>
          </a:custGeom>
          <a:solidFill>
            <a:srgbClr val="C65A1E"/>
          </a:solidFill>
          <a:ln>
            <a:noFill/>
          </a:ln>
        </p:spPr>
      </p:sp>
      <p:sp>
        <p:nvSpPr>
          <p:cNvPr id="37" name="out1-t"/>
          <p:cNvSpPr txBox="1"/>
          <p:nvPr/>
        </p:nvSpPr>
        <p:spPr>
          <a:xfrm>
            <a:off x="876300" y="3600450"/>
            <a:ext cx="2286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5000"/>
              </a:lnSpc>
            </a:pPr>
            <a:r>
              <a:rPr lang="en-US" sz="865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《AI 测试用例清单》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71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40 条接口级用例，含设计方法标注</a:t>
            </a:r>
            <a:endParaRPr lang="en-US" sz="1200" noProof="1"/>
          </a:p>
        </p:txBody>
      </p:sp>
      <p:sp>
        <p:nvSpPr>
          <p:cNvPr id="38" name="out-sep1"/>
          <p:cNvSpPr/>
          <p:nvPr/>
        </p:nvSpPr>
        <p:spPr>
          <a:xfrm>
            <a:off x="3352800" y="3638550"/>
            <a:ext cx="9525" cy="533400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  <p:sp>
        <p:nvSpPr>
          <p:cNvPr id="39" name="out2-icon"/>
          <p:cNvSpPr/>
          <p:nvPr/>
        </p:nvSpPr>
        <p:spPr>
          <a:xfrm>
            <a:off x="3581400" y="36385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361" y="1"/>
                </a:moveTo>
                <a:cubicBezTo>
                  <a:pt x="344" y="-4"/>
                  <a:pt x="326" y="6"/>
                  <a:pt x="321" y="23"/>
                </a:cubicBezTo>
                <a:lnTo>
                  <a:pt x="193" y="471"/>
                </a:lnTo>
                <a:cubicBezTo>
                  <a:pt x="188" y="488"/>
                  <a:pt x="198" y="506"/>
                  <a:pt x="215" y="511"/>
                </a:cubicBezTo>
                <a:cubicBezTo>
                  <a:pt x="232" y="516"/>
                  <a:pt x="250" y="506"/>
                  <a:pt x="255" y="489"/>
                </a:cubicBezTo>
                <a:lnTo>
                  <a:pt x="383" y="41"/>
                </a:lnTo>
                <a:cubicBezTo>
                  <a:pt x="388" y="24"/>
                  <a:pt x="378" y="6"/>
                  <a:pt x="361" y="1"/>
                </a:cubicBezTo>
                <a:close/>
              </a:path>
              <a:path w="576" h="512">
                <a:moveTo>
                  <a:pt x="425" y="137"/>
                </a:moveTo>
                <a:cubicBezTo>
                  <a:pt x="413" y="150"/>
                  <a:pt x="413" y="170"/>
                  <a:pt x="425" y="183"/>
                </a:cubicBezTo>
                <a:lnTo>
                  <a:pt x="499" y="256"/>
                </a:lnTo>
                <a:lnTo>
                  <a:pt x="425" y="329"/>
                </a:lnTo>
                <a:cubicBezTo>
                  <a:pt x="413" y="342"/>
                  <a:pt x="413" y="362"/>
                  <a:pt x="425" y="375"/>
                </a:cubicBezTo>
                <a:cubicBezTo>
                  <a:pt x="438" y="387"/>
                  <a:pt x="458" y="387"/>
                  <a:pt x="471" y="375"/>
                </a:cubicBezTo>
                <a:lnTo>
                  <a:pt x="567" y="279"/>
                </a:lnTo>
                <a:cubicBezTo>
                  <a:pt x="579" y="266"/>
                  <a:pt x="579" y="246"/>
                  <a:pt x="567" y="233"/>
                </a:cubicBezTo>
                <a:lnTo>
                  <a:pt x="471" y="137"/>
                </a:lnTo>
                <a:cubicBezTo>
                  <a:pt x="458" y="125"/>
                  <a:pt x="438" y="125"/>
                  <a:pt x="425" y="137"/>
                </a:cubicBezTo>
                <a:close/>
              </a:path>
              <a:path w="576" h="512">
                <a:moveTo>
                  <a:pt x="151" y="137"/>
                </a:moveTo>
                <a:cubicBezTo>
                  <a:pt x="138" y="125"/>
                  <a:pt x="118" y="125"/>
                  <a:pt x="105" y="137"/>
                </a:cubicBezTo>
                <a:lnTo>
                  <a:pt x="9" y="233"/>
                </a:lnTo>
                <a:cubicBezTo>
                  <a:pt x="-3" y="246"/>
                  <a:pt x="-3" y="266"/>
                  <a:pt x="9" y="279"/>
                </a:cubicBezTo>
                <a:lnTo>
                  <a:pt x="105" y="375"/>
                </a:lnTo>
                <a:cubicBezTo>
                  <a:pt x="118" y="387"/>
                  <a:pt x="138" y="387"/>
                  <a:pt x="151" y="375"/>
                </a:cubicBezTo>
                <a:cubicBezTo>
                  <a:pt x="163" y="362"/>
                  <a:pt x="163" y="342"/>
                  <a:pt x="151" y="329"/>
                </a:cubicBezTo>
                <a:lnTo>
                  <a:pt x="77" y="256"/>
                </a:lnTo>
                <a:lnTo>
                  <a:pt x="151" y="183"/>
                </a:lnTo>
                <a:cubicBezTo>
                  <a:pt x="163" y="170"/>
                  <a:pt x="163" y="150"/>
                  <a:pt x="151" y="137"/>
                </a:cubicBezTo>
                <a:close/>
              </a:path>
            </a:pathLst>
          </a:custGeom>
          <a:solidFill>
            <a:srgbClr val="C65A1E"/>
          </a:solidFill>
          <a:ln>
            <a:noFill/>
          </a:ln>
        </p:spPr>
      </p:sp>
      <p:sp>
        <p:nvSpPr>
          <p:cNvPr id="40" name="out2-t"/>
          <p:cNvSpPr txBox="1"/>
          <p:nvPr/>
        </p:nvSpPr>
        <p:spPr>
          <a:xfrm>
            <a:off x="3848100" y="3600450"/>
            <a:ext cx="2286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5000"/>
              </a:lnSpc>
            </a:pPr>
            <a:r>
              <a:rPr lang="en-US" sz="865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custom_tests pytest 工程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71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置于项目根目录即可一键运行</a:t>
            </a:r>
            <a:endParaRPr lang="en-US" sz="1200" noProof="1"/>
          </a:p>
        </p:txBody>
      </p:sp>
      <p:sp>
        <p:nvSpPr>
          <p:cNvPr id="41" name="out-sep2"/>
          <p:cNvSpPr/>
          <p:nvPr/>
        </p:nvSpPr>
        <p:spPr>
          <a:xfrm>
            <a:off x="6324600" y="3638550"/>
            <a:ext cx="9525" cy="533400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  <p:sp>
        <p:nvSpPr>
          <p:cNvPr id="42" name="out3-icon"/>
          <p:cNvSpPr/>
          <p:nvPr/>
        </p:nvSpPr>
        <p:spPr>
          <a:xfrm>
            <a:off x="6553200" y="36385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192" y="96"/>
                </a:moveTo>
                <a:cubicBezTo>
                  <a:pt x="192" y="43"/>
                  <a:pt x="235" y="0"/>
                  <a:pt x="288" y="0"/>
                </a:cubicBezTo>
                <a:cubicBezTo>
                  <a:pt x="341" y="0"/>
                  <a:pt x="384" y="43"/>
                  <a:pt x="384" y="96"/>
                </a:cubicBezTo>
                <a:lnTo>
                  <a:pt x="384" y="100"/>
                </a:lnTo>
                <a:cubicBezTo>
                  <a:pt x="384" y="115"/>
                  <a:pt x="371" y="128"/>
                  <a:pt x="356" y="128"/>
                </a:cubicBezTo>
                <a:lnTo>
                  <a:pt x="221" y="128"/>
                </a:lnTo>
                <a:cubicBezTo>
                  <a:pt x="205" y="128"/>
                  <a:pt x="192" y="115"/>
                  <a:pt x="192" y="100"/>
                </a:cubicBezTo>
                <a:lnTo>
                  <a:pt x="192" y="96"/>
                </a:lnTo>
                <a:close/>
                <a:moveTo>
                  <a:pt x="538" y="109"/>
                </a:moveTo>
                <a:cubicBezTo>
                  <a:pt x="548" y="123"/>
                  <a:pt x="545" y="143"/>
                  <a:pt x="531" y="154"/>
                </a:cubicBezTo>
                <a:lnTo>
                  <a:pt x="433" y="227"/>
                </a:lnTo>
                <a:cubicBezTo>
                  <a:pt x="439" y="236"/>
                  <a:pt x="443" y="246"/>
                  <a:pt x="445" y="256"/>
                </a:cubicBezTo>
                <a:lnTo>
                  <a:pt x="544" y="256"/>
                </a:lnTo>
                <a:cubicBezTo>
                  <a:pt x="562" y="256"/>
                  <a:pt x="576" y="270"/>
                  <a:pt x="576" y="288"/>
                </a:cubicBezTo>
                <a:cubicBezTo>
                  <a:pt x="576" y="306"/>
                  <a:pt x="562" y="320"/>
                  <a:pt x="544" y="320"/>
                </a:cubicBezTo>
                <a:lnTo>
                  <a:pt x="448" y="320"/>
                </a:lnTo>
                <a:lnTo>
                  <a:pt x="448" y="352"/>
                </a:lnTo>
                <a:cubicBezTo>
                  <a:pt x="448" y="355"/>
                  <a:pt x="448" y="357"/>
                  <a:pt x="448" y="360"/>
                </a:cubicBezTo>
                <a:lnTo>
                  <a:pt x="531" y="422"/>
                </a:lnTo>
                <a:cubicBezTo>
                  <a:pt x="545" y="433"/>
                  <a:pt x="548" y="453"/>
                  <a:pt x="538" y="467"/>
                </a:cubicBezTo>
                <a:cubicBezTo>
                  <a:pt x="527" y="481"/>
                  <a:pt x="507" y="484"/>
                  <a:pt x="493" y="474"/>
                </a:cubicBezTo>
                <a:lnTo>
                  <a:pt x="430" y="426"/>
                </a:lnTo>
                <a:cubicBezTo>
                  <a:pt x="407" y="470"/>
                  <a:pt x="363" y="502"/>
                  <a:pt x="312" y="510"/>
                </a:cubicBezTo>
                <a:lnTo>
                  <a:pt x="312" y="280"/>
                </a:lnTo>
                <a:cubicBezTo>
                  <a:pt x="312" y="267"/>
                  <a:pt x="301" y="256"/>
                  <a:pt x="288" y="256"/>
                </a:cubicBezTo>
                <a:cubicBezTo>
                  <a:pt x="275" y="256"/>
                  <a:pt x="264" y="267"/>
                  <a:pt x="264" y="280"/>
                </a:cubicBezTo>
                <a:lnTo>
                  <a:pt x="264" y="510"/>
                </a:lnTo>
                <a:cubicBezTo>
                  <a:pt x="213" y="503"/>
                  <a:pt x="170" y="471"/>
                  <a:pt x="146" y="426"/>
                </a:cubicBezTo>
                <a:lnTo>
                  <a:pt x="83" y="474"/>
                </a:lnTo>
                <a:cubicBezTo>
                  <a:pt x="69" y="484"/>
                  <a:pt x="49" y="481"/>
                  <a:pt x="38" y="467"/>
                </a:cubicBezTo>
                <a:cubicBezTo>
                  <a:pt x="28" y="453"/>
                  <a:pt x="31" y="433"/>
                  <a:pt x="45" y="422"/>
                </a:cubicBezTo>
                <a:lnTo>
                  <a:pt x="128" y="360"/>
                </a:lnTo>
                <a:cubicBezTo>
                  <a:pt x="128" y="357"/>
                  <a:pt x="128" y="355"/>
                  <a:pt x="128" y="352"/>
                </a:cubicBezTo>
                <a:lnTo>
                  <a:pt x="128" y="320"/>
                </a:lnTo>
                <a:lnTo>
                  <a:pt x="32" y="320"/>
                </a:lnTo>
                <a:cubicBezTo>
                  <a:pt x="14" y="320"/>
                  <a:pt x="0" y="306"/>
                  <a:pt x="0" y="288"/>
                </a:cubicBezTo>
                <a:cubicBezTo>
                  <a:pt x="0" y="270"/>
                  <a:pt x="14" y="256"/>
                  <a:pt x="32" y="256"/>
                </a:cubicBezTo>
                <a:lnTo>
                  <a:pt x="131" y="256"/>
                </a:lnTo>
                <a:cubicBezTo>
                  <a:pt x="133" y="246"/>
                  <a:pt x="137" y="236"/>
                  <a:pt x="143" y="227"/>
                </a:cubicBezTo>
                <a:lnTo>
                  <a:pt x="45" y="154"/>
                </a:lnTo>
                <a:cubicBezTo>
                  <a:pt x="31" y="143"/>
                  <a:pt x="28" y="123"/>
                  <a:pt x="38" y="109"/>
                </a:cubicBezTo>
                <a:cubicBezTo>
                  <a:pt x="49" y="95"/>
                  <a:pt x="69" y="92"/>
                  <a:pt x="83" y="102"/>
                </a:cubicBezTo>
                <a:lnTo>
                  <a:pt x="192" y="184"/>
                </a:lnTo>
                <a:cubicBezTo>
                  <a:pt x="204" y="179"/>
                  <a:pt x="218" y="176"/>
                  <a:pt x="232" y="176"/>
                </a:cubicBezTo>
                <a:lnTo>
                  <a:pt x="344" y="176"/>
                </a:lnTo>
                <a:cubicBezTo>
                  <a:pt x="358" y="176"/>
                  <a:pt x="372" y="179"/>
                  <a:pt x="384" y="184"/>
                </a:cubicBezTo>
                <a:lnTo>
                  <a:pt x="493" y="102"/>
                </a:lnTo>
                <a:cubicBezTo>
                  <a:pt x="507" y="92"/>
                  <a:pt x="527" y="95"/>
                  <a:pt x="538" y="109"/>
                </a:cubicBezTo>
                <a:close/>
              </a:path>
            </a:pathLst>
          </a:custGeom>
          <a:solidFill>
            <a:srgbClr val="C65A1E"/>
          </a:solidFill>
          <a:ln>
            <a:noFill/>
          </a:ln>
        </p:spPr>
      </p:sp>
      <p:sp>
        <p:nvSpPr>
          <p:cNvPr id="43" name="out3-t"/>
          <p:cNvSpPr txBox="1"/>
          <p:nvPr/>
        </p:nvSpPr>
        <p:spPr>
          <a:xfrm>
            <a:off x="6819900" y="3600450"/>
            <a:ext cx="1714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5000"/>
              </a:lnSpc>
            </a:pPr>
            <a:r>
              <a:rPr lang="en-US" sz="865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《AI 缺陷报告》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71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3 项缺陷复现、修复与回归记录</a:t>
            </a:r>
            <a:endParaRPr lang="en-US" sz="1200" noProof="1"/>
          </a:p>
        </p:txBody>
      </p:sp>
      <p:sp>
        <p:nvSpPr>
          <p:cNvPr id="44" name="foot-line"/>
          <p:cNvSpPr/>
          <p:nvPr/>
        </p:nvSpPr>
        <p:spPr>
          <a:xfrm>
            <a:off x="609600" y="4838700"/>
            <a:ext cx="79248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609600" y="419100"/>
            <a:ext cx="3810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00" b="1" kern="0" spc="300" noProof="1">
                <a:solidFill>
                  <a:srgbClr val="C4661F"/>
                </a:solidFill>
                <a:latin typeface="MiSans" charset="-122"/>
                <a:ea typeface="MiSans" charset="-122"/>
              </a:rPr>
              <a:t>02 · 测试范围与策略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79248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875" b="1" noProof="1">
                <a:solidFill>
                  <a:srgbClr val="1E2422"/>
                </a:solidFill>
                <a:latin typeface="MiSans" charset="-122"/>
                <a:ea typeface="MiSans" charset="-122"/>
              </a:rPr>
              <a:t>按风险选方法：每个模块匹配对应的测试设计技术</a:t>
            </a:r>
            <a:endParaRPr lang="en-US" sz="1875" noProof="1"/>
          </a:p>
        </p:txBody>
      </p:sp>
      <p:sp>
        <p:nvSpPr>
          <p:cNvPr id="4" name="title-rule"/>
          <p:cNvSpPr/>
          <p:nvPr/>
        </p:nvSpPr>
        <p:spPr>
          <a:xfrm>
            <a:off x="609600" y="10668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  <p:graphicFrame>
        <p:nvGraphicFramePr>
          <p:cNvPr id="5" name="strategy-table"/>
          <p:cNvGraphicFramePr>
            <a:graphicFrameLocks noGrp="1"/>
          </p:cNvGraphicFramePr>
          <p:nvPr/>
        </p:nvGraphicFramePr>
        <p:xfrm>
          <a:off x="609600" y="1276350"/>
          <a:ext cx="7924800" cy="2707640"/>
        </p:xfrm>
        <a:graphic>
          <a:graphicData uri="http://schemas.openxmlformats.org/drawingml/2006/table">
            <a:tbl>
              <a:tblPr/>
              <a:tblGrid>
                <a:gridCol w="2377440"/>
                <a:gridCol w="3645535"/>
                <a:gridCol w="1901825"/>
              </a:tblGrid>
              <a:tr h="338455">
                <a:tc>
                  <a:txBody>
                    <a:bodyPr wrap="square" rtlCol="0"/>
                    <a:p>
                      <a:pPr algn="l"/>
                      <a:r>
                        <a:rPr lang="en-US" sz="9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被测模块</a:t>
                      </a:r>
                      <a:endParaRPr lang="en-US" sz="9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测试方法</a:t>
                      </a:r>
                      <a:endParaRPr lang="en-US" sz="9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2F5D50"/>
                    </a:solidFill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关注点</a:t>
                      </a:r>
                      <a:endParaRPr lang="en-US" sz="90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solidFill>
                      <a:srgbClr val="2F5D50"/>
                    </a:solidFill>
                  </a:tcPr>
                </a:tc>
              </a:tr>
              <a:tr h="338455">
                <a:tc>
                  <a:txBody>
                    <a:bodyPr wrap="square" rtlCol="0"/>
                    <a:p>
                      <a:pPr algn="l"/>
                      <a:r>
                        <a:rPr lang="en-US" sz="790" noProof="1">
                          <a:solidFill>
                            <a:srgbClr val="1E2422"/>
                          </a:solidFill>
                          <a:latin typeface="JetBrains Mono" panose="02000009000000000000"/>
                          <a:ea typeface="JetBrains Mono" panose="02000009000000000000"/>
                        </a:rPr>
                        <a:t>compute_score_summary</a:t>
                      </a:r>
                      <a:endParaRPr lang="en-US" sz="790" noProof="1">
                        <a:solidFill>
                          <a:srgbClr val="1E2422"/>
                        </a:solidFill>
                        <a:latin typeface="JetBrains Mono" panose="02000009000000000000"/>
                        <a:ea typeface="JetBrains Mono" panose="0200000900000000000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等价类划分 + 边界值分析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除 0、全对 / 全错、空记录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</a:tr>
              <a:tr h="338455">
                <a:tc>
                  <a:txBody>
                    <a:bodyPr wrap="square" rtlCol="0"/>
                    <a:p>
                      <a:pPr algn="l"/>
                      <a:r>
                        <a:rPr lang="en-US" sz="790" noProof="1">
                          <a:solidFill>
                            <a:srgbClr val="1E2422"/>
                          </a:solidFill>
                          <a:latin typeface="JetBrains Mono" panose="02000009000000000000"/>
                          <a:ea typeface="JetBrains Mono" panose="02000009000000000000"/>
                        </a:rPr>
                        <a:t>check_content</a:t>
                      </a:r>
                      <a:endParaRPr lang="en-US" sz="790" noProof="1">
                        <a:solidFill>
                          <a:srgbClr val="1E2422"/>
                        </a:solidFill>
                        <a:latin typeface="JetBrains Mono" panose="02000009000000000000"/>
                        <a:ea typeface="JetBrains Mono" panose="0200000900000000000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等价类 + 边界值 + 规则判定覆盖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敏感词、空串、长度边界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</a:tr>
              <a:tr h="338455">
                <a:tc>
                  <a:txBody>
                    <a:bodyPr wrap="square" rtlCol="0"/>
                    <a:p>
                      <a:pPr algn="l"/>
                      <a:r>
                        <a:rPr lang="en-US" sz="790" noProof="1">
                          <a:solidFill>
                            <a:srgbClr val="1E2422"/>
                          </a:solidFill>
                          <a:latin typeface="JetBrains Mono" panose="02000009000000000000"/>
                          <a:ea typeface="JetBrains Mono" panose="02000009000000000000"/>
                        </a:rPr>
                        <a:t>knowledge_repository</a:t>
                      </a:r>
                      <a:endParaRPr lang="en-US" sz="790" noProof="1">
                        <a:solidFill>
                          <a:srgbClr val="1E2422"/>
                        </a:solidFill>
                        <a:latin typeface="JetBrains Mono" panose="02000009000000000000"/>
                        <a:ea typeface="JetBrains Mono" panose="0200000900000000000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Mock 隔离 + 等价类 + 边界值 + SQL 覆盖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增删改查、文档不存在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</a:tr>
              <a:tr h="338455">
                <a:tc>
                  <a:txBody>
                    <a:bodyPr wrap="square" rtlCol="0"/>
                    <a:p>
                      <a:pPr algn="l"/>
                      <a:r>
                        <a:rPr lang="en-US" sz="790" noProof="1">
                          <a:solidFill>
                            <a:srgbClr val="1E2422"/>
                          </a:solidFill>
                          <a:latin typeface="JetBrains Mono" panose="02000009000000000000"/>
                          <a:ea typeface="JetBrains Mono" panose="02000009000000000000"/>
                        </a:rPr>
                        <a:t>handle_upload</a:t>
                      </a:r>
                      <a:endParaRPr lang="en-US" sz="790" noProof="1">
                        <a:solidFill>
                          <a:srgbClr val="1E2422"/>
                        </a:solidFill>
                        <a:latin typeface="JetBrains Mono" panose="02000009000000000000"/>
                        <a:ea typeface="JetBrains Mono" panose="0200000900000000000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边界值 + 等价类 + 异常测试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超 10MB 文件、非法类型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</a:tr>
              <a:tr h="338455">
                <a:tc>
                  <a:txBody>
                    <a:bodyPr wrap="square" rtlCol="0"/>
                    <a:p>
                      <a:pPr algn="l"/>
                      <a:r>
                        <a:rPr lang="en-US" sz="790" noProof="1">
                          <a:solidFill>
                            <a:srgbClr val="1E2422"/>
                          </a:solidFill>
                          <a:latin typeface="JetBrains Mono" panose="02000009000000000000"/>
                          <a:ea typeface="JetBrains Mono" panose="02000009000000000000"/>
                        </a:rPr>
                        <a:t>create_token / decode_token</a:t>
                      </a:r>
                      <a:endParaRPr lang="en-US" sz="790" noProof="1">
                        <a:solidFill>
                          <a:srgbClr val="1E2422"/>
                        </a:solidFill>
                        <a:latin typeface="JetBrains Mono" panose="02000009000000000000"/>
                        <a:ea typeface="JetBrains Mono" panose="0200000900000000000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功能测试 + 异常测试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篡改 token、过期 token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</a:tr>
              <a:tr h="338455">
                <a:tc>
                  <a:txBody>
                    <a:bodyPr wrap="square" rtlCol="0"/>
                    <a:p>
                      <a:pPr algn="l"/>
                      <a:r>
                        <a:rPr lang="en-US" sz="790" noProof="1">
                          <a:solidFill>
                            <a:srgbClr val="1E2422"/>
                          </a:solidFill>
                          <a:latin typeface="JetBrains Mono" panose="02000009000000000000"/>
                          <a:ea typeface="JetBrains Mono" panose="02000009000000000000"/>
                        </a:rPr>
                        <a:t>get_current_user</a:t>
                      </a:r>
                      <a:endParaRPr lang="en-US" sz="790" noProof="1">
                        <a:solidFill>
                          <a:srgbClr val="1E2422"/>
                        </a:solidFill>
                        <a:latin typeface="JetBrains Mono" panose="02000009000000000000"/>
                        <a:ea typeface="JetBrains Mono" panose="0200000900000000000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负面测试 + 未登录异常路径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未登录拦截（401）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</a:tr>
              <a:tr h="338455">
                <a:tc>
                  <a:txBody>
                    <a:bodyPr wrap="square" rtlCol="0"/>
                    <a:p>
                      <a:pPr algn="l"/>
                      <a:r>
                        <a:rPr lang="en-US" sz="790" noProof="1">
                          <a:solidFill>
                            <a:srgbClr val="1E2422"/>
                          </a:solidFill>
                          <a:latin typeface="JetBrains Mono" panose="02000009000000000000"/>
                          <a:ea typeface="JetBrains Mono" panose="02000009000000000000"/>
                        </a:rPr>
                        <a:t>create_quiz_task</a:t>
                      </a:r>
                      <a:endParaRPr lang="en-US" sz="790" noProof="1">
                        <a:solidFill>
                          <a:srgbClr val="1E2422"/>
                        </a:solidFill>
                        <a:latin typeface="JetBrains Mono" panose="02000009000000000000"/>
                        <a:ea typeface="JetBrains Mono" panose="02000009000000000000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等价类划分 + 异常测试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  <a:tc>
                  <a:txBody>
                    <a:bodyPr wrap="square" rtlCol="0"/>
                    <a:p>
                      <a:pPr algn="l"/>
                      <a:r>
                        <a:rPr lang="en-US" sz="900" noProof="1">
                          <a:solidFill>
                            <a:srgbClr val="1E2422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登录态、文档归属校验</a:t>
                      </a:r>
                      <a:endParaRPr lang="en-US" sz="900" noProof="1">
                        <a:solidFill>
                          <a:srgbClr val="1E2422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2C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exclude-head"/>
          <p:cNvSpPr txBox="1"/>
          <p:nvPr/>
        </p:nvSpPr>
        <p:spPr>
          <a:xfrm>
            <a:off x="609600" y="417195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75" b="1" noProof="1">
                <a:solidFill>
                  <a:srgbClr val="2F5D50"/>
                </a:solidFill>
                <a:latin typeface="MiSans" charset="-122"/>
                <a:ea typeface="MiSans" charset="-122"/>
              </a:rPr>
              <a:t>本次不覆盖</a:t>
            </a:r>
            <a:endParaRPr lang="en-US" sz="975" noProof="1"/>
          </a:p>
        </p:txBody>
      </p:sp>
      <p:sp>
        <p:nvSpPr>
          <p:cNvPr id="7" name="exclude-body"/>
          <p:cNvSpPr txBox="1"/>
          <p:nvPr/>
        </p:nvSpPr>
        <p:spPr>
          <a:xfrm>
            <a:off x="1714500" y="4171950"/>
            <a:ext cx="68199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0000"/>
              </a:lnSpc>
            </a:pPr>
            <a:r>
              <a:rPr lang="en-US" sz="865" noProof="1">
                <a:solidFill>
                  <a:srgbClr val="5F6B66"/>
                </a:solidFill>
                <a:latin typeface="MiSans" charset="-122"/>
                <a:ea typeface="MiSans" charset="-122"/>
              </a:rPr>
              <a:t>Prompts 相关（AI 生成逻辑）：与单元测试范畴无关，且测试过程繁琐；UI 层交互：属功能测试范畴，已通过手动功能测试覆盖（缺陷 001–004 均由此发现）。</a:t>
            </a:r>
            <a:endParaRPr lang="en-US" sz="865" noProof="1"/>
          </a:p>
        </p:txBody>
      </p:sp>
      <p:sp>
        <p:nvSpPr>
          <p:cNvPr id="8" name="footer-hair"/>
          <p:cNvSpPr/>
          <p:nvPr/>
        </p:nvSpPr>
        <p:spPr>
          <a:xfrm>
            <a:off x="609600" y="4762500"/>
            <a:ext cx="7924800" cy="9525"/>
          </a:xfrm>
          <a:prstGeom prst="rect">
            <a:avLst/>
          </a:prstGeom>
          <a:solidFill>
            <a:srgbClr val="D9D2C4"/>
          </a:solidFill>
          <a:ln>
            <a:noFill/>
          </a:ln>
        </p:spPr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ag"/>
          <p:cNvSpPr txBox="1"/>
          <p:nvPr/>
        </p:nvSpPr>
        <p:spPr>
          <a:xfrm>
            <a:off x="609600" y="323850"/>
            <a:ext cx="2857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825" b="1" kern="0" spc="200" noProof="1">
                <a:solidFill>
                  <a:srgbClr val="C65A1E"/>
                </a:solidFill>
                <a:latin typeface="MiSans" charset="-122"/>
                <a:ea typeface="MiSans" charset="-122"/>
              </a:rPr>
              <a:t>04 · AI 实践过程</a:t>
            </a:r>
            <a:endParaRPr lang="en-US" sz="825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14350"/>
            <a:ext cx="7924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232830"/>
                </a:solidFill>
                <a:latin typeface="Sarasa UI SC" panose="02000500000000000000" charset="-122"/>
                <a:ea typeface="Sarasa UI SC" panose="02000500000000000000" charset="-122"/>
              </a:rPr>
              <a:t>六步完成：从用例生成到全量回归</a:t>
            </a:r>
            <a:endParaRPr lang="en-US" noProof="1"/>
          </a:p>
        </p:txBody>
      </p:sp>
      <p:sp>
        <p:nvSpPr>
          <p:cNvPr id="4" name="bar"/>
          <p:cNvSpPr/>
          <p:nvPr/>
        </p:nvSpPr>
        <p:spPr>
          <a:xfrm>
            <a:off x="609600" y="933450"/>
            <a:ext cx="342900" cy="28575"/>
          </a:xfrm>
          <a:prstGeom prst="rect">
            <a:avLst/>
          </a:prstGeom>
          <a:solidFill>
            <a:srgbClr val="C65A1E"/>
          </a:solidFill>
          <a:ln>
            <a:noFill/>
          </a:ln>
        </p:spPr>
      </p:sp>
      <p:sp>
        <p:nvSpPr>
          <p:cNvPr id="5" name="spine"/>
          <p:cNvSpPr/>
          <p:nvPr/>
        </p:nvSpPr>
        <p:spPr>
          <a:xfrm>
            <a:off x="809625" y="1238250"/>
            <a:ext cx="19050" cy="3257550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  <p:sp>
        <p:nvSpPr>
          <p:cNvPr id="6" name="p1-sq"/>
          <p:cNvSpPr/>
          <p:nvPr/>
        </p:nvSpPr>
        <p:spPr>
          <a:xfrm>
            <a:off x="723900" y="1181100"/>
            <a:ext cx="190500" cy="190500"/>
          </a:xfrm>
          <a:prstGeom prst="rect">
            <a:avLst/>
          </a:prstGeom>
          <a:solidFill>
            <a:srgbClr val="1E4E5F"/>
          </a:solidFill>
          <a:ln>
            <a:noFill/>
          </a:ln>
        </p:spPr>
      </p:sp>
      <p:sp>
        <p:nvSpPr>
          <p:cNvPr id="7" name="p1-no"/>
          <p:cNvSpPr txBox="1"/>
          <p:nvPr/>
        </p:nvSpPr>
        <p:spPr>
          <a:xfrm>
            <a:off x="723900" y="1209675"/>
            <a:ext cx="1905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p>
            <a:pPr algn="ctr">
              <a:lnSpc>
                <a:spcPct val="120000"/>
              </a:lnSpc>
            </a:pPr>
            <a:r>
              <a:rPr lang="en-US" sz="715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1</a:t>
            </a:r>
            <a:endParaRPr lang="en-US" sz="715" noProof="1"/>
          </a:p>
        </p:txBody>
      </p:sp>
      <p:sp>
        <p:nvSpPr>
          <p:cNvPr id="8" name="p1-title"/>
          <p:cNvSpPr txBox="1"/>
          <p:nvPr/>
        </p:nvSpPr>
        <p:spPr>
          <a:xfrm>
            <a:off x="1066800" y="11620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4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用例设计</a:t>
            </a:r>
            <a:endParaRPr lang="en-US" sz="940" noProof="1"/>
          </a:p>
        </p:txBody>
      </p:sp>
      <p:sp>
        <p:nvSpPr>
          <p:cNvPr id="9" name="p1-desc"/>
          <p:cNvSpPr txBox="1"/>
          <p:nvPr/>
        </p:nvSpPr>
        <p:spPr>
          <a:xfrm>
            <a:off x="1066800" y="1352550"/>
            <a:ext cx="74676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5000"/>
              </a:lnSpc>
            </a:pPr>
            <a:r>
              <a:rPr lang="en-US" sz="79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AI 按八类接口入口生成 40 条用例清单，综合运用等价类划分、边界值分析、鉴权矩阵与稳定错误码校验</a:t>
            </a:r>
            <a:endParaRPr lang="en-US" sz="790" noProof="1"/>
          </a:p>
        </p:txBody>
      </p:sp>
      <p:sp>
        <p:nvSpPr>
          <p:cNvPr id="10" name="p2-sq"/>
          <p:cNvSpPr/>
          <p:nvPr/>
        </p:nvSpPr>
        <p:spPr>
          <a:xfrm>
            <a:off x="723900" y="1828800"/>
            <a:ext cx="190500" cy="190500"/>
          </a:xfrm>
          <a:prstGeom prst="rect">
            <a:avLst/>
          </a:prstGeom>
          <a:solidFill>
            <a:srgbClr val="1E4E5F"/>
          </a:solidFill>
          <a:ln>
            <a:noFill/>
          </a:ln>
        </p:spPr>
      </p:sp>
      <p:sp>
        <p:nvSpPr>
          <p:cNvPr id="11" name="p2-no"/>
          <p:cNvSpPr txBox="1"/>
          <p:nvPr/>
        </p:nvSpPr>
        <p:spPr>
          <a:xfrm>
            <a:off x="723900" y="1857375"/>
            <a:ext cx="1905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p>
            <a:pPr algn="ctr">
              <a:lnSpc>
                <a:spcPct val="120000"/>
              </a:lnSpc>
            </a:pPr>
            <a:r>
              <a:rPr lang="en-US" sz="715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2</a:t>
            </a:r>
            <a:endParaRPr lang="en-US" sz="715" noProof="1"/>
          </a:p>
        </p:txBody>
      </p:sp>
      <p:sp>
        <p:nvSpPr>
          <p:cNvPr id="12" name="p2-title"/>
          <p:cNvSpPr txBox="1"/>
          <p:nvPr/>
        </p:nvSpPr>
        <p:spPr>
          <a:xfrm>
            <a:off x="1066800" y="18097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4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脚本实现</a:t>
            </a:r>
            <a:endParaRPr lang="en-US" sz="940" noProof="1"/>
          </a:p>
        </p:txBody>
      </p:sp>
      <p:sp>
        <p:nvSpPr>
          <p:cNvPr id="13" name="p2-desc"/>
          <p:cNvSpPr txBox="1"/>
          <p:nvPr/>
        </p:nvSpPr>
        <p:spPr>
          <a:xfrm>
            <a:off x="1066800" y="2000250"/>
            <a:ext cx="74676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5000"/>
              </a:lnSpc>
            </a:pPr>
            <a:r>
              <a:rPr lang="en-US" sz="79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AI 产出完整 pytest 工程：conftest.py 封装 TestClient，monkeypatch 隔离 MySQL、LLM、Tavily、Chroma 等全部外部依赖</a:t>
            </a:r>
            <a:endParaRPr lang="en-US" sz="790" noProof="1"/>
          </a:p>
        </p:txBody>
      </p:sp>
      <p:sp>
        <p:nvSpPr>
          <p:cNvPr id="14" name="p3-sq"/>
          <p:cNvSpPr/>
          <p:nvPr/>
        </p:nvSpPr>
        <p:spPr>
          <a:xfrm>
            <a:off x="723900" y="2476500"/>
            <a:ext cx="190500" cy="190500"/>
          </a:xfrm>
          <a:prstGeom prst="rect">
            <a:avLst/>
          </a:prstGeom>
          <a:solidFill>
            <a:srgbClr val="1E4E5F"/>
          </a:solidFill>
          <a:ln>
            <a:noFill/>
          </a:ln>
        </p:spPr>
      </p:sp>
      <p:sp>
        <p:nvSpPr>
          <p:cNvPr id="15" name="p3-no"/>
          <p:cNvSpPr txBox="1"/>
          <p:nvPr/>
        </p:nvSpPr>
        <p:spPr>
          <a:xfrm>
            <a:off x="723900" y="2505075"/>
            <a:ext cx="1905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p>
            <a:pPr algn="ctr">
              <a:lnSpc>
                <a:spcPct val="120000"/>
              </a:lnSpc>
            </a:pPr>
            <a:r>
              <a:rPr lang="en-US" sz="715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3</a:t>
            </a:r>
            <a:endParaRPr lang="en-US" sz="715" noProof="1"/>
          </a:p>
        </p:txBody>
      </p:sp>
      <p:sp>
        <p:nvSpPr>
          <p:cNvPr id="16" name="p3-title"/>
          <p:cNvSpPr txBox="1"/>
          <p:nvPr/>
        </p:nvSpPr>
        <p:spPr>
          <a:xfrm>
            <a:off x="1066800" y="24574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4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首轮执行</a:t>
            </a:r>
            <a:endParaRPr lang="en-US" sz="940" noProof="1"/>
          </a:p>
        </p:txBody>
      </p:sp>
      <p:sp>
        <p:nvSpPr>
          <p:cNvPr id="17" name="p3-desc"/>
          <p:cNvSpPr txBox="1"/>
          <p:nvPr/>
        </p:nvSpPr>
        <p:spPr>
          <a:xfrm>
            <a:off x="1066800" y="2647950"/>
            <a:ext cx="74676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5000"/>
              </a:lnSpc>
            </a:pPr>
            <a:r>
              <a:rPr lang="en-US" sz="79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40 条用例全部通过（40 passed），通过率 100%，全量执行仅需数秒，支持一键运行</a:t>
            </a:r>
            <a:endParaRPr lang="en-US" sz="790" noProof="1"/>
          </a:p>
        </p:txBody>
      </p:sp>
      <p:sp>
        <p:nvSpPr>
          <p:cNvPr id="18" name="p4-sq"/>
          <p:cNvSpPr/>
          <p:nvPr/>
        </p:nvSpPr>
        <p:spPr>
          <a:xfrm>
            <a:off x="723900" y="3124200"/>
            <a:ext cx="190500" cy="190500"/>
          </a:xfrm>
          <a:prstGeom prst="rect">
            <a:avLst/>
          </a:prstGeom>
          <a:solidFill>
            <a:srgbClr val="C65A1E"/>
          </a:solidFill>
          <a:ln>
            <a:noFill/>
          </a:ln>
        </p:spPr>
      </p:sp>
      <p:sp>
        <p:nvSpPr>
          <p:cNvPr id="19" name="p4-no"/>
          <p:cNvSpPr txBox="1"/>
          <p:nvPr/>
        </p:nvSpPr>
        <p:spPr>
          <a:xfrm>
            <a:off x="723900" y="3152775"/>
            <a:ext cx="1905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p>
            <a:pPr algn="ctr">
              <a:lnSpc>
                <a:spcPct val="120000"/>
              </a:lnSpc>
            </a:pPr>
            <a:r>
              <a:rPr lang="en-US" sz="715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4</a:t>
            </a:r>
            <a:endParaRPr lang="en-US" sz="715" noProof="1"/>
          </a:p>
        </p:txBody>
      </p:sp>
      <p:sp>
        <p:nvSpPr>
          <p:cNvPr id="20" name="p4-title"/>
          <p:cNvSpPr txBox="1"/>
          <p:nvPr/>
        </p:nvSpPr>
        <p:spPr>
          <a:xfrm>
            <a:off x="1066800" y="3105150"/>
            <a:ext cx="3048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40" b="1" noProof="1">
                <a:solidFill>
                  <a:srgbClr val="C65A1E"/>
                </a:solidFill>
                <a:latin typeface="MiSans" charset="-122"/>
                <a:ea typeface="MiSans" charset="-122"/>
              </a:rPr>
              <a:t>二轮边界复查（人工 + AI）</a:t>
            </a:r>
            <a:endParaRPr lang="en-US" sz="940" noProof="1"/>
          </a:p>
        </p:txBody>
      </p:sp>
      <p:sp>
        <p:nvSpPr>
          <p:cNvPr id="21" name="p4-desc"/>
          <p:cNvSpPr txBox="1"/>
          <p:nvPr/>
        </p:nvSpPr>
        <p:spPr>
          <a:xfrm>
            <a:off x="1066800" y="3295650"/>
            <a:ext cx="74676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5000"/>
              </a:lnSpc>
            </a:pPr>
            <a:r>
              <a:rPr lang="en-US" sz="79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复查发现首版清单遗漏空字符串昵称边界，补充 TC044A 用例后暴露 BUG-001（空昵称清空原昵称）——AI 产出的边界盲区由复查兜底</a:t>
            </a:r>
            <a:endParaRPr lang="en-US" sz="790" noProof="1"/>
          </a:p>
        </p:txBody>
      </p:sp>
      <p:sp>
        <p:nvSpPr>
          <p:cNvPr id="22" name="p5-sq"/>
          <p:cNvSpPr/>
          <p:nvPr/>
        </p:nvSpPr>
        <p:spPr>
          <a:xfrm>
            <a:off x="723900" y="3771900"/>
            <a:ext cx="190500" cy="190500"/>
          </a:xfrm>
          <a:prstGeom prst="rect">
            <a:avLst/>
          </a:prstGeom>
          <a:solidFill>
            <a:srgbClr val="1E4E5F"/>
          </a:solidFill>
          <a:ln>
            <a:noFill/>
          </a:ln>
        </p:spPr>
      </p:sp>
      <p:sp>
        <p:nvSpPr>
          <p:cNvPr id="23" name="p5-no"/>
          <p:cNvSpPr txBox="1"/>
          <p:nvPr/>
        </p:nvSpPr>
        <p:spPr>
          <a:xfrm>
            <a:off x="723900" y="3800475"/>
            <a:ext cx="1905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p>
            <a:pPr algn="ctr">
              <a:lnSpc>
                <a:spcPct val="120000"/>
              </a:lnSpc>
            </a:pPr>
            <a:r>
              <a:rPr lang="en-US" sz="715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5</a:t>
            </a:r>
            <a:endParaRPr lang="en-US" sz="715" noProof="1"/>
          </a:p>
        </p:txBody>
      </p:sp>
      <p:sp>
        <p:nvSpPr>
          <p:cNvPr id="24" name="p5-title"/>
          <p:cNvSpPr txBox="1"/>
          <p:nvPr/>
        </p:nvSpPr>
        <p:spPr>
          <a:xfrm>
            <a:off x="1066800" y="37528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4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缺陷定位与修复</a:t>
            </a:r>
            <a:endParaRPr lang="en-US" sz="940" noProof="1"/>
          </a:p>
        </p:txBody>
      </p:sp>
      <p:sp>
        <p:nvSpPr>
          <p:cNvPr id="25" name="p5-desc"/>
          <p:cNvSpPr txBox="1"/>
          <p:nvPr/>
        </p:nvSpPr>
        <p:spPr>
          <a:xfrm>
            <a:off x="1066800" y="3943350"/>
            <a:ext cx="74676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5000"/>
              </a:lnSpc>
            </a:pPr>
            <a:r>
              <a:rPr lang="en-US" sz="79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AI 定位 3 项缺陷的代码级根因并实施最小改动修复；人工确认缺陷定级与修复语义（422 拒绝 / 服务端判分 / 先校验归属）</a:t>
            </a:r>
            <a:endParaRPr lang="en-US" sz="790" noProof="1"/>
          </a:p>
        </p:txBody>
      </p:sp>
      <p:sp>
        <p:nvSpPr>
          <p:cNvPr id="26" name="p6-sq"/>
          <p:cNvSpPr/>
          <p:nvPr/>
        </p:nvSpPr>
        <p:spPr>
          <a:xfrm>
            <a:off x="723900" y="4419600"/>
            <a:ext cx="190500" cy="190500"/>
          </a:xfrm>
          <a:prstGeom prst="rect">
            <a:avLst/>
          </a:prstGeom>
          <a:solidFill>
            <a:srgbClr val="3E7A4E"/>
          </a:solidFill>
          <a:ln>
            <a:noFill/>
          </a:ln>
        </p:spPr>
      </p:sp>
      <p:sp>
        <p:nvSpPr>
          <p:cNvPr id="27" name="p6-no"/>
          <p:cNvSpPr txBox="1"/>
          <p:nvPr/>
        </p:nvSpPr>
        <p:spPr>
          <a:xfrm>
            <a:off x="723900" y="4448175"/>
            <a:ext cx="190500" cy="1428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p>
            <a:pPr algn="ctr">
              <a:lnSpc>
                <a:spcPct val="120000"/>
              </a:lnSpc>
            </a:pPr>
            <a:r>
              <a:rPr lang="en-US" sz="715" b="1" noProof="1">
                <a:solidFill>
                  <a:srgbClr val="FFFFFF"/>
                </a:solidFill>
                <a:latin typeface="MiSans" charset="-122"/>
                <a:ea typeface="MiSans" charset="-122"/>
              </a:rPr>
              <a:t>6</a:t>
            </a:r>
            <a:endParaRPr lang="en-US" sz="715" noProof="1"/>
          </a:p>
        </p:txBody>
      </p:sp>
      <p:sp>
        <p:nvSpPr>
          <p:cNvPr id="28" name="p6-title"/>
          <p:cNvSpPr txBox="1"/>
          <p:nvPr/>
        </p:nvSpPr>
        <p:spPr>
          <a:xfrm>
            <a:off x="1066800" y="4400550"/>
            <a:ext cx="1905000" cy="171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4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全量回归验证</a:t>
            </a:r>
            <a:endParaRPr lang="en-US" sz="940" noProof="1"/>
          </a:p>
        </p:txBody>
      </p:sp>
      <p:sp>
        <p:nvSpPr>
          <p:cNvPr id="29" name="p6-desc"/>
          <p:cNvSpPr txBox="1"/>
          <p:nvPr/>
        </p:nvSpPr>
        <p:spPr>
          <a:xfrm>
            <a:off x="1066800" y="4591050"/>
            <a:ext cx="74676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9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修复后全量 40 条用例重跑全部通过，确认修复未引入新问题</a:t>
            </a:r>
            <a:endParaRPr lang="en-US" sz="790" noProof="1"/>
          </a:p>
        </p:txBody>
      </p:sp>
      <p:sp>
        <p:nvSpPr>
          <p:cNvPr id="30" name="foot-line"/>
          <p:cNvSpPr/>
          <p:nvPr/>
        </p:nvSpPr>
        <p:spPr>
          <a:xfrm>
            <a:off x="609600" y="4838700"/>
            <a:ext cx="79248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ag"/>
          <p:cNvSpPr txBox="1"/>
          <p:nvPr/>
        </p:nvSpPr>
        <p:spPr>
          <a:xfrm>
            <a:off x="609600" y="323850"/>
            <a:ext cx="2857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825" b="1" kern="0" spc="200" noProof="1">
                <a:solidFill>
                  <a:srgbClr val="C65A1E"/>
                </a:solidFill>
                <a:latin typeface="MiSans" charset="-122"/>
                <a:ea typeface="MiSans" charset="-122"/>
              </a:rPr>
              <a:t>04 · 实践成果</a:t>
            </a:r>
            <a:endParaRPr lang="en-US" sz="825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14350"/>
            <a:ext cx="7924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232830"/>
                </a:solidFill>
                <a:latin typeface="Sarasa UI SC" panose="02000500000000000000" charset="-122"/>
                <a:ea typeface="Sarasa UI SC" panose="02000500000000000000" charset="-122"/>
              </a:rPr>
              <a:t>40 条用例 100% 通过，3 项缺陷全部修复并回归验证</a:t>
            </a:r>
            <a:endParaRPr lang="en-US" noProof="1"/>
          </a:p>
        </p:txBody>
      </p:sp>
      <p:sp>
        <p:nvSpPr>
          <p:cNvPr id="4" name="bar"/>
          <p:cNvSpPr/>
          <p:nvPr/>
        </p:nvSpPr>
        <p:spPr>
          <a:xfrm>
            <a:off x="609600" y="933450"/>
            <a:ext cx="342900" cy="28575"/>
          </a:xfrm>
          <a:prstGeom prst="rect">
            <a:avLst/>
          </a:prstGeom>
          <a:solidFill>
            <a:srgbClr val="C65A1E"/>
          </a:solidFill>
          <a:ln>
            <a:noFill/>
          </a:ln>
        </p:spPr>
      </p:sp>
      <p:sp>
        <p:nvSpPr>
          <p:cNvPr id="5" name="k1-num"/>
          <p:cNvSpPr txBox="1"/>
          <p:nvPr/>
        </p:nvSpPr>
        <p:spPr>
          <a:xfrm>
            <a:off x="609600" y="1123950"/>
            <a:ext cx="18097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2100" b="1" noProof="1">
                <a:solidFill>
                  <a:srgbClr val="1E4E5F"/>
                </a:solidFill>
                <a:latin typeface="MiSans" charset="-122"/>
                <a:ea typeface="MiSans" charset="-122"/>
              </a:rPr>
              <a:t>40</a:t>
            </a:r>
            <a:r>
              <a:rPr lang="en-US" sz="90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 条</a:t>
            </a:r>
            <a:endParaRPr lang="en-US" sz="1200" noProof="1"/>
          </a:p>
        </p:txBody>
      </p:sp>
      <p:sp>
        <p:nvSpPr>
          <p:cNvPr id="6" name="k1-label"/>
          <p:cNvSpPr txBox="1"/>
          <p:nvPr/>
        </p:nvSpPr>
        <p:spPr>
          <a:xfrm>
            <a:off x="609600" y="1466850"/>
            <a:ext cx="1809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0000"/>
              </a:lnSpc>
            </a:pPr>
            <a:r>
              <a:rPr lang="en-US" sz="75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接口级自动化用例（任务要求 ≥15 条）</a:t>
            </a:r>
            <a:endParaRPr lang="en-US" sz="750" noProof="1"/>
          </a:p>
        </p:txBody>
      </p:sp>
      <p:sp>
        <p:nvSpPr>
          <p:cNvPr id="7" name="k-sep1"/>
          <p:cNvSpPr/>
          <p:nvPr/>
        </p:nvSpPr>
        <p:spPr>
          <a:xfrm>
            <a:off x="2514600" y="1162050"/>
            <a:ext cx="9525" cy="552450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  <p:sp>
        <p:nvSpPr>
          <p:cNvPr id="8" name="k2-num"/>
          <p:cNvSpPr txBox="1"/>
          <p:nvPr/>
        </p:nvSpPr>
        <p:spPr>
          <a:xfrm>
            <a:off x="2743200" y="1123950"/>
            <a:ext cx="18097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2100" b="1" noProof="1">
                <a:solidFill>
                  <a:srgbClr val="1E4E5F"/>
                </a:solidFill>
                <a:latin typeface="MiSans" charset="-122"/>
                <a:ea typeface="MiSans" charset="-122"/>
              </a:rPr>
              <a:t>100%</a:t>
            </a:r>
            <a:endParaRPr lang="en-US" sz="1200" noProof="1"/>
          </a:p>
        </p:txBody>
      </p:sp>
      <p:sp>
        <p:nvSpPr>
          <p:cNvPr id="9" name="k2-label"/>
          <p:cNvSpPr txBox="1"/>
          <p:nvPr/>
        </p:nvSpPr>
        <p:spPr>
          <a:xfrm>
            <a:off x="2743200" y="1466850"/>
            <a:ext cx="1809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0000"/>
              </a:lnSpc>
            </a:pPr>
            <a:r>
              <a:rPr lang="en-US" sz="75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用例通过率，全量一键执行</a:t>
            </a:r>
            <a:endParaRPr lang="en-US" sz="750" noProof="1"/>
          </a:p>
        </p:txBody>
      </p:sp>
      <p:sp>
        <p:nvSpPr>
          <p:cNvPr id="10" name="k-sep2"/>
          <p:cNvSpPr/>
          <p:nvPr/>
        </p:nvSpPr>
        <p:spPr>
          <a:xfrm>
            <a:off x="4648200" y="1162050"/>
            <a:ext cx="9525" cy="552450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  <p:sp>
        <p:nvSpPr>
          <p:cNvPr id="11" name="k3-num"/>
          <p:cNvSpPr txBox="1"/>
          <p:nvPr/>
        </p:nvSpPr>
        <p:spPr>
          <a:xfrm>
            <a:off x="4876800" y="1123950"/>
            <a:ext cx="18097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2100" b="1" noProof="1">
                <a:solidFill>
                  <a:srgbClr val="C65A1E"/>
                </a:solidFill>
                <a:latin typeface="MiSans" charset="-122"/>
                <a:ea typeface="MiSans" charset="-122"/>
              </a:rPr>
              <a:t>3</a:t>
            </a:r>
            <a:r>
              <a:rPr lang="en-US" sz="90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 项</a:t>
            </a:r>
            <a:endParaRPr lang="en-US" sz="1200" noProof="1"/>
          </a:p>
        </p:txBody>
      </p:sp>
      <p:sp>
        <p:nvSpPr>
          <p:cNvPr id="12" name="k3-label"/>
          <p:cNvSpPr txBox="1"/>
          <p:nvPr/>
        </p:nvSpPr>
        <p:spPr>
          <a:xfrm>
            <a:off x="4876800" y="1466850"/>
            <a:ext cx="180975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0000"/>
              </a:lnSpc>
            </a:pPr>
            <a:r>
              <a:rPr lang="en-US" sz="75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发现服务端缺陷（高危 2 · 中危 1）</a:t>
            </a:r>
            <a:endParaRPr lang="en-US" sz="750" noProof="1"/>
          </a:p>
        </p:txBody>
      </p:sp>
      <p:sp>
        <p:nvSpPr>
          <p:cNvPr id="13" name="k-sep3"/>
          <p:cNvSpPr/>
          <p:nvPr/>
        </p:nvSpPr>
        <p:spPr>
          <a:xfrm>
            <a:off x="6781800" y="1162050"/>
            <a:ext cx="9525" cy="552450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  <p:sp>
        <p:nvSpPr>
          <p:cNvPr id="14" name="k4-num"/>
          <p:cNvSpPr txBox="1"/>
          <p:nvPr/>
        </p:nvSpPr>
        <p:spPr>
          <a:xfrm>
            <a:off x="7010400" y="1123950"/>
            <a:ext cx="152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2100" b="1" noProof="1">
                <a:solidFill>
                  <a:srgbClr val="1E4E5F"/>
                </a:solidFill>
                <a:latin typeface="MiSans" charset="-122"/>
                <a:ea typeface="MiSans" charset="-122"/>
              </a:rPr>
              <a:t>秒级</a:t>
            </a:r>
            <a:endParaRPr lang="en-US" sz="1200" noProof="1"/>
          </a:p>
        </p:txBody>
      </p:sp>
      <p:sp>
        <p:nvSpPr>
          <p:cNvPr id="15" name="k4-label"/>
          <p:cNvSpPr txBox="1"/>
          <p:nvPr/>
        </p:nvSpPr>
        <p:spPr>
          <a:xfrm>
            <a:off x="7010400" y="1466850"/>
            <a:ext cx="15240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40000"/>
              </a:lnSpc>
            </a:pPr>
            <a:r>
              <a:rPr lang="en-US" sz="75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全量回归执行耗时</a:t>
            </a:r>
            <a:endParaRPr lang="en-US" sz="750" noProof="1"/>
          </a:p>
        </p:txBody>
      </p:sp>
      <p:sp>
        <p:nvSpPr>
          <p:cNvPr id="16" name="chart-label"/>
          <p:cNvSpPr txBox="1"/>
          <p:nvPr/>
        </p:nvSpPr>
        <p:spPr>
          <a:xfrm>
            <a:off x="609600" y="19812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0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用例模块分布（条）</a:t>
            </a:r>
            <a:endParaRPr lang="en-US" sz="900" noProof="1"/>
          </a:p>
        </p:txBody>
      </p:sp>
      <p:graphicFrame>
        <p:nvGraphicFramePr>
          <p:cNvPr id="17" name="chart"/>
          <p:cNvGraphicFramePr/>
          <p:nvPr/>
        </p:nvGraphicFramePr>
        <p:xfrm>
          <a:off x="609600" y="2190750"/>
          <a:ext cx="4572000" cy="2476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note-label"/>
          <p:cNvSpPr txBox="1"/>
          <p:nvPr/>
        </p:nvSpPr>
        <p:spPr>
          <a:xfrm>
            <a:off x="5600700" y="198120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90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成果说明</a:t>
            </a:r>
            <a:endParaRPr lang="en-US" sz="900" noProof="1"/>
          </a:p>
        </p:txBody>
      </p:sp>
      <p:sp>
        <p:nvSpPr>
          <p:cNvPr id="19" name="note-body"/>
          <p:cNvSpPr txBox="1"/>
          <p:nvPr/>
        </p:nvSpPr>
        <p:spPr>
          <a:xfrm>
            <a:off x="5600700" y="2209800"/>
            <a:ext cx="2933700" cy="209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60000"/>
              </a:lnSpc>
            </a:pPr>
            <a:r>
              <a:rPr lang="en-US" sz="79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· 用例清单与脚本由 AI 生成、可直接运行，覆盖常规校验、鉴权与错误码场景</a:t>
            </a:r>
            <a:endParaRPr lang="en-US" sz="790" noProof="1"/>
          </a:p>
          <a:p>
            <a:pPr>
              <a:lnSpc>
                <a:spcPct val="160000"/>
              </a:lnSpc>
            </a:pPr>
            <a:r>
              <a:rPr lang="en-US" sz="79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· 缺陷集中于服务端数据正确性与访问控制，前端交互未发现功能性缺陷</a:t>
            </a:r>
            <a:endParaRPr lang="en-US" sz="790" noProof="1"/>
          </a:p>
          <a:p>
            <a:pPr>
              <a:lnSpc>
                <a:spcPct val="160000"/>
              </a:lnSpc>
            </a:pPr>
            <a:r>
              <a:rPr lang="en-US" sz="79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· 含 BUG-001 修复后新增的回归用例 TC044A</a:t>
            </a:r>
            <a:endParaRPr lang="en-US" sz="790" noProof="1"/>
          </a:p>
          <a:p>
            <a:pPr>
              <a:lnSpc>
                <a:spcPct val="160000"/>
              </a:lnSpc>
            </a:pPr>
            <a:r>
              <a:rPr lang="en-US" sz="79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· 修复语义：空昵称返回 422、判分以服务端标准答案为准、报告接口先校验归属</a:t>
            </a:r>
            <a:endParaRPr lang="en-US" sz="790" noProof="1"/>
          </a:p>
        </p:txBody>
      </p:sp>
      <p:sp>
        <p:nvSpPr>
          <p:cNvPr id="20" name="note-src"/>
          <p:cNvSpPr txBox="1"/>
          <p:nvPr/>
        </p:nvSpPr>
        <p:spPr>
          <a:xfrm>
            <a:off x="5600700" y="4400550"/>
            <a:ext cx="29337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715" noProof="1">
                <a:solidFill>
                  <a:srgbClr val="66707A"/>
                </a:solidFill>
                <a:latin typeface="MiSans" charset="-122"/>
                <a:ea typeface="MiSans" charset="-122"/>
              </a:rPr>
              <a:t>数据来自《AI 测试用例清单》《AI 测试报告》，2026-09-22</a:t>
            </a:r>
            <a:endParaRPr lang="en-US" sz="715" noProof="1"/>
          </a:p>
        </p:txBody>
      </p:sp>
      <p:sp>
        <p:nvSpPr>
          <p:cNvPr id="21" name="foot-line"/>
          <p:cNvSpPr/>
          <p:nvPr/>
        </p:nvSpPr>
        <p:spPr>
          <a:xfrm>
            <a:off x="609600" y="4838700"/>
            <a:ext cx="79248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ag"/>
          <p:cNvSpPr txBox="1"/>
          <p:nvPr/>
        </p:nvSpPr>
        <p:spPr>
          <a:xfrm>
            <a:off x="609600" y="323850"/>
            <a:ext cx="2857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825" b="1" kern="0" spc="200" noProof="1">
                <a:solidFill>
                  <a:srgbClr val="C65A1E"/>
                </a:solidFill>
                <a:latin typeface="MiSans" charset="-122"/>
                <a:ea typeface="MiSans" charset="-122"/>
              </a:rPr>
              <a:t>04 · 缺陷发现与修复</a:t>
            </a:r>
            <a:endParaRPr lang="en-US" sz="825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14350"/>
            <a:ext cx="7924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232830"/>
                </a:solidFill>
                <a:latin typeface="Sarasa UI SC" panose="02000500000000000000" charset="-122"/>
                <a:ea typeface="Sarasa UI SC" panose="02000500000000000000" charset="-122"/>
              </a:rPr>
              <a:t>三项缺陷：均在服务端数据正确性与访问控制环节</a:t>
            </a:r>
            <a:endParaRPr lang="en-US" noProof="1"/>
          </a:p>
        </p:txBody>
      </p:sp>
      <p:sp>
        <p:nvSpPr>
          <p:cNvPr id="4" name="bar"/>
          <p:cNvSpPr/>
          <p:nvPr/>
        </p:nvSpPr>
        <p:spPr>
          <a:xfrm>
            <a:off x="609600" y="933450"/>
            <a:ext cx="342900" cy="28575"/>
          </a:xfrm>
          <a:prstGeom prst="rect">
            <a:avLst/>
          </a:prstGeom>
          <a:solidFill>
            <a:srgbClr val="C65A1E"/>
          </a:solidFill>
          <a:ln>
            <a:noFill/>
          </a:ln>
        </p:spPr>
      </p:sp>
      <p:graphicFrame>
        <p:nvGraphicFramePr>
          <p:cNvPr id="5" name="defect-table"/>
          <p:cNvGraphicFramePr>
            <a:graphicFrameLocks noGrp="1"/>
          </p:cNvGraphicFramePr>
          <p:nvPr/>
        </p:nvGraphicFramePr>
        <p:xfrm>
          <a:off x="609600" y="1123950"/>
          <a:ext cx="7924800" cy="3200400"/>
        </p:xfrm>
        <a:graphic>
          <a:graphicData uri="http://schemas.openxmlformats.org/drawingml/2006/table">
            <a:tbl>
              <a:tblPr/>
              <a:tblGrid>
                <a:gridCol w="1109980"/>
                <a:gridCol w="554355"/>
                <a:gridCol w="2219325"/>
                <a:gridCol w="2693670"/>
                <a:gridCol w="1347470"/>
              </a:tblGrid>
              <a:tr h="320040"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9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缺陷</a:t>
                      </a:r>
                      <a:endParaRPr lang="en-US" sz="79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1E4E5F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9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严重度</a:t>
                      </a:r>
                      <a:endParaRPr lang="en-US" sz="79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1E4E5F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9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问题现象</a:t>
                      </a:r>
                      <a:endParaRPr lang="en-US" sz="79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1E4E5F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9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根因与修复方案</a:t>
                      </a:r>
                      <a:endParaRPr lang="en-US" sz="79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1E4E5F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90" b="1" noProof="1">
                          <a:solidFill>
                            <a:srgbClr val="FFFFFF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回归验证</a:t>
                      </a:r>
                      <a:endParaRPr lang="en-US" sz="790" b="1" noProof="1">
                        <a:solidFill>
                          <a:srgbClr val="FFFFFF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1E4E5F"/>
                    </a:solidFill>
                  </a:tcPr>
                </a:tc>
              </a:tr>
              <a:tr h="960120"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50" b="1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BUG-001</a:t>
                      </a:r>
                      <a:endParaRPr lang="en-US" sz="750" b="1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675" noProof="1">
                          <a:solidFill>
                            <a:srgbClr val="66707A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空昵称清空原昵称</a:t>
                      </a:r>
                      <a:endParaRPr lang="en-US" sz="675" noProof="1">
                        <a:solidFill>
                          <a:srgbClr val="66707A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sz="750" b="1" noProof="1">
                          <a:solidFill>
                            <a:srgbClr val="B03A2A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高</a:t>
                      </a:r>
                      <a:endParaRPr lang="en-US" sz="750" b="1" noProof="1">
                        <a:solidFill>
                          <a:srgbClr val="B03A2A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15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PUT /api/v1/user/profile 提交空昵称，返回 HTTP 200 且 code=0，昵称被更新为空字符串，原昵称丢失</a:t>
                      </a:r>
                      <a:endParaRPr lang="en-US" sz="715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15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UpdateProfileRequest.nickname 仅有 max_length=100，缺少长度下限；修复：增加 min_length=1，空字符串在参数校验阶段返回 422</a:t>
                      </a:r>
                      <a:endParaRPr lang="en-US" sz="715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15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回归用例 TC044A 修复前失败、修复后通过，全量 40 条无回归</a:t>
                      </a:r>
                      <a:endParaRPr lang="en-US" sz="715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50" b="1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BUG-002</a:t>
                      </a:r>
                      <a:endParaRPr lang="en-US" sz="750" b="1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675" noProof="1">
                          <a:solidFill>
                            <a:srgbClr val="66707A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报告接口信任客户端判分</a:t>
                      </a:r>
                      <a:endParaRPr lang="en-US" sz="675" noProof="1">
                        <a:solidFill>
                          <a:srgbClr val="66707A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 wrap="square" rtlCol="0"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sz="750" b="1" noProof="1">
                          <a:solidFill>
                            <a:srgbClr val="C65A1E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中</a:t>
                      </a:r>
                      <a:endParaRPr lang="en-US" sz="750" b="1" noProof="1">
                        <a:solidFill>
                          <a:srgbClr val="C65A1E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15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后端直接信任请求中的 is_correct，未按服务端标准答案重新判分；伪造提交实际得到 correct=5、accuracy=100、XP=20</a:t>
                      </a:r>
                      <a:endParaRPr lang="en-US" sz="715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15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判分逻辑全部迁移服务端：按 quiz_id 查询保存的 questions_json 重算 is_correct、correct_count、accuracy；增加同一 quiz_id 结算幂等控制</a:t>
                      </a:r>
                      <a:endParaRPr lang="en-US" sz="715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EFEEE7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15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伪造提交被判 correct=0、accuracy=0，仅结算完成奖励 XP=10</a:t>
                      </a:r>
                      <a:endParaRPr lang="en-US" sz="715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EFEEE7"/>
                    </a:solidFill>
                  </a:tcPr>
                </a:tc>
              </a:tr>
              <a:tr h="960120"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50" b="1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BUG-003</a:t>
                      </a:r>
                      <a:endParaRPr lang="en-US" sz="750" b="1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675" noProof="1">
                          <a:solidFill>
                            <a:srgbClr val="66707A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报告接口未校验 quiz_id 归属</a:t>
                      </a:r>
                      <a:endParaRPr lang="en-US" sz="675" noProof="1">
                        <a:solidFill>
                          <a:srgbClr val="66707A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p>
                      <a:pPr algn="ctr">
                        <a:lnSpc>
                          <a:spcPct val="140000"/>
                        </a:lnSpc>
                      </a:pPr>
                      <a:r>
                        <a:rPr lang="en-US" sz="750" b="1" noProof="1">
                          <a:solidFill>
                            <a:srgbClr val="B03A2A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高</a:t>
                      </a:r>
                      <a:endParaRPr lang="en-US" sz="750" b="1" noProof="1">
                        <a:solidFill>
                          <a:srgbClr val="B03A2A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15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用户 B 可携带用户 A 的 quiz_id 提交报告，答题记录、报告与经验值均被越权写入，存在刷经验风险（IDOR）</a:t>
                      </a:r>
                      <a:endParaRPr lang="en-US" sz="715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15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报告生成前按当前用户 ID 校验闯关会话归属，权限校验置于大模型调用与数据库写入之前；答题记录、报告保存与经验值结算放入同一事务</a:t>
                      </a:r>
                      <a:endParaRPr lang="en-US" sz="715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/>
                    <a:p>
                      <a:pPr algn="l">
                        <a:lnSpc>
                          <a:spcPct val="140000"/>
                        </a:lnSpc>
                      </a:pPr>
                      <a:r>
                        <a:rPr lang="en-US" sz="715" noProof="1">
                          <a:solidFill>
                            <a:srgbClr val="23283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越权请求被拒绝，相关写入不再发生</a:t>
                      </a:r>
                      <a:endParaRPr lang="en-US" sz="715" noProof="1">
                        <a:solidFill>
                          <a:srgbClr val="23283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rgbClr val="D9D5CB"/>
                      </a:solidFill>
                    </a:lnT>
                    <a:lnB w="12700">
                      <a:solidFill>
                        <a:srgbClr val="D9D5C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fect-note"/>
          <p:cNvSpPr txBox="1"/>
          <p:nvPr/>
        </p:nvSpPr>
        <p:spPr>
          <a:xfrm>
            <a:off x="609600" y="4419600"/>
            <a:ext cx="79248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50000"/>
              </a:lnSpc>
            </a:pPr>
            <a:r>
              <a:rPr lang="en-US" sz="790" b="1" noProof="1">
                <a:solidFill>
                  <a:srgbClr val="232830"/>
                </a:solidFill>
                <a:latin typeface="MiSans" charset="-122"/>
                <a:ea typeface="MiSans" charset="-122"/>
              </a:rPr>
              <a:t>关联分析：</a:t>
            </a:r>
            <a:r>
              <a:rPr lang="en-US" sz="790" noProof="1">
                <a:solidFill>
                  <a:srgbClr val="66707A"/>
                </a:solidFill>
                <a:latin typeface="MiSans" charset="-122"/>
                <a:ea typeface="MiSans" charset="-122"/>
              </a:rPr>
              <a:t>002 与 003 同处报告生成链路，分别对应「判分不可信」与「权限不校验」两个互补短板，均依托闯关会话数据即可根治；3 项缺陷均已于测试当日修复关闭，无遗留问题。</a:t>
            </a:r>
            <a:endParaRPr lang="en-US" sz="790" noProof="1"/>
          </a:p>
        </p:txBody>
      </p:sp>
      <p:sp>
        <p:nvSpPr>
          <p:cNvPr id="7" name="foot-line"/>
          <p:cNvSpPr/>
          <p:nvPr/>
        </p:nvSpPr>
        <p:spPr>
          <a:xfrm>
            <a:off x="609600" y="4838700"/>
            <a:ext cx="79248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ag"/>
          <p:cNvSpPr txBox="1"/>
          <p:nvPr/>
        </p:nvSpPr>
        <p:spPr>
          <a:xfrm>
            <a:off x="609600" y="323850"/>
            <a:ext cx="28575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825" b="1" kern="0" spc="200" noProof="1">
                <a:solidFill>
                  <a:srgbClr val="C65A1E"/>
                </a:solidFill>
                <a:latin typeface="MiSans" charset="-122"/>
                <a:ea typeface="MiSans" charset="-122"/>
              </a:rPr>
              <a:t>05 · AI 反思</a:t>
            </a:r>
            <a:endParaRPr lang="en-US" sz="825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514350"/>
            <a:ext cx="79248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b="1" noProof="1">
                <a:solidFill>
                  <a:srgbClr val="232830"/>
                </a:solidFill>
                <a:latin typeface="Sarasa UI SC" panose="02000500000000000000" charset="-122"/>
                <a:ea typeface="Sarasa UI SC" panose="02000500000000000000" charset="-122"/>
              </a:rPr>
              <a:t>AI 是高效的辅助者，判断与决策仍在人</a:t>
            </a:r>
            <a:endParaRPr lang="en-US" noProof="1"/>
          </a:p>
        </p:txBody>
      </p:sp>
      <p:sp>
        <p:nvSpPr>
          <p:cNvPr id="4" name="bar"/>
          <p:cNvSpPr/>
          <p:nvPr/>
        </p:nvSpPr>
        <p:spPr>
          <a:xfrm>
            <a:off x="609600" y="933450"/>
            <a:ext cx="342900" cy="28575"/>
          </a:xfrm>
          <a:prstGeom prst="rect">
            <a:avLst/>
          </a:prstGeom>
          <a:solidFill>
            <a:srgbClr val="C65A1E"/>
          </a:solidFill>
          <a:ln>
            <a:noFill/>
          </a:ln>
        </p:spPr>
      </p:sp>
      <p:sp>
        <p:nvSpPr>
          <p:cNvPr id="5" name="q1-label"/>
          <p:cNvSpPr txBox="1"/>
          <p:nvPr/>
        </p:nvSpPr>
        <p:spPr>
          <a:xfrm>
            <a:off x="609600" y="11430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015" b="1" noProof="1">
                <a:solidFill>
                  <a:srgbClr val="1E4E5F"/>
                </a:solidFill>
                <a:latin typeface="MiSans" charset="-122"/>
                <a:ea typeface="MiSans" charset="-122"/>
              </a:rPr>
              <a:t>AI 帮我们做了什么</a:t>
            </a:r>
            <a:endParaRPr lang="en-US" sz="1015" noProof="1"/>
          </a:p>
        </p:txBody>
      </p:sp>
      <p:sp>
        <p:nvSpPr>
          <p:cNvPr id="6" name="q1-body"/>
          <p:cNvSpPr txBox="1"/>
          <p:nvPr/>
        </p:nvSpPr>
        <p:spPr>
          <a:xfrm>
            <a:off x="609600" y="1409700"/>
            <a:ext cx="36576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60000"/>
              </a:lnSpc>
            </a:pPr>
            <a:r>
              <a:rPr lang="en-US" sz="79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· 依据接口定义与分层代码生成 40 条用例清单，覆盖等价类、边界值、鉴权与稳定错误码场景</a:t>
            </a:r>
            <a:endParaRPr lang="en-US" sz="790" noProof="1"/>
          </a:p>
          <a:p>
            <a:pPr>
              <a:lnSpc>
                <a:spcPct val="160000"/>
              </a:lnSpc>
            </a:pPr>
            <a:r>
              <a:rPr lang="en-US" sz="79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· 产出完整 pytest 工程（TestClient 封装 + monkeypatch 隔离），可直接一键运行</a:t>
            </a:r>
            <a:endParaRPr lang="en-US" sz="790" noProof="1"/>
          </a:p>
          <a:p>
            <a:pPr>
              <a:lnSpc>
                <a:spcPct val="160000"/>
              </a:lnSpc>
            </a:pPr>
            <a:r>
              <a:rPr lang="en-US" sz="79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· 定位 3 项缺陷的代码级根因（如 Pydantic 模型缺 min_length），给出最小改动修复</a:t>
            </a:r>
            <a:endParaRPr lang="en-US" sz="790" noProof="1"/>
          </a:p>
        </p:txBody>
      </p:sp>
      <p:sp>
        <p:nvSpPr>
          <p:cNvPr id="7" name="v-line"/>
          <p:cNvSpPr/>
          <p:nvPr/>
        </p:nvSpPr>
        <p:spPr>
          <a:xfrm>
            <a:off x="4572000" y="1162050"/>
            <a:ext cx="9525" cy="3333750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  <p:sp>
        <p:nvSpPr>
          <p:cNvPr id="8" name="h-line"/>
          <p:cNvSpPr/>
          <p:nvPr/>
        </p:nvSpPr>
        <p:spPr>
          <a:xfrm>
            <a:off x="609600" y="2838450"/>
            <a:ext cx="79248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  <p:sp>
        <p:nvSpPr>
          <p:cNvPr id="9" name="q2-label"/>
          <p:cNvSpPr txBox="1"/>
          <p:nvPr/>
        </p:nvSpPr>
        <p:spPr>
          <a:xfrm>
            <a:off x="4876800" y="114300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015" b="1" noProof="1">
                <a:solidFill>
                  <a:srgbClr val="B03A2A"/>
                </a:solidFill>
                <a:latin typeface="MiSans" charset="-122"/>
                <a:ea typeface="MiSans" charset="-122"/>
              </a:rPr>
              <a:t>AI 哪里不靠谱</a:t>
            </a:r>
            <a:endParaRPr lang="en-US" sz="1015" noProof="1"/>
          </a:p>
        </p:txBody>
      </p:sp>
      <p:sp>
        <p:nvSpPr>
          <p:cNvPr id="10" name="q2-body"/>
          <p:cNvSpPr txBox="1"/>
          <p:nvPr/>
        </p:nvSpPr>
        <p:spPr>
          <a:xfrm>
            <a:off x="4876800" y="1409700"/>
            <a:ext cx="36576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60000"/>
              </a:lnSpc>
            </a:pPr>
            <a:r>
              <a:rPr lang="en-US" sz="79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· 首版 40 条清单遗漏空字符串昵称边界，BUG-001 首轮未暴露，直到二轮复查补充 TC044A 后才被发现</a:t>
            </a:r>
            <a:endParaRPr lang="en-US" sz="790" noProof="1"/>
          </a:p>
          <a:p>
            <a:pPr>
              <a:lnSpc>
                <a:spcPct val="160000"/>
              </a:lnSpc>
            </a:pPr>
            <a:r>
              <a:rPr lang="en-US" sz="79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· 只能依据代码现状推导预期行为，无法独立判断业务语义——空昵称应当拒绝还是允许，需要人来确认，避免把缺陷行为误当预期</a:t>
            </a:r>
            <a:endParaRPr lang="en-US" sz="790" noProof="1"/>
          </a:p>
        </p:txBody>
      </p:sp>
      <p:sp>
        <p:nvSpPr>
          <p:cNvPr id="11" name="q3-label"/>
          <p:cNvSpPr txBox="1"/>
          <p:nvPr/>
        </p:nvSpPr>
        <p:spPr>
          <a:xfrm>
            <a:off x="609600" y="302895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015" b="1" noProof="1">
                <a:solidFill>
                  <a:srgbClr val="1E4E5F"/>
                </a:solidFill>
                <a:latin typeface="MiSans" charset="-122"/>
                <a:ea typeface="MiSans" charset="-122"/>
              </a:rPr>
              <a:t>人做了什么</a:t>
            </a:r>
            <a:endParaRPr lang="en-US" sz="1015" noProof="1"/>
          </a:p>
        </p:txBody>
      </p:sp>
      <p:sp>
        <p:nvSpPr>
          <p:cNvPr id="12" name="q3-body"/>
          <p:cNvSpPr txBox="1"/>
          <p:nvPr/>
        </p:nvSpPr>
        <p:spPr>
          <a:xfrm>
            <a:off x="609600" y="3295650"/>
            <a:ext cx="36576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60000"/>
              </a:lnSpc>
            </a:pPr>
            <a:r>
              <a:rPr lang="en-US" sz="79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· 对 AI 清单做模块覆盖度与边界完整性复查，补充空昵称边界用例</a:t>
            </a:r>
            <a:endParaRPr lang="en-US" sz="790" noProof="1"/>
          </a:p>
          <a:p>
            <a:pPr>
              <a:lnSpc>
                <a:spcPct val="160000"/>
              </a:lnSpc>
            </a:pPr>
            <a:r>
              <a:rPr lang="en-US" sz="79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· 确认 3 项缺陷均为真实缺陷而非「设计如此」，并完成定级</a:t>
            </a:r>
            <a:endParaRPr lang="en-US" sz="790" noProof="1"/>
          </a:p>
          <a:p>
            <a:pPr>
              <a:lnSpc>
                <a:spcPct val="160000"/>
              </a:lnSpc>
            </a:pPr>
            <a:r>
              <a:rPr lang="en-US" sz="79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· 确定修复语义：空昵称返回 422、判分以服务端标准答案为准、报告接口先校验归属并事务化；制定回归验收标准</a:t>
            </a:r>
            <a:endParaRPr lang="en-US" sz="790" noProof="1"/>
          </a:p>
        </p:txBody>
      </p:sp>
      <p:sp>
        <p:nvSpPr>
          <p:cNvPr id="13" name="q4-label"/>
          <p:cNvSpPr txBox="1"/>
          <p:nvPr/>
        </p:nvSpPr>
        <p:spPr>
          <a:xfrm>
            <a:off x="4876800" y="3028950"/>
            <a:ext cx="1905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015" b="1" noProof="1">
                <a:solidFill>
                  <a:srgbClr val="C65A1E"/>
                </a:solidFill>
                <a:latin typeface="MiSans" charset="-122"/>
                <a:ea typeface="MiSans" charset="-122"/>
              </a:rPr>
              <a:t>角色定位</a:t>
            </a:r>
            <a:endParaRPr lang="en-US" sz="1015" noProof="1"/>
          </a:p>
        </p:txBody>
      </p:sp>
      <p:sp>
        <p:nvSpPr>
          <p:cNvPr id="14" name="q4-big"/>
          <p:cNvSpPr txBox="1"/>
          <p:nvPr/>
        </p:nvSpPr>
        <p:spPr>
          <a:xfrm>
            <a:off x="4876800" y="3295650"/>
            <a:ext cx="365760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p>
            <a:pPr>
              <a:lnSpc>
                <a:spcPct val="120000"/>
              </a:lnSpc>
            </a:pPr>
            <a:r>
              <a:rPr lang="en-US" sz="1650" b="1" noProof="1">
                <a:solidFill>
                  <a:srgbClr val="C65A1E"/>
                </a:solidFill>
                <a:latin typeface="MiSans" charset="-122"/>
                <a:ea typeface="MiSans" charset="-122"/>
              </a:rPr>
              <a:t>辅助者，而非替代者</a:t>
            </a:r>
            <a:endParaRPr lang="en-US" sz="1200" noProof="1"/>
          </a:p>
        </p:txBody>
      </p:sp>
      <p:sp>
        <p:nvSpPr>
          <p:cNvPr id="15" name="q4-body"/>
          <p:cNvSpPr txBox="1"/>
          <p:nvPr/>
        </p:nvSpPr>
        <p:spPr>
          <a:xfrm>
            <a:off x="4876800" y="3695700"/>
            <a:ext cx="3657600" cy="800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p>
            <a:pPr>
              <a:lnSpc>
                <a:spcPct val="160000"/>
              </a:lnSpc>
            </a:pPr>
            <a:r>
              <a:rPr lang="en-US" sz="790" noProof="1">
                <a:solidFill>
                  <a:srgbClr val="232830"/>
                </a:solidFill>
                <a:latin typeface="MiSans" charset="-122"/>
                <a:ea typeface="MiSans" charset="-122"/>
              </a:rPr>
              <a:t>AI 在批量用例生成、脚本工程搭建和根因初步定位上显著提效；但测试策略取舍、缺陷定级、修复语义判断和验收标准仍由人决策，其输出的边界盲区需要人工复查兜底，尚不能独立替代测试工程师。</a:t>
            </a:r>
            <a:endParaRPr lang="en-US" sz="790" noProof="1"/>
          </a:p>
        </p:txBody>
      </p:sp>
      <p:sp>
        <p:nvSpPr>
          <p:cNvPr id="16" name="foot-line"/>
          <p:cNvSpPr/>
          <p:nvPr/>
        </p:nvSpPr>
        <p:spPr>
          <a:xfrm>
            <a:off x="609600" y="4838700"/>
            <a:ext cx="7924800" cy="9525"/>
          </a:xfrm>
          <a:prstGeom prst="rect">
            <a:avLst/>
          </a:prstGeom>
          <a:solidFill>
            <a:srgbClr val="D9D5CB"/>
          </a:solidFill>
          <a:ln>
            <a:noFill/>
          </a:ln>
        </p:spPr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PA" val="v3.0.1"/>
</p:tagLst>
</file>

<file path=ppt/tags/tag6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22.11.14"/>
  <p:tag name="AS_TITLE" val="Aspose.Slides for .NET 4.0 Client Profile"/>
  <p:tag name="AS_VERSION" val="22.11"/>
  <p:tag name="COMMONDATA" val="eyJoZGlkIjoiMGU2ZjNlMTA1ZDAzOTM1NTk4ZDgzNjMxOTgwNTE2YWQifQ=="/>
  <p:tag name="ISLIDE.GUIDESSETTING" val="{&quot;Id&quot;:&quot;GuidesStyle_Narrow&quot;,&quot;Name&quot;:&quot;较窄&quot;,&quot;Kind&quot;:&quot;System&quot;,&quot;OldGuidesSetting&quot;:{&quot;HeaderHeight&quot;:10.0,&quot;FooterHeight&quot;:5.0,&quot;SideMargin&quot;:2.5,&quot;TopMargin&quot;:0.0,&quot;BottomMargin&quot;:0.0,&quot;IntervalMargin&quot;:1.0}}"/>
  <p:tag name="commondata" val="eyJjb3VudCI6MSwiaGRpZCI6IjRkNDE1NWJhMjI0ZmVkM2E5NzQyYmQyMTJmZTU1MjM2IiwidXNlckNvdW50IjoxfQ=="/>
  <p:tag name="resource_record_key" val="{&quot;13&quot;:[4364974]}"/>
</p:tagLst>
</file>

<file path=ppt/theme/theme1.xml><?xml version="1.0" encoding="utf-8"?>
<a:theme xmlns:a="http://schemas.openxmlformats.org/drawingml/2006/main" name="第一PPT，www.1ppt.com">
  <a:themeElements>
    <a:clrScheme name="北欧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62626"/>
      </a:accent1>
      <a:accent2>
        <a:srgbClr val="3F3F3F"/>
      </a:accent2>
      <a:accent3>
        <a:srgbClr val="3F3F3F"/>
      </a:accent3>
      <a:accent4>
        <a:srgbClr val="595959"/>
      </a:accent4>
      <a:accent5>
        <a:srgbClr val="5F5F5F"/>
      </a:accent5>
      <a:accent6>
        <a:srgbClr val="4D4D4D"/>
      </a:accent6>
      <a:hlink>
        <a:srgbClr val="000000"/>
      </a:hlink>
      <a:folHlink>
        <a:srgbClr val="919191"/>
      </a:folHlink>
    </a:clrScheme>
    <a:fontScheme name="1思源黑体">
      <a:majorFont>
        <a:latin typeface="Arial"/>
        <a:ea typeface="思源黑体 CN Heavy"/>
        <a:cs typeface="Arial"/>
      </a:majorFont>
      <a:minorFont>
        <a:latin typeface="思源黑体 CN Normal"/>
        <a:ea typeface="思源黑体 CN Normal"/>
        <a:cs typeface="Arial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思源黑体 CN Norm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思源黑体 CN Norm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思源黑体 CN Norm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Normal"/>
        <a:ea typeface="思源黑体 CN Normal"/>
        <a:cs typeface="Arial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0</TotalTime>
  <Words>5151</Words>
  <Application>WPS 演示</Application>
  <PresentationFormat>全屏显示(16:9)</PresentationFormat>
  <Paragraphs>454</Paragraphs>
  <Slides>11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时尚中黑简体</vt:lpstr>
      <vt:lpstr>黑体</vt:lpstr>
      <vt:lpstr>Wingdings</vt:lpstr>
      <vt:lpstr>Arial</vt:lpstr>
      <vt:lpstr>Calibri</vt:lpstr>
      <vt:lpstr>MiSans</vt:lpstr>
      <vt:lpstr>JetBrains Mono</vt:lpstr>
      <vt:lpstr>Times New Roman</vt:lpstr>
      <vt:lpstr>思源黑体 CN Normal</vt:lpstr>
      <vt:lpstr>Segoe Print</vt:lpstr>
      <vt:lpstr>Arial Unicode MS</vt:lpstr>
      <vt:lpstr>Sarasa UI SC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极简商务</dc:title>
  <dc:creator>第一PPT</dc:creator>
  <cp:keywords>www.1ppt.com</cp:keywords>
  <dc:description>www.1ppt.com</dc:description>
  <cp:lastModifiedBy>于军雷</cp:lastModifiedBy>
  <cp:revision>42</cp:revision>
  <dcterms:created xsi:type="dcterms:W3CDTF">2022-08-30T12:58:00Z</dcterms:created>
  <dcterms:modified xsi:type="dcterms:W3CDTF">2026-09-22T11:55:58Z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AB385077FA324791B9F90E3021E5CFB4_13</vt:lpwstr>
  </property>
  <property fmtid="{D5CDD505-2E9C-101B-9397-08002B2CF9AE}" pid="3" name="KSOProductBuildVer">
    <vt:lpwstr>2052-12.1.0.18276</vt:lpwstr>
  </property>
  <property fmtid="{D5CDD505-2E9C-101B-9397-08002B2CF9AE}" pid="4" name="KSOTemplateUUID">
    <vt:lpwstr>v1.0_mb_6d2iZvVijsLHPjusqeWHrA==</vt:lpwstr>
  </property>
</Properties>
</file>